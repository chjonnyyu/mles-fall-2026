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a00a705dfb427e" /><Relationship Type="http://schemas.openxmlformats.org/officeDocument/2006/relationships/extended-properties" Target="/docProps/app.xml" Id="R7b3e4c37c4dc4617" /><Relationship Type="http://schemas.openxmlformats.org/officeDocument/2006/relationships/officeDocument" Target="/ppt/presentation.xml" Id="R454ba230c35e41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6cdf431eb041e7"/>
  </p:sldMasterIdLst>
  <p:notesMasterIdLst>
    <p:notesMasterId xmlns:r="http://schemas.openxmlformats.org/officeDocument/2006/relationships" r:id="R642780127f2744a9"/>
  </p:notesMasterIdLst>
  <p:sldIdLst>
    <p:sldId xmlns:r="http://schemas.openxmlformats.org/officeDocument/2006/relationships" id="256" r:id="R02a21a203cfc4a3d"/>
    <p:sldId xmlns:r="http://schemas.openxmlformats.org/officeDocument/2006/relationships" id="257" r:id="R8f0c90895e98415e"/>
    <p:sldId xmlns:r="http://schemas.openxmlformats.org/officeDocument/2006/relationships" id="258" r:id="R69afd139020c4e95"/>
    <p:sldId xmlns:r="http://schemas.openxmlformats.org/officeDocument/2006/relationships" id="259" r:id="Rd849d528039644d1"/>
    <p:sldId xmlns:r="http://schemas.openxmlformats.org/officeDocument/2006/relationships" id="260" r:id="Ra5d6614140b64203"/>
    <p:sldId xmlns:r="http://schemas.openxmlformats.org/officeDocument/2006/relationships" id="261" r:id="R5f94de89dbed43b6"/>
    <p:sldId xmlns:r="http://schemas.openxmlformats.org/officeDocument/2006/relationships" id="262" r:id="R5d1bf1e2a6a9425f"/>
    <p:sldId xmlns:r="http://schemas.openxmlformats.org/officeDocument/2006/relationships" id="263" r:id="R99f1d8b4a03749a9"/>
    <p:sldId xmlns:r="http://schemas.openxmlformats.org/officeDocument/2006/relationships" id="264" r:id="Rafc26719a133409c"/>
    <p:sldId xmlns:r="http://schemas.openxmlformats.org/officeDocument/2006/relationships" id="265" r:id="R291b5a610e2c4731"/>
    <p:sldId xmlns:r="http://schemas.openxmlformats.org/officeDocument/2006/relationships" id="266" r:id="Ra13aa2f6caff41b2"/>
    <p:sldId xmlns:r="http://schemas.openxmlformats.org/officeDocument/2006/relationships" id="267" r:id="Recc932827037464c"/>
    <p:sldId xmlns:r="http://schemas.openxmlformats.org/officeDocument/2006/relationships" id="268" r:id="Re4172a711d14457d"/>
    <p:sldId xmlns:r="http://schemas.openxmlformats.org/officeDocument/2006/relationships" id="269" r:id="R44f7e091879b4da9"/>
    <p:sldId xmlns:r="http://schemas.openxmlformats.org/officeDocument/2006/relationships" id="270" r:id="R35acfa7387f54d27"/>
    <p:sldId xmlns:r="http://schemas.openxmlformats.org/officeDocument/2006/relationships" id="271" r:id="R8835de60b02648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cafc3363594885" /><Relationship Type="http://schemas.openxmlformats.org/officeDocument/2006/relationships/slideMaster" Target="/ppt/slideMasters/slideMaster1.xml" Id="R996cdf431eb041e7" /><Relationship Type="http://schemas.openxmlformats.org/officeDocument/2006/relationships/notesMaster" Target="/ppt/notesMasters/notesMaster1.xml" Id="R642780127f2744a9" /><Relationship Type="http://schemas.openxmlformats.org/officeDocument/2006/relationships/presProps" Target="/ppt/presProps.xml" Id="R5b8565a4c78b4db8" /><Relationship Type="http://schemas.openxmlformats.org/officeDocument/2006/relationships/tableStyles" Target="/ppt/tableStyles.xml" Id="R9a527c2b01ab4984" /><Relationship Type="http://schemas.openxmlformats.org/officeDocument/2006/relationships/slide" Target="/ppt/slides/slide1.xml" Id="R02a21a203cfc4a3d" /><Relationship Type="http://schemas.openxmlformats.org/officeDocument/2006/relationships/slide" Target="/ppt/slides/slide2.xml" Id="R8f0c90895e98415e" /><Relationship Type="http://schemas.openxmlformats.org/officeDocument/2006/relationships/slide" Target="/ppt/slides/slide3.xml" Id="R69afd139020c4e95" /><Relationship Type="http://schemas.openxmlformats.org/officeDocument/2006/relationships/slide" Target="/ppt/slides/slide4.xml" Id="Rd849d528039644d1" /><Relationship Type="http://schemas.openxmlformats.org/officeDocument/2006/relationships/slide" Target="/ppt/slides/slide5.xml" Id="Ra5d6614140b64203" /><Relationship Type="http://schemas.openxmlformats.org/officeDocument/2006/relationships/slide" Target="/ppt/slides/slide6.xml" Id="R5f94de89dbed43b6" /><Relationship Type="http://schemas.openxmlformats.org/officeDocument/2006/relationships/slide" Target="/ppt/slides/slide7.xml" Id="R5d1bf1e2a6a9425f" /><Relationship Type="http://schemas.openxmlformats.org/officeDocument/2006/relationships/slide" Target="/ppt/slides/slide8.xml" Id="R99f1d8b4a03749a9" /><Relationship Type="http://schemas.openxmlformats.org/officeDocument/2006/relationships/slide" Target="/ppt/slides/slide9.xml" Id="Rafc26719a133409c" /><Relationship Type="http://schemas.openxmlformats.org/officeDocument/2006/relationships/slide" Target="/ppt/slides/slide10.xml" Id="R291b5a610e2c4731" /><Relationship Type="http://schemas.openxmlformats.org/officeDocument/2006/relationships/slide" Target="/ppt/slides/slide11.xml" Id="Ra13aa2f6caff41b2" /><Relationship Type="http://schemas.openxmlformats.org/officeDocument/2006/relationships/slide" Target="/ppt/slides/slide12.xml" Id="Recc932827037464c" /><Relationship Type="http://schemas.openxmlformats.org/officeDocument/2006/relationships/slide" Target="/ppt/slides/slide13.xml" Id="Re4172a711d14457d" /><Relationship Type="http://schemas.openxmlformats.org/officeDocument/2006/relationships/slide" Target="/ppt/slides/slide14.xml" Id="R44f7e091879b4da9" /><Relationship Type="http://schemas.openxmlformats.org/officeDocument/2006/relationships/slide" Target="/ppt/slides/slide15.xml" Id="R35acfa7387f54d27" /><Relationship Type="http://schemas.openxmlformats.org/officeDocument/2006/relationships/slide" Target="/ppt/slides/slide16.xml" Id="R8835de60b02648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2dc643ad1846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e0999a875b48c7" /><Relationship Type="http://schemas.openxmlformats.org/officeDocument/2006/relationships/notesMaster" Target="/ppt/notesMasters/notesMaster1.xml" Id="R8468e676ff614b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916289d4b44f46" /><Relationship Type="http://schemas.openxmlformats.org/officeDocument/2006/relationships/notesMaster" Target="/ppt/notesMasters/notesMaster1.xml" Id="Rb8d46833e0d649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efb070e3294e1e" /><Relationship Type="http://schemas.openxmlformats.org/officeDocument/2006/relationships/notesMaster" Target="/ppt/notesMasters/notesMaster1.xml" Id="R119868fa3b8041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d203fccd0240b1" /><Relationship Type="http://schemas.openxmlformats.org/officeDocument/2006/relationships/notesMaster" Target="/ppt/notesMasters/notesMaster1.xml" Id="R5e0735bb944b40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b6a566e36044cf" /><Relationship Type="http://schemas.openxmlformats.org/officeDocument/2006/relationships/notesMaster" Target="/ppt/notesMasters/notesMaster1.xml" Id="R5fb68505dd2946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bcc0c619274cd0" /><Relationship Type="http://schemas.openxmlformats.org/officeDocument/2006/relationships/notesMaster" Target="/ppt/notesMasters/notesMaster1.xml" Id="Ra427dc061ce840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bfccc4b76c435d" /><Relationship Type="http://schemas.openxmlformats.org/officeDocument/2006/relationships/notesMaster" Target="/ppt/notesMasters/notesMaster1.xml" Id="Rf22d8f140b8048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a13e7b1aec47ff" /><Relationship Type="http://schemas.openxmlformats.org/officeDocument/2006/relationships/notesMaster" Target="/ppt/notesMasters/notesMaster1.xml" Id="R7809fdce85724b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b24d2aa8434e66" /><Relationship Type="http://schemas.openxmlformats.org/officeDocument/2006/relationships/notesMaster" Target="/ppt/notesMasters/notesMaster1.xml" Id="R91a22e98c0f74b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0d620ceef7466f" /><Relationship Type="http://schemas.openxmlformats.org/officeDocument/2006/relationships/notesMaster" Target="/ppt/notesMasters/notesMaster1.xml" Id="R64dff091f6c349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627188295c48ed" /><Relationship Type="http://schemas.openxmlformats.org/officeDocument/2006/relationships/notesMaster" Target="/ppt/notesMasters/notesMaster1.xml" Id="Rd7502b24a6db49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4692195fdc4fbc" /><Relationship Type="http://schemas.openxmlformats.org/officeDocument/2006/relationships/notesMaster" Target="/ppt/notesMasters/notesMaster1.xml" Id="R29dd3ebe397244e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917f1acc27a4ad4" /><Relationship Type="http://schemas.openxmlformats.org/officeDocument/2006/relationships/notesMaster" Target="/ppt/notesMasters/notesMaster1.xml" Id="Rfa16bfb570ae40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77d72e4af404f4d" /><Relationship Type="http://schemas.openxmlformats.org/officeDocument/2006/relationships/notesMaster" Target="/ppt/notesMasters/notesMaster1.xml" Id="Rbef74de1cdf145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4d945899911408b" /><Relationship Type="http://schemas.openxmlformats.org/officeDocument/2006/relationships/notesMaster" Target="/ppt/notesMasters/notesMaster1.xml" Id="Ra462fa23ed3145e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8857979164549a0" /><Relationship Type="http://schemas.openxmlformats.org/officeDocument/2006/relationships/notesMaster" Target="/ppt/notesMasters/notesMaster1.xml" Id="R3aeaae7167bf44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</a:t>
            </a:r>
          </a:p>
          <a:p xmlns:a="http://schemas.openxmlformats.org/drawingml/2006/main">
            <a:r>
              <a:t>Teaching intent and transition: Open with the distinction between a real package and a model. The generated illustration is conceptual and includes no platform screen or result.</a:t>
            </a:r>
          </a:p>
          <a:p xmlns:a="http://schemas.openxmlformats.org/drawingml/2006/main">
            <a:r>
              <a:t>Visual purpose: The illustration establishes the physical object or engineering problem for this hour. Record inputs and outputs before stating a preference.</a:t>
            </a:r>
          </a:p>
          <a:p xmlns:a="http://schemas.openxmlformats.org/drawingml/2006/main">
            <a:r>
              <a:t>Facilitation prompt: What would make a comparison reproducible?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A screenshot or model prediction is sufficient without case identity, units, and a physical check.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Instructor teaching plan, 23 Sep 2026, 2026_Teaching_Plan_and_Reading_List.md</a:t>
            </a:r>
          </a:p>
          <a:p xmlns:a="http://schemas.openxmlformats.org/drawingml/2006/main">
            <a:r>
              <a:t>AI-generated conceptual illustration, 23 Sep 2026, see source-notes.md.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</a:t>
            </a:r>
          </a:p>
          <a:p xmlns:a="http://schemas.openxmlformats.org/drawingml/2006/main">
            <a:r>
              <a:t>Teaching intent and transition: Ask teams to select one H2 row. A model output needs to answer a specific engineering question; it does not replace the map.</a:t>
            </a:r>
          </a:p>
          <a:p xmlns:a="http://schemas.openxmlformats.org/drawingml/2006/main">
            <a:r>
              <a:t>Visual purpose: The connected chain ties evidence fields to a process or decision. Carry forward one candidate fault and its observable.</a:t>
            </a:r>
          </a:p>
          <a:p xmlns:a="http://schemas.openxmlformats.org/drawingml/2006/main">
            <a:r>
              <a:t>Facilitation prompt: Which row will your team investigate?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A process label alone explains the mechanism without material state or an observable.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Instructor teaching plan, 23 Sep 2026, 2026_Teaching_Plan_and_Reading_List.md</a:t>
            </a:r>
          </a:p>
          <a:p xmlns:a="http://schemas.openxmlformats.org/drawingml/2006/main">
            <a:r>
              <a:t>Editable PowerPoint diagram authored for this lecture, 23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</a:t>
            </a:r>
          </a:p>
          <a:p xmlns:a="http://schemas.openxmlformats.org/drawingml/2006/main">
            <a:r>
              <a:t>Teaching intent and transition: Show the output record. Expected answer: case ID and revision together identify the run; values and units are needed to reproduce it.</a:t>
            </a:r>
          </a:p>
          <a:p xmlns:a="http://schemas.openxmlformats.org/drawingml/2006/main">
            <a:r>
              <a:t>Visual purpose: The ruled record shows exactly what students must capture for a rerun. Also record a validation reference and decision limit.</a:t>
            </a:r>
          </a:p>
          <a:p xmlns:a="http://schemas.openxmlformats.org/drawingml/2006/main">
            <a:r>
              <a:t>Facilitation prompt: Which field prevents a later rerun from using the wrong case?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A screenshot or model prediction is sufficient without case identity, units, and a physical check.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NIST Credibility Consideration for Digital Twins | https://www.nist.gov/publications/credibility-consideration-digital-twins-manufacturing</a:t>
            </a:r>
          </a:p>
          <a:p xmlns:a="http://schemas.openxmlformats.org/drawingml/2006/main">
            <a:r>
              <a:t>Editable PowerPoint diagram authored for this lecture, 23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</a:t>
            </a:r>
          </a:p>
          <a:p xmlns:a="http://schemas.openxmlformats.org/drawingml/2006/main">
            <a:r>
              <a:t>Teaching intent and transition: Do not pretend the platform is available. Live users transcribe exact settings; export users transcribe the same inputs and outputs from an approved case.</a:t>
            </a:r>
          </a:p>
          <a:p xmlns:a="http://schemas.openxmlformats.org/drawingml/2006/main">
            <a:r>
              <a:t>Visual purpose: The fork depicts process or access alternatives. Both paths use the same evidence record.</a:t>
            </a:r>
          </a:p>
          <a:p xmlns:a="http://schemas.openxmlformats.org/drawingml/2006/main">
            <a:r>
              <a:t>Facilitation prompt: What must the export contain?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A process label alone explains the mechanism without material state or an observable.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Instructor teaching plan, 23 Sep 2026, 2026_Teaching_Plan_and_Reading_List.md</a:t>
            </a:r>
          </a:p>
          <a:p xmlns:a="http://schemas.openxmlformats.org/drawingml/2006/main">
            <a:r>
              <a:t>Editable PowerPoint diagram authored for this lecture, 23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</a:t>
            </a:r>
          </a:p>
          <a:p xmlns:a="http://schemas.openxmlformats.org/drawingml/2006/main">
            <a:r>
              <a:t>Teaching intent and transition: Have students check one field at a time. A material property without temperature or units can make a comparison uninterpretable.</a:t>
            </a:r>
          </a:p>
          <a:p xmlns:a="http://schemas.openxmlformats.org/drawingml/2006/main">
            <a:r>
              <a:t>Visual purpose: The ruled record shows exactly what students must capture for a rerun. Mark missing values as unknown rather than guessing.</a:t>
            </a:r>
          </a:p>
          <a:p xmlns:a="http://schemas.openxmlformats.org/drawingml/2006/main">
            <a:r>
              <a:t>Facilitation prompt: Which omission could reverse a comparison?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A process label alone explains the mechanism without material state or an observable.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NIST Credibility Consideration for Digital Twins | https://www.nist.gov/publications/credibility-consideration-digital-twins-manufacturing</a:t>
            </a:r>
          </a:p>
          <a:p xmlns:a="http://schemas.openxmlformats.org/drawingml/2006/main">
            <a:r>
              <a:t>Editable PowerPoint diagram authored for this lecture, 23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</a:t>
            </a:r>
          </a:p>
          <a:p xmlns:a="http://schemas.openxmlformats.org/drawingml/2006/main">
            <a:r>
              <a:t>Teaching intent and transition: Students write a prediction before seeing results. Do not claim a particular material change always lowers warpage.</a:t>
            </a:r>
          </a:p>
          <a:p xmlns:a="http://schemas.openxmlformats.org/drawingml/2006/main">
            <a:r>
              <a:t>Visual purpose: The ruled comparison separates alternatives under a common question. A different underfill or geometry may shift warpage, but direction is not universal.</a:t>
            </a:r>
          </a:p>
          <a:p xmlns:a="http://schemas.openxmlformats.org/drawingml/2006/main">
            <a:r>
              <a:t>Facilitation prompt: What assumptions make your prediction plausible?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A process label alone explains the mechanism without material state or an observable.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IEEE TCPMT 2019, Fan-Out Warpage | https://ieeexplore.ieee.org/document/8590768</a:t>
            </a:r>
          </a:p>
          <a:p xmlns:a="http://schemas.openxmlformats.org/drawingml/2006/main">
            <a:r>
              <a:t>Editable PowerPoint diagram authored for this lecture, 23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</a:t>
            </a:r>
          </a:p>
          <a:p xmlns:a="http://schemas.openxmlformats.org/drawingml/2006/main">
            <a:r>
              <a:t>Teaching intent and transition: Use only fields present in the course account or approved export. If no case is supplied, use the synthetic worked example for rehearsal and leave the live run blank.</a:t>
            </a:r>
          </a:p>
          <a:p xmlns:a="http://schemas.openxmlformats.org/drawingml/2006/main">
            <a:r>
              <a:t>Visual purpose: The ruled record shows exactly what students must capture for a rerun. Keep package, material, temperature, and revision together.</a:t>
            </a:r>
          </a:p>
          <a:p xmlns:a="http://schemas.openxmlformats.org/drawingml/2006/main">
            <a:r>
              <a:t>Facilitation prompt: Where is your source of truth?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A screenshot or model prediction is sufficient without case identity, units, and a physical check.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Instructor teaching plan, 23 Sep 2026, 2026_Teaching_Plan_and_Reading_List.md</a:t>
            </a:r>
          </a:p>
          <a:p xmlns:a="http://schemas.openxmlformats.org/drawingml/2006/main">
            <a:r>
              <a:t>Editable PowerPoint diagram authored for this lecture, 23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</a:t>
            </a:r>
          </a:p>
          <a:p xmlns:a="http://schemas.openxmlformats.org/drawingml/2006/main">
            <a:r>
              <a:t>Teaching intent and transition: Students identify what the output actually measures. Distinguish predicted warpage from physical measurement.</a:t>
            </a:r>
          </a:p>
          <a:p xmlns:a="http://schemas.openxmlformats.org/drawingml/2006/main">
            <a:r>
              <a:t>Visual purpose: The connected chain ties evidence fields to a process or decision. A screenshot without these labels cannot support a decision.</a:t>
            </a:r>
          </a:p>
          <a:p xmlns:a="http://schemas.openxmlformats.org/drawingml/2006/main">
            <a:r>
              <a:t>Facilitation prompt: Is the value a maximum, average, or local reading?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A process label alone explains the mechanism without material state or an observable.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NIST Credibility Consideration for Digital Twins | https://www.nist.gov/publications/credibility-consideration-digital-twins-manufacturing</a:t>
            </a:r>
          </a:p>
          <a:p xmlns:a="http://schemas.openxmlformats.org/drawingml/2006/main">
            <a:r>
              <a:t>Editable PowerPoint diagram authored for this lecture, 23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</a:t>
            </a:r>
          </a:p>
          <a:p xmlns:a="http://schemas.openxmlformats.org/drawingml/2006/main">
            <a:r>
              <a:t>Teaching intent and transition: Use synthetic values in micrometres at 25°C after reflow. The purpose is calculation and evidence interpretation, not platform performance.</a:t>
            </a:r>
          </a:p>
          <a:p xmlns:a="http://schemas.openxmlformats.org/drawingml/2006/main">
            <a:r>
              <a:t>Visual purpose: The native PowerPoint table compares labeled synthetic values at one condition. Illustrative values at 25°C after reflow; not InPack.AI output.</a:t>
            </a:r>
          </a:p>
          <a:p xmlns:a="http://schemas.openxmlformats.org/drawingml/2006/main">
            <a:r>
              <a:t>Facilitation prompt: Which candidate is lower at 25°C after reflow?</a:t>
            </a:r>
          </a:p>
          <a:p xmlns:a="http://schemas.openxmlformats.org/drawingml/2006/main">
            <a:r>
              <a:t>Expected response: Candidate B has lower predicted and measured warpage in the synthetic example.</a:t>
            </a:r>
          </a:p>
          <a:p xmlns:a="http://schemas.openxmlformats.org/drawingml/2006/main">
            <a:r>
              <a:t>Misconception to check: Synthetic teaching numbers are measured InPack.AI results or one small residual validates a model.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Instructor teaching plan, 23 Sep 2026, 2026_Teaching_Plan_and_Reading_List.md</a:t>
            </a:r>
          </a:p>
          <a:p xmlns:a="http://schemas.openxmlformats.org/drawingml/2006/main">
            <a:r>
              <a:t>Editable PowerPoint diagram authored for this lecture, 23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</a:t>
            </a:r>
          </a:p>
          <a:p xmlns:a="http://schemas.openxmlformats.org/drawingml/2006/main">
            <a:r>
              <a:t>Teaching intent and transition: Show the arithmetic and units. Expected answer: no; one comparison under one condition is insufficient for general validation.</a:t>
            </a:r>
          </a:p>
          <a:p xmlns:a="http://schemas.openxmlformats.org/drawingml/2006/main">
            <a:r>
              <a:t>Visual purpose: The arithmetic layout makes each intermediate subtraction visible. A: 92 − 80 = +12 µm. B: 64 − 60 = +4 µm.</a:t>
            </a:r>
          </a:p>
          <a:p xmlns:a="http://schemas.openxmlformats.org/drawingml/2006/main">
            <a:r>
              <a:t>Facilitation prompt: Does the smaller residual prove the model is validated?</a:t>
            </a:r>
          </a:p>
          <a:p xmlns:a="http://schemas.openxmlformats.org/drawingml/2006/main">
            <a:r>
              <a:t>Expected response: A is +12 µm and B is +4 µm. One residual comparison does not validate the model.</a:t>
            </a:r>
          </a:p>
          <a:p xmlns:a="http://schemas.openxmlformats.org/drawingml/2006/main">
            <a:r>
              <a:t>Misconception to check: Synthetic teaching numbers are measured InPack.AI results or one small residual validates a model.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NIST Credibility Consideration for Digital Twins | https://www.nist.gov/publications/credibility-consideration-digital-twins-manufacturing</a:t>
            </a:r>
          </a:p>
          <a:p xmlns:a="http://schemas.openxmlformats.org/drawingml/2006/main">
            <a:r>
              <a:t>Editable PowerPoint diagram authored for this lecture, 23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</a:t>
            </a:r>
          </a:p>
          <a:p xmlns:a="http://schemas.openxmlformats.org/drawingml/2006/main">
            <a:r>
              <a:t>Teaching intent and transition: Model a bounded sentence. We would investigate B further because both predicted and observed warpage are lower in the synthetic example; repeatability and other reliability outcomes remain unknown.</a:t>
            </a:r>
          </a:p>
          <a:p xmlns:a="http://schemas.openxmlformats.org/drawingml/2006/main">
            <a:r>
              <a:t>Visual purpose: The connected chain ties evidence fields to a process or decision. The evidence covers only 25°C after reflow in one illustrative pair.</a:t>
            </a:r>
          </a:p>
          <a:p xmlns:a="http://schemas.openxmlformats.org/drawingml/2006/main">
            <a:r>
              <a:t>Facilitation prompt: What data would you request before release?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A process label alone explains the mechanism without material state or an observable.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NIST Credibility Consideration for Digital Twins | https://www.nist.gov/publications/credibility-consideration-digital-twins-manufacturing</a:t>
            </a:r>
          </a:p>
          <a:p xmlns:a="http://schemas.openxmlformats.org/drawingml/2006/main">
            <a:r>
              <a:t>Editable PowerPoint diagram authored for this lecture, 23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</a:t>
            </a:r>
          </a:p>
          <a:p xmlns:a="http://schemas.openxmlformats.org/drawingml/2006/main">
            <a:r>
              <a:t>Teaching intent and transition: This is the independent activity. If account access is unavailable, use the instructor export. Stopping condition: a complete record with case identity, units, stage, and both candidate results.</a:t>
            </a:r>
          </a:p>
          <a:p xmlns:a="http://schemas.openxmlformats.org/drawingml/2006/main">
            <a:r>
              <a:t>Visual purpose: The blank grid is the artifact students fill and save. Compare two candidates on one common metric and stage.</a:t>
            </a:r>
          </a:p>
          <a:p xmlns:a="http://schemas.openxmlformats.org/drawingml/2006/main">
            <a:r>
              <a:t>Facilitation prompt: Stop when another student can identify the exact case.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A screenshot or model prediction is sufficient without case identity, units, and a physical check.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Instructor teaching plan, 23 Sep 2026, 2026_Teaching_Plan_and_Reading_List.md</a:t>
            </a:r>
          </a:p>
          <a:p xmlns:a="http://schemas.openxmlformats.org/drawingml/2006/main">
            <a:r>
              <a:t>Editable PowerPoint diagram authored for this lecture, 23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</a:t>
            </a:r>
          </a:p>
          <a:p xmlns:a="http://schemas.openxmlformats.org/drawingml/2006/main">
            <a:r>
              <a:t>Teaching intent and transition: Ask students to audit a peer record. A numerical difference has no design meaning if the compared conditions or quantities differ.</a:t>
            </a:r>
          </a:p>
          <a:p xmlns:a="http://schemas.openxmlformats.org/drawingml/2006/main">
            <a:r>
              <a:t>Visual purpose: The editable matrix relates methods and physical observables. Review temperature, geometry, material set, and output definition.</a:t>
            </a:r>
          </a:p>
          <a:p xmlns:a="http://schemas.openxmlformats.org/drawingml/2006/main">
            <a:r>
              <a:t>Facilitation prompt: Which mismatch is present in your record?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A process label alone explains the mechanism without material state or an observable.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NIST Credibility Consideration for Digital Twins | https://www.nist.gov/publications/credibility-consideration-digital-twins-manufacturing</a:t>
            </a:r>
          </a:p>
          <a:p xmlns:a="http://schemas.openxmlformats.org/drawingml/2006/main">
            <a:r>
              <a:t>Editable PowerPoint diagram authored for this lecture, 23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</a:t>
            </a:r>
          </a:p>
          <a:p xmlns:a="http://schemas.openxmlformats.org/drawingml/2006/main">
            <a:r>
              <a:t>Teaching intent and transition: Swap records. The peer reads the case identity, recalculates any difference, and states one missing check. They need not trust a screenshot without metadata.</a:t>
            </a:r>
          </a:p>
          <a:p xmlns:a="http://schemas.openxmlformats.org/drawingml/2006/main">
            <a:r>
              <a:t>Visual purpose: The connected chain ties evidence fields to a process or decision. Mark every claim as input, prediction, observation, or inference.</a:t>
            </a:r>
          </a:p>
          <a:p xmlns:a="http://schemas.openxmlformats.org/drawingml/2006/main">
            <a:r>
              <a:t>Facilitation prompt: What claim cannot you verify from the record?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A process label alone explains the mechanism without material state or an observable.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NIST Credibility Consideration for Digital Twins | https://www.nist.gov/publications/credibility-consideration-digital-twins-manufacturing</a:t>
            </a:r>
          </a:p>
          <a:p xmlns:a="http://schemas.openxmlformats.org/drawingml/2006/main">
            <a:r>
              <a:t>Editable PowerPoint diagram authored for this lecture, 23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</a:t>
            </a:r>
          </a:p>
          <a:p xmlns:a="http://schemas.openxmlformats.org/drawingml/2006/main">
            <a:r>
              <a:t>Teaching intent and transition: Collect one evidence card per team. If no measured reference exists, the measurement line must say not available, and the decision stays provisional.</a:t>
            </a:r>
          </a:p>
          <a:p xmlns:a="http://schemas.openxmlformats.org/drawingml/2006/main">
            <a:r>
              <a:t>Visual purpose: The ruled record shows exactly what students must capture for a rerun. Keep model prediction distinct from measured evidence.</a:t>
            </a:r>
          </a:p>
          <a:p xmlns:a="http://schemas.openxmlformats.org/drawingml/2006/main">
            <a:r>
              <a:t>Facilitation prompt: Does each line cite its source?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A screenshot or model prediction is sufficient without case identity, units, and a physical check.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NIST Credibility Consideration for Digital Twins | https://www.nist.gov/publications/credibility-consideration-digital-twins-manufacturing</a:t>
            </a:r>
          </a:p>
          <a:p xmlns:a="http://schemas.openxmlformats.org/drawingml/2006/main">
            <a:r>
              <a:t>Editable PowerPoint diagram authored for this lecture, 23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</a:t>
            </a:r>
          </a:p>
          <a:p xmlns:a="http://schemas.openxmlformats.org/drawingml/2006/main">
            <a:r>
              <a:t>Teaching intent and transition: Use the exit ticket to bridge to October 7. Students identify one material input and its units, temperature, and source for the next class.</a:t>
            </a:r>
          </a:p>
          <a:p xmlns:a="http://schemas.openxmlformats.org/drawingml/2006/main">
            <a:r>
              <a:t>Visual purpose: The connected chain ties evidence fields to a process or decision. List one missing material value that limits today's case.</a:t>
            </a:r>
          </a:p>
          <a:p xmlns:a="http://schemas.openxmlformats.org/drawingml/2006/main">
            <a:r>
              <a:t>Facilitation prompt: What input will you verify before the next run?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A process label alone explains the mechanism without material state or an observable.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Instructor teaching plan, 23 Sep 2026, 2026_Teaching_Plan_and_Reading_List.md</a:t>
            </a:r>
          </a:p>
          <a:p xmlns:a="http://schemas.openxmlformats.org/drawingml/2006/main">
            <a:r>
              <a:t>Editable PowerPoint diagram authored for this lecture, 23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dfeb25252f40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aed801e5ac4537" /><Relationship Type="http://schemas.openxmlformats.org/officeDocument/2006/relationships/slideLayout" Target="/ppt/slideLayouts/slideLayout1.xml" Id="Rdeb983147d764f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b983147d764f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a66819e74408e" /><Relationship Type="http://schemas.openxmlformats.org/officeDocument/2006/relationships/image" Target="/ppt/media/image.png" Id="R0b9d271ddb2f41a9" /><Relationship Type="http://schemas.openxmlformats.org/officeDocument/2006/relationships/image" Target="/ppt/media/image2.png" Id="R5097d0c569aa407a" /><Relationship Type="http://schemas.openxmlformats.org/officeDocument/2006/relationships/image" Target="/ppt/media/image3.png" Id="R2a7274c0e1b0430d" /><Relationship Type="http://schemas.openxmlformats.org/officeDocument/2006/relationships/notesSlide" Target="/ppt/notesSlides/notesSlide1.xml" Id="R348c489d2d0a41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37365fd8e4dce" /><Relationship Type="http://schemas.openxmlformats.org/officeDocument/2006/relationships/image" Target="/ppt/media/image4.png" Id="R6eca7037d91446c9" /><Relationship Type="http://schemas.openxmlformats.org/officeDocument/2006/relationships/image" Target="/ppt/media/image5.png" Id="Rd957b251107d4ac7" /><Relationship Type="http://schemas.openxmlformats.org/officeDocument/2006/relationships/notesSlide" Target="/ppt/notesSlides/notesSlide2.xml" Id="R351cef5465ac46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392f06d16442d" /><Relationship Type="http://schemas.openxmlformats.org/officeDocument/2006/relationships/image" Target="/ppt/media/image6.png" Id="R41d2c9370f694d41" /><Relationship Type="http://schemas.openxmlformats.org/officeDocument/2006/relationships/image" Target="/ppt/media/image7.png" Id="R17dd6b7ffacd4d08" /><Relationship Type="http://schemas.openxmlformats.org/officeDocument/2006/relationships/notesSlide" Target="/ppt/notesSlides/notesSlide3.xml" Id="R4aad50c967a74d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259cda12741ec" /><Relationship Type="http://schemas.openxmlformats.org/officeDocument/2006/relationships/image" Target="/ppt/media/image8.png" Id="R552235b003c04fe7" /><Relationship Type="http://schemas.openxmlformats.org/officeDocument/2006/relationships/image" Target="/ppt/media/image9.png" Id="R015d24ae5e9d4fe3" /><Relationship Type="http://schemas.openxmlformats.org/officeDocument/2006/relationships/notesSlide" Target="/ppt/notesSlides/notesSlide4.xml" Id="Re06f35b0e8c54e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5db48e0fc43f9" /><Relationship Type="http://schemas.openxmlformats.org/officeDocument/2006/relationships/image" Target="/ppt/media/image10.png" Id="Rcf8f9763f46e407f" /><Relationship Type="http://schemas.openxmlformats.org/officeDocument/2006/relationships/image" Target="/ppt/media/image11.png" Id="R8e9da210180a43d4" /><Relationship Type="http://schemas.openxmlformats.org/officeDocument/2006/relationships/notesSlide" Target="/ppt/notesSlides/notesSlide5.xml" Id="R313a163e446c4e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50ab9f1b14c8e" /><Relationship Type="http://schemas.openxmlformats.org/officeDocument/2006/relationships/image" Target="/ppt/media/image12.png" Id="R4d8d0f5c18804210" /><Relationship Type="http://schemas.openxmlformats.org/officeDocument/2006/relationships/image" Target="/ppt/media/image13.png" Id="R304f26948baa43f6" /><Relationship Type="http://schemas.openxmlformats.org/officeDocument/2006/relationships/notesSlide" Target="/ppt/notesSlides/notesSlide6.xml" Id="Rf24c10f73ec84f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d8d1c16154bf3" /><Relationship Type="http://schemas.openxmlformats.org/officeDocument/2006/relationships/image" Target="/ppt/media/image14.png" Id="R2793591a85ee4ec5" /><Relationship Type="http://schemas.openxmlformats.org/officeDocument/2006/relationships/image" Target="/ppt/media/image15.png" Id="R7a7b5dbd8fbb4fa9" /><Relationship Type="http://schemas.openxmlformats.org/officeDocument/2006/relationships/notesSlide" Target="/ppt/notesSlides/notesSlide7.xml" Id="Rf66e0d1505234a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602694fd04814" /><Relationship Type="http://schemas.openxmlformats.org/officeDocument/2006/relationships/image" Target="/ppt/media/image16.png" Id="R7623d4fcdd86433d" /><Relationship Type="http://schemas.openxmlformats.org/officeDocument/2006/relationships/image" Target="/ppt/media/image17.png" Id="R29b73e872df942d8" /><Relationship Type="http://schemas.openxmlformats.org/officeDocument/2006/relationships/notesSlide" Target="/ppt/notesSlides/notesSlide8.xml" Id="Rc700e934402f44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e59ee84fe40dd" /><Relationship Type="http://schemas.openxmlformats.org/officeDocument/2006/relationships/image" Target="/ppt/media/image18.png" Id="R0491614fa9234ee3" /><Relationship Type="http://schemas.openxmlformats.org/officeDocument/2006/relationships/image" Target="/ppt/media/image19.png" Id="R2b0fb15855f24123" /><Relationship Type="http://schemas.openxmlformats.org/officeDocument/2006/relationships/notesSlide" Target="/ppt/notesSlides/notesSlide9.xml" Id="Rc48b8c5c8e8d45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588bdd3e0418a" /><Relationship Type="http://schemas.openxmlformats.org/officeDocument/2006/relationships/image" Target="/ppt/media/image20.png" Id="R38e1bb86e6c348a8" /><Relationship Type="http://schemas.openxmlformats.org/officeDocument/2006/relationships/image" Target="/ppt/media/image21.png" Id="Rf7eb03cd41124114" /><Relationship Type="http://schemas.openxmlformats.org/officeDocument/2006/relationships/notesSlide" Target="/ppt/notesSlides/notesSlide10.xml" Id="R3d07c99694ee4a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ba38e53224acd" /><Relationship Type="http://schemas.openxmlformats.org/officeDocument/2006/relationships/image" Target="/ppt/media/image22.png" Id="R8a17124086504f87" /><Relationship Type="http://schemas.openxmlformats.org/officeDocument/2006/relationships/image" Target="/ppt/media/image23.png" Id="Rc27b21ef39324e59" /><Relationship Type="http://schemas.openxmlformats.org/officeDocument/2006/relationships/notesSlide" Target="/ppt/notesSlides/notesSlide11.xml" Id="Re9d211377a4e40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2b042b2eb450e" /><Relationship Type="http://schemas.openxmlformats.org/officeDocument/2006/relationships/image" Target="/ppt/media/image24.png" Id="R66ca7cc785134ae2" /><Relationship Type="http://schemas.openxmlformats.org/officeDocument/2006/relationships/image" Target="/ppt/media/image25.png" Id="R6e6e72b59b3f47bc" /><Relationship Type="http://schemas.openxmlformats.org/officeDocument/2006/relationships/notesSlide" Target="/ppt/notesSlides/notesSlide12.xml" Id="R78db4558d3ea44b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719c7ec6c4f64" /><Relationship Type="http://schemas.openxmlformats.org/officeDocument/2006/relationships/image" Target="/ppt/media/image26.png" Id="Rf79db0926f90471e" /><Relationship Type="http://schemas.openxmlformats.org/officeDocument/2006/relationships/image" Target="/ppt/media/image27.png" Id="R081307cb9db549d4" /><Relationship Type="http://schemas.openxmlformats.org/officeDocument/2006/relationships/notesSlide" Target="/ppt/notesSlides/notesSlide13.xml" Id="Rbafeef6f80cb43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4e1c17b9c4e46" /><Relationship Type="http://schemas.openxmlformats.org/officeDocument/2006/relationships/image" Target="/ppt/media/image28.png" Id="Re6bbff8fb61442d7" /><Relationship Type="http://schemas.openxmlformats.org/officeDocument/2006/relationships/image" Target="/ppt/media/image29.png" Id="Rdb29ed0bf8874031" /><Relationship Type="http://schemas.openxmlformats.org/officeDocument/2006/relationships/notesSlide" Target="/ppt/notesSlides/notesSlide14.xml" Id="R049f22f0e14547b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71e33c6164d50" /><Relationship Type="http://schemas.openxmlformats.org/officeDocument/2006/relationships/image" Target="/ppt/media/image30.png" Id="R231c8c5097054430" /><Relationship Type="http://schemas.openxmlformats.org/officeDocument/2006/relationships/image" Target="/ppt/media/image31.png" Id="Re7ae47d2eed44f7f" /><Relationship Type="http://schemas.openxmlformats.org/officeDocument/2006/relationships/notesSlide" Target="/ppt/notesSlides/notesSlide15.xml" Id="R76b129fa168e4ef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a5ef70ce24df7" /><Relationship Type="http://schemas.openxmlformats.org/officeDocument/2006/relationships/image" Target="/ppt/media/image32.png" Id="R74b58e84b83a4637" /><Relationship Type="http://schemas.openxmlformats.org/officeDocument/2006/relationships/image" Target="/ppt/media/image33.png" Id="Rf11ce15bfe2b4a16" /><Relationship Type="http://schemas.openxmlformats.org/officeDocument/2006/relationships/notesSlide" Target="/ppt/notesSlides/notesSlide16.xml" Id="R5ab6febb120f49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4F958-C112-4F74-8456-1E6D94D5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1796B-15B1-42EA-ADBD-7517DBD2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81F20-B960-4126-A744-0FC94E2A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5863C-CE0E-418F-BB78-FBDB7F3F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6C175-0DAA-4678-927C-D100F481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01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7896F-3228-4BC5-9941-1C56CC83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TEACHING WEEK 1  /  H3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CDD2E-FD19-4D12-87D4-56465775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InPack.AI evidence lab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AE6AC-656E-4552-85D0-DF6F758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4572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Use a package case to connect process risk with model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4AC41-9E5D-4BCF-B64E-1E49DB29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911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Guided lab and explain-back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9d271ddb2f41a9"/>
          <a:stretch xmlns:a="http://schemas.openxmlformats.org/drawingml/2006/main"/>
        </p:blipFill>
        <p:spPr>
          <a:xfrm xmlns:a="http://schemas.openxmlformats.org/drawingml/2006/main">
            <a:off x="5334000" y="1744821"/>
            <a:ext cx="6238875" cy="3511233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7d0c569aa407a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274c0e1b0430d"/>
          <a:stretch xmlns:a="http://schemas.openxmlformats.org/drawingml/2006/main"/>
        </p:blipFill>
        <p:spPr>
          <a:xfrm xmlns:a="http://schemas.openxmlformats.org/drawingml/2006/main">
            <a:off x="1457325" y="6305636"/>
            <a:ext cx="1524000" cy="41892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3028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A91CD4-FE54-4D50-9EBB-9219559A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576FF-576E-44A0-BB1C-8723E244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DFD95-2FD5-4C12-B163-97AF9401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CD3EE-9CAA-4D42-A76E-813FE52C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61981-EE42-4380-BAF7-70511A21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02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F4CF9-86B4-41C7-8BC5-8AD8C67F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Restore the H2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D0118-80FD-4CD0-8850-0FA5B32C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The lab begins from a documented defect and inspection question.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F4E29-4898-4C70-A234-DEFDDDFD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195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0A1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861A4-F445-4BE2-8E97-1A68FA75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663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00EAF8-BAA7-446A-985E-CD20078D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663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8F8FD-0A6C-49EA-9B73-0740CF31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stage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8EBAD-3E21-4A48-9737-2F8824B6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499CC7-A565-4B5C-94A5-8CFB5723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74BDC-1829-4DF3-AF52-D220040F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defect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A1784-A20D-44C7-AFF3-C1DD1FCA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5BD6F-2D3E-43FC-A1C9-882C73FD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5ADE99-4F57-4051-BEA3-1381B8D3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observable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A2BD50-1BC3-4330-904A-6950C463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788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167CBD-A074-4B09-B2FB-C4300FD6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788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89F54F-A637-4C15-A7A3-79B6148A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4E46D3-E429-4EE8-A671-34D406A6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Which row will your team investigate?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a7037d91446c9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7b251107d4ac7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8362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2E9997-145B-4DBB-B66B-5CD860EA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A62BA-851C-43D7-8AE4-69B857C1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5094E-1AFC-4502-B04F-36168474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C982E-D359-410A-93DE-B2B4D57A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696BB-2E34-4817-9318-8F39888E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03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F0D3F-96A8-4FA0-896B-963C1357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Evidence contract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279C1-28D4-4BE7-9BDD-5BDA0B18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A reusable case record names the case, revision, inputs, and result.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60CF9-E311-45B9-9571-C7CDFD28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955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9617B-09D8-48B5-86CC-3D0E374D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955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case 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EF7F4-C0CA-40B5-B3F8-E795B3D8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337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3A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67B11-4014-4D80-B0DD-DB360B41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DD0CDA-92EC-4652-83AB-32743A10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48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revision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444B7-22DF-4130-99C9-B4359559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861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3A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E63A9-FBEB-491A-9038-B47AB6C9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04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02AC2-75D1-4D9A-A045-751C5800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004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inputs + units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DECF0-3111-4790-B1AD-81D7D6AF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386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3A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D681F-4A25-4A38-8EAF-FC35ED36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29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C6A2D-A1D3-47B3-B875-15F7B250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529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8AD7F2-1374-4983-B4CA-98DD160F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5910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3A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26E21B-159A-412F-813E-C9CCB39B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053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FC7F6C-380B-4C84-BDD9-C07B6E92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053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61AD01-EAEC-46B0-BC60-20A5AD16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1435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3A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11EA3A-851D-4188-B1A6-09A14257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Which field prevents a later rerun from using the wrong case?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2c9370f694d41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d6b7ffacd4d08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4549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C2080C-73B0-46D3-B560-24BD26AD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A2053-1BC5-4BB7-9657-3CDBBA7D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36B2E-D82F-40D7-8ECA-D88EEAF2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E5877-1C95-42E4-9460-3CB5F424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63D09-DDAB-4606-A6CE-35943019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04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41352-D0EC-4D26-897A-BADE5939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Two access paths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940A3-B1A3-421F-8900-D630BF5A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Use the live course case or its instructor export.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A1EE6-E577-44AB-B9A7-E8CF4D3E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Course case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C3481-7D2B-450A-8683-EBD52DB1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575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0A1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3CB53-3BE2-4FC1-A88E-D7462277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43125"/>
            <a:ext cx="66675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0A1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4A3FC-F7C5-4E9A-991D-AA8E7722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66675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0A1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894106-41DA-4233-8C25-2D0A5D1F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InPack.AI course account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0BC29-9442-482B-AC12-9796FA88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D9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D91"/>
                </a:solidFill>
                <a:latin typeface="Arial"/>
                <a:ea typeface="Arial"/>
                <a:cs typeface="Arial"/>
              </a:rPr>
              <a:t>instructor-provided export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607B6F-1080-4024-B68E-27B332A2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336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3A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5EA7B-D5A6-4477-B0A2-7DCCD57C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What must the export contain?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235b003c04fe7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d24ae5e9d4fe3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9395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ABD8A0-5D30-4CDD-B5C1-D41F6448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FCAD0-8A81-437C-A3BF-1E32266C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1DCE6-FF47-4111-B979-C0E02322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EAAAC-98B4-470A-943C-960643C7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D65C9-33D0-44D8-ABB0-318A51A3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05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DC3BC-593D-41E5-A450-6389B3DE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Audit the inputs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C6227-C027-43FC-8D17-DD0133F7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Geometry, materials, loads, and units define the model question.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8AF78C-F2BE-4328-B091-A2DCE490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9555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51022-C4FD-48EB-9193-5460AE47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955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D6D6DA-0D93-4A74-9069-B878E472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480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3A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57BE6-9B3A-449E-884F-5E457026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871EA-984D-4C64-9CB9-557168B5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623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materials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37619-2EF0-474D-843F-F5E59ACB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147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3A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3E2A74-B758-4FDF-9109-A55E80BC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905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09EC0-83E1-4494-AC3A-C8F68790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290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load / stage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0C8A3F-29F1-4582-9F54-16CBC2AA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3815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3A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09F607-80C5-419F-AAD3-86EFD33C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9580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4DC3B8-023E-45CC-883C-06B0F741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5FADD2-D143-4672-84BE-D08D6902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0482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3A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6103FD-A984-42C4-AE57-B52C9F02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Which omission could reverse a comparison?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f9763f46e407f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da210180a43d4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0155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4DC86-332C-447C-9990-C6AE7AAE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59075-69B5-4721-BAA7-8FE42A9F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5D251-6E74-4FD6-8C76-2CA237D2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7B94A-0B22-47BB-B9BF-D474B666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8946D-41C5-456B-9222-9A8B456D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06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7274B-FDF6-4891-BCCC-77034127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Predict before viewing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4D459-D417-44B6-B3C9-04B28F76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State a conditional expectation for two designs.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A8AB2-8E50-460C-98DD-D27EA4EC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8E20A-4C8D-492E-B5E7-2FE4331C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62250"/>
            <a:ext cx="3270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candidate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84496-FE5E-4E4D-8E66-1CC78FA8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86250"/>
            <a:ext cx="317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3A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47E10-7199-4213-81CB-5A9C9E2F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375" y="2619375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07B6E-6F9A-41B1-88A7-4378449A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925" y="2762250"/>
            <a:ext cx="3270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candidate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12917-2E0F-4FC8-8DB9-180C3178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925" y="4286250"/>
            <a:ext cx="317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3A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0CAA6-3779-488C-AA61-66163C6C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2619375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8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9FD721-860B-4168-9620-5E0D931C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1175" y="2762250"/>
            <a:ext cx="3270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same load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AA3510-837B-4B9F-B084-CFC198FF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1175" y="4286250"/>
            <a:ext cx="317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3A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66DFA9-0B7F-4BBE-A393-E2564F0C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What assumptions make your prediction plausible?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d0f5c18804210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f26948baa43f6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6078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4C74B9-0744-419C-B2D4-050B64E1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DF86A2-F8DD-4E8E-8F9D-E84A99B2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D6562-6CF0-48BF-B278-2BEA4915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5557E-53C2-4696-85CF-C41AE75D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519CE-666C-4FFB-A490-C489E6C5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07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DCF7F-95B4-458B-BBF1-86F482BA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Enter the case 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F1907-F00E-4ABB-9F0A-9B787DB4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Copy the actual InPack.AI case settings.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EE6E8-8E75-4FF4-AC14-03AF5F2B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9555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FD514-1BA5-4125-AF23-5D567D88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955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package 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3990B-5025-44DC-B701-7A526898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480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3A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04D5B9-948B-43C2-8BD6-CD691C88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B1FAE-ABE5-4B71-982C-6354C8AD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623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material 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DD70D-DFDB-4121-9CBC-E8F168FA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147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3A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E3DC9E-9CEC-49BF-87BB-A9E8F3AA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905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2B995-EF90-4E08-975D-25605A83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290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load condition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2E2B11-13B4-4859-8E5B-B4B0901E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3815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3A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75909C-3EB8-46A3-B538-B271CCE1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9580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47DC1D-25C0-461E-969F-D25C5A2C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run revision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4309C7-C470-44FD-9F3F-41C99332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0482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3A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B62576-1899-4D3B-B027-87D8A22A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Where is your source of truth?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3591a85ee4ec5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b5dbd8fbb4fa9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438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4A9653-5872-4275-A776-408C5A14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41830-AB12-47B3-8AF6-862A87AD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0A8D4-5041-46D2-AA24-53A68B17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B2F72-F3FA-4C7E-9BB6-4A6CC4CB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C949A-7816-42A3-8EF5-B18F00C8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08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A0C9F-4B73-4A71-B4FF-C5684B25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Record the output meaning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01D70-F541-4B6A-929F-D4B94860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A number needs a quantity, unit, location, and process stage.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84F3F-CD82-4975-B1FB-AFC68BF5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195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0A1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12307-C127-4684-BB4D-191FC786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663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38FD6-851A-4BC4-BE63-742822F5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663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5D525-B13E-40DA-9430-72B4D400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08544-1A2A-40FF-9C15-459DD9C2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62829-B262-486D-9B5E-655C9F01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5A42C-874E-4B2D-8DBA-2B275208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unit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943D4-9766-4FFA-9E17-31C9677C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B93367-CA7F-452F-BF4F-ABFDC6A3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01561-4447-41A9-A69F-C1D6912A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location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22B579-1621-4F87-A50B-E9F09961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788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EFA19E-D9AF-4836-A3A5-AA593239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788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6AEF90-C067-4125-9CC7-A7EB1012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stage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EA7830-23FA-4859-9499-D4D16F17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Is the value a maximum, average, or local reading?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3d4fcdd86433d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73e872df942d8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4647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2345E-D9FC-4291-A25E-9829F11E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D654D7-38C1-4921-92AF-D12C015A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3B9FA-24FF-479C-B469-6EF1F987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A35DD-207F-4537-AD78-7479134F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11399-F1E4-4A83-88A0-0E92AF70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09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16C98-7C33-47E7-8ED7-CC34C5D0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Synthetic comparison example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2730C-65BC-48E7-8D57-A867FD1B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A worked example separates predicted and measured warpage.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1619250" y="2667000"/>
          <a:ext xmlns:a="http://schemas.openxmlformats.org/drawingml/2006/main" cx="8953500" cy="2095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984500"/>
                <a:gridCol w="2984500"/>
                <a:gridCol w="2984500"/>
              </a:tblGrid>
              <a:tr h="69850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Candidate</a:t>
                      </a:r>
                    </a:p>
                  </a:txBody>
                  <a:tcPr marL="91440" marR="91440" marT="45720" marB="45720">
                    <a:solidFill>
                      <a:srgbClr val="420A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Predicted warpage (µm)</a:t>
                      </a:r>
                    </a:p>
                  </a:txBody>
                  <a:tcPr marL="91440" marR="91440" marT="45720" marB="45720">
                    <a:solidFill>
                      <a:srgbClr val="420A1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Measured warpage (µm)</a:t>
                      </a:r>
                    </a:p>
                  </a:txBody>
                  <a:tcPr marL="91440" marR="91440" marT="45720" marB="45720">
                    <a:solidFill>
                      <a:srgbClr val="420A15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12233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12233F"/>
                          </a:solidFill>
                          <a:latin typeface="Arial"/>
                          <a:ea typeface="Arial"/>
                          <a:cs typeface="Arial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12233F"/>
                          </a:solidFill>
                          <a:latin typeface="Arial"/>
                          <a:ea typeface="Arial"/>
                          <a:cs typeface="Arial"/>
                        </a:rPr>
                        <a:t>92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12233F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12233F"/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</a:p>
                  </a:txBody>
                  <a:tcPr marL="91440" marR="91440" marT="45720" marB="45720">
                    <a:solidFill>
                      <a:srgbClr val="EEE8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1">
                          <a:solidFill>
                            <a:srgbClr val="12233F"/>
                          </a:solidFill>
                          <a:latin typeface="Arial"/>
                          <a:ea typeface="Arial"/>
                          <a:cs typeface="Arial"/>
                        </a:rPr>
                        <a:t>64</a:t>
                      </a:r>
                    </a:p>
                  </a:txBody>
                  <a:tcPr marL="91440" marR="91440" marT="45720" marB="45720">
                    <a:solidFill>
                      <a:srgbClr val="EEE8E2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5AE82-1D06-47F6-9F00-429D2E47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4825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SYNTHETIC TEACHING DATA  ·  25°C after reflow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844DD-9C9B-4F48-A52F-3058522E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Which candidate is lower at 25°C after reflow?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1614fa9234ee3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fb15855f24123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4204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8D0DDA-AABC-4AE5-8CFC-F025F692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9AE87-F856-4884-88C6-EC9E0D42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CE89E-B2A9-4580-B5D9-82B793CE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37695-B96B-439F-BDE3-276CCE1E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85B37-40E9-4EE2-9ED0-59020BAC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E4F0B-E06E-4869-9791-BF47B851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Compute the residual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00512-6C73-4F85-8C8A-E22DA7BB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Residual equals measured minus predicted.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D2055-3CE4-4E95-B57B-C5E65A55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Residual = measured − predicted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5076E-6FE4-46A1-9AE9-B7E45113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242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3A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108C2-E771-48B0-BACE-C462465C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284B0-810B-4853-B283-BE01122E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71475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92 − 80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1C1E0-757B-4EB9-9512-4A8D66C3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1475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= +12 µm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E164D-3FB2-48FD-AB0F-E0C0C610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8D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D9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693FB-F89E-4CB7-8464-00113759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5720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64 − 60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D23B45-C95A-453B-BBFF-6CBC6149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7200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8D9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8D91"/>
                </a:solidFill>
                <a:latin typeface="Arial"/>
                <a:ea typeface="Arial"/>
                <a:cs typeface="Arial"/>
              </a:rPr>
              <a:t>= +4 µm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31DFE2-E448-41F0-B470-E88F7AE4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Does the smaller residual prove the model is validated?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1bb86e6c348a8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b03cd41124114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0514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62AB43-0B40-4C9D-8D15-B0490617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36288-A530-4908-BFFE-1DF739A4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7C456-9DF1-4CCA-A860-FD8BADFD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E6F3E-03CF-464D-9776-5FCDC41F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BFACA-FA24-4D07-8992-2BACE674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1014A-74D4-4FB7-9420-1451DE66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Bound the design 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630E4-83D4-4A07-BD9A-08B3A8C2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Candidate B is lower in this synthetic comparison.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EBFB8-503B-4465-B10A-7885CEB7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195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0A1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EC4E5-8194-43C1-8806-53963ED9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663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C6342-EA49-4164-9151-FBF51E09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663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C945F-8BD0-4947-B3C7-69046521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claim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98966-3A6A-4998-93CD-1FA26323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97E333-1E9F-47E4-9095-EB0EBB70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F711EC-E3A5-4FF7-B2CF-5395E9ED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213C1-8088-463B-ADF3-161485C8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43B1E-9AF1-4C01-8339-CC7D1B94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2EEE7D-C4E6-4ECA-A0CD-D232A838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limit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527CE7-5790-4981-A347-39873E2D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788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2A4DCA-52E0-477D-88CE-D4B138B7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788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EB7DC0-B2B7-490F-B6C8-06D2CD5D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next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44DAFB-67D7-4E77-A847-6FEB5E88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What data would you request before release?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17124086504f87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b21ef39324e59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7981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33A731-6F66-462D-8E93-9C6AEE1E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41B6E-8A93-41FC-92E8-C1946A1F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90170-34FC-40B7-8C6E-0795C780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6FECD-7F54-46BB-8365-0CB26434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6D9FC-62CC-4CC6-BF8A-1C77DEF7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CB003-7A22-479F-845C-287D47EA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Run the course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3F438-07F9-49B3-AA0C-A3ADF702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Complete one InPack.AI case record with actual settings.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4A00D-3F58-4436-94A1-7F0207E4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253841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input 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FC8C8-EF50-410E-AA35-D9A90756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690813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3B384-58B0-4D4B-86F2-B16223BD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2714625"/>
            <a:ext cx="253841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output 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0811D-7899-4F48-A98A-25E35ABF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3238500"/>
            <a:ext cx="2690813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53DBA-FD32-4EE5-AC91-B8D81545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14625"/>
            <a:ext cx="253841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difference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F271D-670C-4786-AD99-C3407574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238500"/>
            <a:ext cx="2690813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301F5-6925-44EB-B108-EFDDAB5C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2714625"/>
            <a:ext cx="253841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source 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0811C-643E-4BE8-B1C7-383EA74E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238" y="3238500"/>
            <a:ext cx="2690813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A5D52-CFC0-45FA-AF8F-BEC2952A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35D38-710E-403B-8AC1-A6A9CDAB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AA649A-654C-4189-9FAA-02F22EA8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Stop when another student can identify the exact case.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a7cc785134ae2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6e72b59b3f47bc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5763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16949A-ED69-41C6-9B4F-B71F30DE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030D7-D608-4399-A7F3-D9CDFD2D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5DC48-F035-4F8D-9989-C80B39F4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DAFB2-DA82-49EC-9F8D-46EE7220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61378-9F2C-4587-AE2A-F5D659DC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96C01-16FD-4686-A190-4691FB42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Check comparison conditions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916F5-0E7C-4219-9842-F289058A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A comparison fails when units or conditions differ.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4445E-6DDB-489A-816B-E2139223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587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9A3A96-36A4-46BD-8F57-C55DCABB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339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1709D-CAFA-4FF4-A899-9B3C0E5B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571750"/>
            <a:ext cx="3587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59477-2C9E-4B3A-9FBA-6C673A39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638425"/>
            <a:ext cx="339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needed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8652B-A3B1-4E3D-856A-9D9D52AC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571750"/>
            <a:ext cx="3587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F4F00-827D-4CBF-BC46-87DEF564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2638425"/>
            <a:ext cx="339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if mismatched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F2E514-0352-4584-809E-73D5C6B6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358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D27DC5-60ED-4D6F-9D29-6317073A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190875"/>
            <a:ext cx="358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54B94-1F38-4B2A-A044-ED756544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3190875"/>
            <a:ext cx="358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AE723C-042E-4E27-91DF-5341E875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358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34E68F-2FA2-4530-8914-880A83A1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876675"/>
            <a:ext cx="358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644E26-7B48-4DEA-9D92-030AD1FC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3876675"/>
            <a:ext cx="358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3707DE-64E5-4991-B54A-BA25FA63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358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AF987A-000E-4F0F-BC09-5A0EF008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4562475"/>
            <a:ext cx="358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0CCC25-FEE9-4BC7-8C36-27A55EA7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4562475"/>
            <a:ext cx="358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D2F3AC-0F9A-4EB0-911B-7911272E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09925"/>
            <a:ext cx="341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stage / temperature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B0B6E1-04F7-4089-821A-0E191AA7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275" y="3209925"/>
            <a:ext cx="341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same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0C89DC-5291-4EFF-961E-FC7DDB17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025" y="3209925"/>
            <a:ext cx="341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do not compare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DF0501-AA17-4200-B294-2754F8C7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95725"/>
            <a:ext cx="341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unit / quantity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535801-244C-4206-A47F-DC4C8384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275" y="3895725"/>
            <a:ext cx="341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convert and define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D5232D-9F72-497A-A9E6-737DBF4B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025" y="3895725"/>
            <a:ext cx="341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recalculate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41F86F-2058-4E6C-AB62-13A5430B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581525"/>
            <a:ext cx="341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geometry / material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EDDC05-5085-41A0-A874-CC53C9DB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275" y="4581525"/>
            <a:ext cx="341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same baseline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6C262A-CD9C-4835-BE5D-C5F67B0F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025" y="4581525"/>
            <a:ext cx="341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separate sensitivity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6E8A8E-BDDB-4A58-AABF-BFCC81AB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Which mismatch is present in your record?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db0926f90471e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307cb9db549d4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4906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FA665D-281E-417C-8985-3A5EFF24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8FC9D-1D57-45DF-9340-405926C4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C1643-ADD7-42B1-81D6-593101C2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6588C-5A12-4A38-8A9D-3E73DD46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11D14-76CE-4625-9B98-B499D3CF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19EC5-1B64-4DB1-A0CA-F579E9E8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Peer reproduction 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BCE97-1549-41E5-9987-9661C16D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A peer should be able to retrace the conclusion from the record.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8E2CD-B40A-494E-A409-B3232CC6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195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0A1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C6798-5B15-4A8C-B2BE-0BA53CDD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663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1B8C9-6C33-4E8F-825B-196B3FA9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663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54012-C2AF-46BD-A621-E01A75E7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88B2B-009F-49BA-A2FF-64D5CBC7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D2235A-83F1-426B-835F-BE9760CD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7FC0FB-3BE2-4D49-AB47-7772B9A9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E837B-1D59-41EB-B939-BEB6BD6F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D21DB-BD09-46BC-9DB8-8FF42343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D02E8-C5E5-4A49-8C3E-FE852AE2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4F41D8-A935-423B-BA90-6D594631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788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D6BFA-B4D2-43C5-A34E-5732CAD9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788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863554-4A59-43AC-8E43-A1F81FD9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inference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D2891C-914B-4A41-98DD-1C320DFD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What claim cannot you verify from the record?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bff8fb61442d7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9ed0bf8874031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0957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C2E486-08F3-465A-ACD0-FE22C132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4A71A-7908-4DCD-8ED2-3881F299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76F5A-6551-4CB4-8B36-495F746E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A1CA0-1360-4880-8B7E-1EE93354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1E652-21BC-4AA8-BA06-76B376C8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27072-B489-4CD9-A3FD-925A9AAA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Evidence card for submission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A9263-FA3E-48C8-9CC2-DC63C447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The card states a narrow claim and the next physical check.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090FF-7453-4011-9D6C-3E9CD4ED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955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CF2BD-FCE2-4D2C-AF50-2F98980A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955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08A55-8008-4E8C-984F-0F3FA064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337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3A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73319-A05B-4250-A1E1-22C83C88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47BD2-82B5-46BD-8A5E-468BFBD2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48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model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82A1F-3788-4706-B500-986E3B9E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861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3A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67E94-FBEE-4831-B2D2-01C7ACC6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04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AE1FB6-1904-4B45-848D-D884ACF5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004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3FCFA1-8048-4BD2-A83C-F2423A3D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386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3A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7BA1F7-65FB-4C24-A832-A0DFC265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29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DDDECF-DBAB-4F9A-8E60-AFE8E09F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529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uncertainty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9E30F-164E-46D6-BDE8-30E68ECF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5910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3A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57E54C-5356-4C46-AF8E-84F312B4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053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416D03-C7E8-4EE4-A474-B326EC61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053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next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543E28-D2AB-4408-8ABC-C02CAF63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1435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3A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6F2E6F-151A-483A-94B9-39B99801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Does each line cite its source?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c8c5097054430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e47d2eed44f7f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3767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2F3DDF-2ED6-4A19-87D6-1443CF0C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CE8F5-4F2A-40B1-B7E9-9B03C6DE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F9F9B-025A-42F8-86DC-DFA22F42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8AB27-8E4D-4209-9395-3D0F6513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E4446-15A0-461B-B730-22D8391D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00A2B-8467-4D7A-954B-22A73BD2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Exit: prepare for materials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BE05F-AAD1-4AEA-BF64-71825DAB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Next week begins with material properties and temperature dependence.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3DA66-0330-470C-A226-27A6A4B9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195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0A1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5CD3FF-A18C-488E-A185-BEC28B05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663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A1278-A591-4428-82D0-C420C80D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663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71C6A-96CB-4B14-A32B-5BBF2E6A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2EEC6-A92C-44D4-BCC5-4AAFD399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6A3DC6-13F0-4381-9B76-8D8B8D26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56663D-EB69-4A3A-BF19-A90C0DB9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unit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AEC19-E4EE-4111-81F3-1169A636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AEBB2-BBC3-4F77-ADC8-FC7A4025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A61E65-9B9D-4104-B0BF-A39D2D64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temperature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DF67F-3AB0-49F4-B265-BCE75C3F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788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1C07B0-3792-4D30-9165-951EFDA5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788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07AFF-1855-4C42-97B5-094D8982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33153A-8182-4B4D-9983-243B2FC2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What input will you verify before the next run?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58e84b83a4637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1ce15bfe2b4a16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8159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2026-09-23T09:23:47.3730000Z</dcterms:created>
  <dcterms:modified xsi:type="dcterms:W3CDTF">2026-09-23T09:23:47.3730000Z</dcterms:modified>
</coreProperties>
</file>