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b9d7c89eb45d1" /><Relationship Type="http://schemas.openxmlformats.org/officeDocument/2006/relationships/extended-properties" Target="/docProps/app.xml" Id="R8299391775b140c2" /><Relationship Type="http://schemas.openxmlformats.org/officeDocument/2006/relationships/officeDocument" Target="/ppt/presentation.xml" Id="R1fe1fec6eafa4c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3f0741f29c4e44"/>
  </p:sldMasterIdLst>
  <p:notesMasterIdLst>
    <p:notesMasterId xmlns:r="http://schemas.openxmlformats.org/officeDocument/2006/relationships" r:id="R9d7f60895b404b11"/>
  </p:notesMasterIdLst>
  <p:sldIdLst>
    <p:sldId xmlns:r="http://schemas.openxmlformats.org/officeDocument/2006/relationships" id="256" r:id="Red0a02d4a08345d8"/>
    <p:sldId xmlns:r="http://schemas.openxmlformats.org/officeDocument/2006/relationships" id="257" r:id="R4552511f4490412e"/>
    <p:sldId xmlns:r="http://schemas.openxmlformats.org/officeDocument/2006/relationships" id="258" r:id="R40b0b7d4e8cf410c"/>
    <p:sldId xmlns:r="http://schemas.openxmlformats.org/officeDocument/2006/relationships" id="259" r:id="Rac833bd93070453b"/>
    <p:sldId xmlns:r="http://schemas.openxmlformats.org/officeDocument/2006/relationships" id="260" r:id="R093b968865c943a5"/>
    <p:sldId xmlns:r="http://schemas.openxmlformats.org/officeDocument/2006/relationships" id="261" r:id="R5304d66024c34fd3"/>
    <p:sldId xmlns:r="http://schemas.openxmlformats.org/officeDocument/2006/relationships" id="262" r:id="Ra4df8941654844ce"/>
    <p:sldId xmlns:r="http://schemas.openxmlformats.org/officeDocument/2006/relationships" id="263" r:id="R1dd17f1ddffb4984"/>
    <p:sldId xmlns:r="http://schemas.openxmlformats.org/officeDocument/2006/relationships" id="264" r:id="Rf84c748530bb4d7f"/>
    <p:sldId xmlns:r="http://schemas.openxmlformats.org/officeDocument/2006/relationships" id="265" r:id="R09545274f887491a"/>
    <p:sldId xmlns:r="http://schemas.openxmlformats.org/officeDocument/2006/relationships" id="266" r:id="R600b03e4a24d4378"/>
    <p:sldId xmlns:r="http://schemas.openxmlformats.org/officeDocument/2006/relationships" id="267" r:id="R76e07157f2d8482c"/>
    <p:sldId xmlns:r="http://schemas.openxmlformats.org/officeDocument/2006/relationships" id="268" r:id="R090396d4842a40e1"/>
    <p:sldId xmlns:r="http://schemas.openxmlformats.org/officeDocument/2006/relationships" id="269" r:id="R7fbaacffc1e34da2"/>
    <p:sldId xmlns:r="http://schemas.openxmlformats.org/officeDocument/2006/relationships" id="270" r:id="R1f33a37b47944325"/>
    <p:sldId xmlns:r="http://schemas.openxmlformats.org/officeDocument/2006/relationships" id="271" r:id="Ra00115bd4e8640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b314c1a1d4bd3" /><Relationship Type="http://schemas.openxmlformats.org/officeDocument/2006/relationships/slideMaster" Target="/ppt/slideMasters/slideMaster1.xml" Id="R393f0741f29c4e44" /><Relationship Type="http://schemas.openxmlformats.org/officeDocument/2006/relationships/notesMaster" Target="/ppt/notesMasters/notesMaster1.xml" Id="R9d7f60895b404b11" /><Relationship Type="http://schemas.openxmlformats.org/officeDocument/2006/relationships/presProps" Target="/ppt/presProps.xml" Id="R725c53507a3346b9" /><Relationship Type="http://schemas.openxmlformats.org/officeDocument/2006/relationships/tableStyles" Target="/ppt/tableStyles.xml" Id="R74a2a3bde2634334" /><Relationship Type="http://schemas.openxmlformats.org/officeDocument/2006/relationships/slide" Target="/ppt/slides/slide1.xml" Id="Red0a02d4a08345d8" /><Relationship Type="http://schemas.openxmlformats.org/officeDocument/2006/relationships/slide" Target="/ppt/slides/slide2.xml" Id="R4552511f4490412e" /><Relationship Type="http://schemas.openxmlformats.org/officeDocument/2006/relationships/slide" Target="/ppt/slides/slide3.xml" Id="R40b0b7d4e8cf410c" /><Relationship Type="http://schemas.openxmlformats.org/officeDocument/2006/relationships/slide" Target="/ppt/slides/slide4.xml" Id="Rac833bd93070453b" /><Relationship Type="http://schemas.openxmlformats.org/officeDocument/2006/relationships/slide" Target="/ppt/slides/slide5.xml" Id="R093b968865c943a5" /><Relationship Type="http://schemas.openxmlformats.org/officeDocument/2006/relationships/slide" Target="/ppt/slides/slide6.xml" Id="R5304d66024c34fd3" /><Relationship Type="http://schemas.openxmlformats.org/officeDocument/2006/relationships/slide" Target="/ppt/slides/slide7.xml" Id="Ra4df8941654844ce" /><Relationship Type="http://schemas.openxmlformats.org/officeDocument/2006/relationships/slide" Target="/ppt/slides/slide8.xml" Id="R1dd17f1ddffb4984" /><Relationship Type="http://schemas.openxmlformats.org/officeDocument/2006/relationships/slide" Target="/ppt/slides/slide9.xml" Id="Rf84c748530bb4d7f" /><Relationship Type="http://schemas.openxmlformats.org/officeDocument/2006/relationships/slide" Target="/ppt/slides/slide10.xml" Id="R09545274f887491a" /><Relationship Type="http://schemas.openxmlformats.org/officeDocument/2006/relationships/slide" Target="/ppt/slides/slide11.xml" Id="R600b03e4a24d4378" /><Relationship Type="http://schemas.openxmlformats.org/officeDocument/2006/relationships/slide" Target="/ppt/slides/slide12.xml" Id="R76e07157f2d8482c" /><Relationship Type="http://schemas.openxmlformats.org/officeDocument/2006/relationships/slide" Target="/ppt/slides/slide13.xml" Id="R090396d4842a40e1" /><Relationship Type="http://schemas.openxmlformats.org/officeDocument/2006/relationships/slide" Target="/ppt/slides/slide14.xml" Id="R7fbaacffc1e34da2" /><Relationship Type="http://schemas.openxmlformats.org/officeDocument/2006/relationships/slide" Target="/ppt/slides/slide15.xml" Id="R1f33a37b47944325" /><Relationship Type="http://schemas.openxmlformats.org/officeDocument/2006/relationships/slide" Target="/ppt/slides/slide16.xml" Id="Ra00115bd4e8640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62e1491c0e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dd780e79b4321" /><Relationship Type="http://schemas.openxmlformats.org/officeDocument/2006/relationships/notesMaster" Target="/ppt/notesMasters/notesMaster1.xml" Id="Rb7c5918b3c1c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76f13260bd479e" /><Relationship Type="http://schemas.openxmlformats.org/officeDocument/2006/relationships/notesMaster" Target="/ppt/notesMasters/notesMaster1.xml" Id="Rc2996c94b57d4d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3e8cfee9a4a61" /><Relationship Type="http://schemas.openxmlformats.org/officeDocument/2006/relationships/notesMaster" Target="/ppt/notesMasters/notesMaster1.xml" Id="Rae517699890442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fa7c4ec2b421e" /><Relationship Type="http://schemas.openxmlformats.org/officeDocument/2006/relationships/notesMaster" Target="/ppt/notesMasters/notesMaster1.xml" Id="R20d14173649b4c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d7be8164714316" /><Relationship Type="http://schemas.openxmlformats.org/officeDocument/2006/relationships/notesMaster" Target="/ppt/notesMasters/notesMaster1.xml" Id="R18d4b1b02aba44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654edce49e4eda" /><Relationship Type="http://schemas.openxmlformats.org/officeDocument/2006/relationships/notesMaster" Target="/ppt/notesMasters/notesMaster1.xml" Id="R01d7cae0b83d40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3d058d6d264df9" /><Relationship Type="http://schemas.openxmlformats.org/officeDocument/2006/relationships/notesMaster" Target="/ppt/notesMasters/notesMaster1.xml" Id="R1f342213337d41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e25fcbc23948e9" /><Relationship Type="http://schemas.openxmlformats.org/officeDocument/2006/relationships/notesMaster" Target="/ppt/notesMasters/notesMaster1.xml" Id="R0f7d04d9908849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209300008a4935" /><Relationship Type="http://schemas.openxmlformats.org/officeDocument/2006/relationships/notesMaster" Target="/ppt/notesMasters/notesMaster1.xml" Id="R66c1842483d74d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69e4a978d54849" /><Relationship Type="http://schemas.openxmlformats.org/officeDocument/2006/relationships/notesMaster" Target="/ppt/notesMasters/notesMaster1.xml" Id="Rdbad89545f6a4b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c77e4d15584ed8" /><Relationship Type="http://schemas.openxmlformats.org/officeDocument/2006/relationships/notesMaster" Target="/ppt/notesMasters/notesMaster1.xml" Id="Rf07b693b7c484c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9c6e4bce1b4d6e" /><Relationship Type="http://schemas.openxmlformats.org/officeDocument/2006/relationships/notesMaster" Target="/ppt/notesMasters/notesMaster1.xml" Id="Ree7cc57ff50d44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24cf1a37af4171" /><Relationship Type="http://schemas.openxmlformats.org/officeDocument/2006/relationships/notesMaster" Target="/ppt/notesMasters/notesMaster1.xml" Id="R7ec263eb04ce45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b366396d5f43b8" /><Relationship Type="http://schemas.openxmlformats.org/officeDocument/2006/relationships/notesMaster" Target="/ppt/notesMasters/notesMaster1.xml" Id="Rdcb36daa9b1e4d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7723e426ec45d7" /><Relationship Type="http://schemas.openxmlformats.org/officeDocument/2006/relationships/notesMaster" Target="/ppt/notesMasters/notesMaster1.xml" Id="R9d0b48a9e52446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c4b1c1c75041b3" /><Relationship Type="http://schemas.openxmlformats.org/officeDocument/2006/relationships/notesMaster" Target="/ppt/notesMasters/notesMaster1.xml" Id="R7ee936c4163540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Establish the week boundary: September 30 is the first new teaching week after the September 23 introduction. Students will leave with one process, defect, and measurement map.</a:t>
            </a:r>
          </a:p>
          <a:p xmlns:a="http://schemas.openxmlformats.org/drawingml/2006/main">
            <a:r>
              <a:t>Visual purpose: The illustration establishes the physical object or engineering problem for this hour. Trace the material state at every operation.</a:t>
            </a:r>
          </a:p>
          <a:p xmlns:a="http://schemas.openxmlformats.org/drawingml/2006/main">
            <a:r>
              <a:t>Facilitation prompt: What changes after wafer test?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Show the four columns of the deliverable. Expected answer: a map supports causal tracing because it states where material changed and where evidence was collected.</a:t>
            </a:r>
          </a:p>
          <a:p xmlns:a="http://schemas.openxmlformats.org/drawingml/2006/main">
            <a:r>
              <a:t>Visual purpose: The connected chain ties evidence fields to a process or decision. Each step needs an input, transformation, output, and inspection gate.</a:t>
            </a:r>
          </a:p>
          <a:p xmlns:a="http://schemas.openxmlformats.org/drawingml/2006/main">
            <a:r>
              <a:t>Facilitation prompt: What makes a process map useful for diagnosis?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screenshot or model prediction is sufficient without case identity, units, and a physical check.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Pause for prediction. Accept bond damage, misalignment, or package stress as hypotheses. The misconception is that a good wafer-level electrical test proves the final package.</a:t>
            </a:r>
          </a:p>
          <a:p xmlns:a="http://schemas.openxmlformats.org/drawingml/2006/main">
            <a:r>
              <a:t>Visual purpose: The partial route gives students a place to predict the missing mechanism. Predict where a working die could become an open circuit.</a:t>
            </a:r>
          </a:p>
          <a:p xmlns:a="http://schemas.openxmlformats.org/drawingml/2006/main">
            <a:r>
              <a:t>Facilitation prompt: Mark one possible failure stage before the answer.</a:t>
            </a:r>
          </a:p>
          <a:p xmlns:a="http://schemas.openxmlformats.org/drawingml/2006/main">
            <a:r>
              <a:t>Expected response: Assembly can introduce an open at a bond, joint, or die interface; wafer test cannot rule this out.</a:t>
            </a:r>
          </a:p>
          <a:p xmlns:a="http://schemas.openxmlformats.org/drawingml/2006/main">
            <a:r>
              <a:t>Misconception to check: Wafer test or a final electrical fail identifies the exact later physical cause.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17 Test Technology | https://eps.ieee.org/wp-content/uploads/2025/11/HIR_2024_ch17_Test_Technology.pdf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Point to each interface. Ask students to distinguish die-to-package from package-to-board. This terminology is needed before the process map.</a:t>
            </a:r>
          </a:p>
          <a:p xmlns:a="http://schemas.openxmlformats.org/drawingml/2006/main">
            <a:r>
              <a:t>Visual purpose: The layered diagram locates the interface in the package stack. First-level joining reaches the package; second-level joining reaches the PCB.</a:t>
            </a:r>
          </a:p>
          <a:p xmlns:a="http://schemas.openxmlformats.org/drawingml/2006/main">
            <a:r>
              <a:t>Facilitation prompt: Trace one signal path aloud.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22 Interconnects | https://eps.ieee.org/wp-content/uploads/2025/11/HIR_2024_ch22_2D-3D.pdf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Move across the route. Have students label material state after each operation. Explain that verification gates may occur at several steps.</a:t>
            </a:r>
          </a:p>
          <a:p xmlns:a="http://schemas.openxmlformats.org/drawingml/2006/main">
            <a:r>
              <a:t>Visual purpose: The editable route shows operation order and where state changes occur. Inspections observe selected properties; they do not reverse the process.</a:t>
            </a:r>
          </a:p>
          <a:p xmlns:a="http://schemas.openxmlformats.org/drawingml/2006/main">
            <a:r>
              <a:t>Facilitation prompt: Which boxes change connectivity?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Use the image to locate the blade, silicon, and tape. The image is conceptual. Expected answer: upstream damage may be hidden or amplified during later assembly.</a:t>
            </a:r>
          </a:p>
          <a:p xmlns:a="http://schemas.openxmlformats.org/drawingml/2006/main">
            <a:r>
              <a:t>Visual purpose: The annotated conceptual image shows the physical parts and their spatial relationship. Watch for edge chipping and handling damage.</a:t>
            </a:r>
          </a:p>
          <a:p xmlns:a="http://schemas.openxmlformats.org/drawingml/2006/main">
            <a:r>
              <a:t>Facilitation prompt: Why inspect before die attach?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Every visible edge feature is a functional failure.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Identify the visible void as a conceptual defect, not a measurement. Ask students to connect location and size to possible thermal or mechanical consequence; acoustic inspection is a candidate method.</a:t>
            </a:r>
          </a:p>
          <a:p xmlns:a="http://schemas.openxmlformats.org/drawingml/2006/main">
            <a:r>
              <a:t>Visual purpose: The annotated conceptual image shows the physical parts and their spatial relationship. A local void changes the contact area and may concentrate stress.</a:t>
            </a:r>
          </a:p>
          <a:p xmlns:a="http://schemas.openxmlformats.org/drawingml/2006/main">
            <a:r>
              <a:t>Facilitation prompt: What could detect a buried void?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Every void has the same consequence regardless of area, position, and load.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22 Interconnects | https://eps.ieee.org/wp-content/uploads/2025/11/HIR_2024_ch22_2D-3D.pdf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Do not turn this into an architecture-selection lecture, which belongs later in the semester. Use the comparison only to understand process branch points.</a:t>
            </a:r>
          </a:p>
          <a:p xmlns:a="http://schemas.openxmlformats.org/drawingml/2006/main">
            <a:r>
              <a:t>Visual purpose: The annotated conceptual image shows the physical parts and their spatial relationship. The routes change pad access, assembly sequence, and protection.</a:t>
            </a:r>
          </a:p>
          <a:p xmlns:a="http://schemas.openxmlformats.org/drawingml/2006/main">
            <a:r>
              <a:t>Facilitation prompt: Where is the first-level connection in each?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ASE Flip Chip Packaging | https://ase.aseglobal.com/flip-chip-packaging/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Trace the path through die pad, first bond, loop, second bond, and substrate pad. A pull or shear sample probes strength; optical inspection primarily reveals geometry.</a:t>
            </a:r>
          </a:p>
          <a:p xmlns:a="http://schemas.openxmlformats.org/drawingml/2006/main">
            <a:r>
              <a:t>Visual purpose: The annotated conceptual image shows the physical parts and their spatial relationship. Loop shape and joint quality are separate inspection targets.</a:t>
            </a:r>
          </a:p>
          <a:p xmlns:a="http://schemas.openxmlformats.org/drawingml/2006/main">
            <a:r>
              <a:t>Facilitation prompt: Which observation tests the joint rather than the loop?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visually acceptable loop proves the bond joints are strong.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ASE Flip Chip Packaging | https://ase.aseglobal.com/flip-chip-packaging/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</a:t>
            </a:r>
          </a:p>
          <a:p xmlns:a="http://schemas.openxmlformats.org/drawingml/2006/main">
            <a:r>
              <a:t>Teaching intent and transition: Show the advancing meniscus. Explain that incomplete filling can leave unsupported joints or trapped voids. Avoid claiming a universal underfill recipe.</a:t>
            </a:r>
          </a:p>
          <a:p xmlns:a="http://schemas.openxmlformats.org/drawingml/2006/main">
            <a:r>
              <a:t>Visual purpose: The annotated conceptual image shows the physical parts and their spatial relationship. Underfill occupies the die-substrate gap around the joints.</a:t>
            </a:r>
          </a:p>
          <a:p xmlns:a="http://schemas.openxmlformats.org/drawingml/2006/main">
            <a:r>
              <a:t>Facilitation prompt: What remains at risk if flow stops early?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joined bump array guarantees that the die-substrate gap filled completely.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ASE Flip Chip Packaging | https://ase.aseglobal.com/flip-chip-packaging/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The generated cutaway is conceptual. Discuss incomplete fill, wire sweep, delamination, and later cure stress as risks, without implying every process uses this exact tool.</a:t>
            </a:r>
          </a:p>
          <a:p xmlns:a="http://schemas.openxmlformats.org/drawingml/2006/main">
            <a:r>
              <a:t>Visual purpose: The annotated conceptual image shows the physical parts and their spatial relationship. The protection step also adds material and thermal history.</a:t>
            </a:r>
          </a:p>
          <a:p xmlns:a="http://schemas.openxmlformats.org/drawingml/2006/main">
            <a:r>
              <a:t>Facilitation prompt: Could protection create a new defect?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Protection steps cannot introduce defects of their own.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AI-generated conceptual illustration, 23 Sep 2026, see source-notes.md.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</a:t>
            </a:r>
          </a:p>
          <a:p xmlns:a="http://schemas.openxmlformats.org/drawingml/2006/main">
            <a:r>
              <a:t>Teaching intent and transition: Explain how assembly can cause a failure after wafer test. Expected answer: final test can detect a problem but often cannot locate the physical cause without further inspection.</a:t>
            </a:r>
          </a:p>
          <a:p xmlns:a="http://schemas.openxmlformats.org/drawingml/2006/main">
            <a:r>
              <a:t>Visual purpose: The editable route shows operation order and where state changes occur. Inspection and electrical test answer different questions.</a:t>
            </a:r>
          </a:p>
          <a:p xmlns:a="http://schemas.openxmlformats.org/drawingml/2006/main">
            <a:r>
              <a:t>Facilitation prompt: Can a failed test locate its own root cause?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17 Test Technology | https://eps.ieee.org/wp-content/uploads/2025/11/HIR_2024_ch17_Test_Technology.pdf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</a:t>
            </a:r>
          </a:p>
          <a:p xmlns:a="http://schemas.openxmlformats.org/drawingml/2006/main">
            <a:r>
              <a:t>Teaching intent and transition: Work each link explicitly. The void is an illustrative scenario; the thermal consequence depends on geometry and load. An acoustic indication is evidence of an interface feature, not proof of a performance loss.</a:t>
            </a:r>
          </a:p>
          <a:p xmlns:a="http://schemas.openxmlformats.org/drawingml/2006/main">
            <a:r>
              <a:t>Visual purpose: The chain separates a defect hypothesis from an observed result. Trace the stage, observable, possible mechanism, and next action.</a:t>
            </a:r>
          </a:p>
          <a:p xmlns:a="http://schemas.openxmlformats.org/drawingml/2006/main">
            <a:r>
              <a:t>Facilitation prompt: Which link is a hypothesis rather than an observation?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Every void has the same consequence regardless of area, position, and load.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22 Interconnects | https://eps.ieee.org/wp-content/uploads/2025/11/HIR_2024_ch22_2D-3D.pdf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Model the selection: acoustic microscopy may reveal interface discontinuity, while electrical test cannot localize it. Mention method resolution and interpretation limits.</a:t>
            </a:r>
          </a:p>
          <a:p xmlns:a="http://schemas.openxmlformats.org/drawingml/2006/main">
            <a:r>
              <a:t>Visual purpose: The editable matrix relates methods and physical observables. Internal interface, visible geometry, and electrical behavior need different observations.</a:t>
            </a:r>
          </a:p>
          <a:p xmlns:a="http://schemas.openxmlformats.org/drawingml/2006/main">
            <a:r>
              <a:t>Facilitation prompt: Which method helps with a buried attach void?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One inspection method can detect every relevant failure mechanism.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17 Test Technology | https://eps.ieee.org/wp-content/uploads/2025/11/HIR_2024_ch17_Test_Technology.pdf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</a:t>
            </a:r>
          </a:p>
          <a:p xmlns:a="http://schemas.openxmlformats.org/drawingml/2006/main">
            <a:r>
              <a:t>Teaching intent and transition: Challenge the misconception that a pass/fail bit identifies root cause. Ask for one discriminating observation for each candidate mechanism.</a:t>
            </a:r>
          </a:p>
          <a:p xmlns:a="http://schemas.openxmlformats.org/drawingml/2006/main">
            <a:r>
              <a:t>Visual purpose: The ruled comparison separates alternatives under a common question. Use location and mechanism evidence before naming the cause.</a:t>
            </a:r>
          </a:p>
          <a:p xmlns:a="http://schemas.openxmlformats.org/drawingml/2006/main">
            <a:r>
              <a:t>Facilitation prompt: What extra observation would separate these?</a:t>
            </a:r>
          </a:p>
          <a:p xmlns:a="http://schemas.openxmlformats.org/drawingml/2006/main">
            <a:r>
              <a:t>Expected response: One electrical symptom can arise from several physical faults; choose a discriminating observation.</a:t>
            </a:r>
          </a:p>
          <a:p xmlns:a="http://schemas.openxmlformats.org/drawingml/2006/main">
            <a:r>
              <a:t>Misconception to check: Wafer test or a final electrical fail identifies the exact later physical cause.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IEEE EPS HIR 2024, Ch. 17 Test Technology | https://eps.ieee.org/wp-content/uploads/2025/11/HIR_2024_ch17_Test_Technology.pdf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</a:t>
            </a:r>
          </a:p>
          <a:p xmlns:a="http://schemas.openxmlformats.org/drawingml/2006/main">
            <a:r>
              <a:t>Teaching intent and transition: Collect a map with all major stages and two gates. H2 will use it to test whether each defect can be observed at the chosen gate.</a:t>
            </a:r>
          </a:p>
          <a:p xmlns:a="http://schemas.openxmlformats.org/drawingml/2006/main">
            <a:r>
              <a:t>Visual purpose: The blank grid is the artifact students fill and save. Add two inspection gates and one plausible latent defect.</a:t>
            </a:r>
          </a:p>
          <a:p xmlns:a="http://schemas.openxmlformats.org/drawingml/2006/main">
            <a:r>
              <a:t>Facilitation prompt: Save the map for H2.</a:t>
            </a:r>
          </a:p>
          <a:p xmlns:a="http://schemas.openxmlformats.org/drawingml/2006/main">
            <a:r>
              <a:t>Expected response: Require a stage-specific answer that names the observable, method, and remaining uncertainty.</a:t>
            </a:r>
          </a:p>
          <a:p xmlns:a="http://schemas.openxmlformats.org/drawingml/2006/main">
            <a:r>
              <a:t>Misconception to check: A process label alone explains the mechanism without material state or an observable.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Instructor teaching plan, 23 Sep 2026, 2026_Teaching_Plan_and_Reading_List.md</a:t>
            </a:r>
          </a:p>
          <a:p xmlns:a="http://schemas.openxmlformats.org/drawingml/2006/main">
            <a:r>
              <a:t>Editable PowerPoint diagram authored for this lecture, 23 Sep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c9a97eb3f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454d86ac894853" /><Relationship Type="http://schemas.openxmlformats.org/officeDocument/2006/relationships/slideLayout" Target="/ppt/slideLayouts/slideLayout1.xml" Id="Rd2724912454f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724912454f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1b292fe8a456e" /><Relationship Type="http://schemas.openxmlformats.org/officeDocument/2006/relationships/image" Target="/ppt/media/image.png" Id="R0edb16b8068f4b8c" /><Relationship Type="http://schemas.openxmlformats.org/officeDocument/2006/relationships/image" Target="/ppt/media/image2.png" Id="Rb4f0da9373f04a33" /><Relationship Type="http://schemas.openxmlformats.org/officeDocument/2006/relationships/image" Target="/ppt/media/image3.png" Id="Rdbe09a2494ae4f8d" /><Relationship Type="http://schemas.openxmlformats.org/officeDocument/2006/relationships/notesSlide" Target="/ppt/notesSlides/notesSlide1.xml" Id="R069615c2188748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4418371ce4499" /><Relationship Type="http://schemas.openxmlformats.org/officeDocument/2006/relationships/image" Target="/ppt/media/image4.png" Id="R6c7e1c43c1824a82" /><Relationship Type="http://schemas.openxmlformats.org/officeDocument/2006/relationships/image" Target="/ppt/media/image5.png" Id="R14b8432d01b0446d" /><Relationship Type="http://schemas.openxmlformats.org/officeDocument/2006/relationships/notesSlide" Target="/ppt/notesSlides/notesSlide2.xml" Id="R9026981563ec40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c86a252cf4b2c" /><Relationship Type="http://schemas.openxmlformats.org/officeDocument/2006/relationships/image" Target="/ppt/media/image6.png" Id="R4be515091d974ec6" /><Relationship Type="http://schemas.openxmlformats.org/officeDocument/2006/relationships/image" Target="/ppt/media/image7.png" Id="R5878e7e4df864094" /><Relationship Type="http://schemas.openxmlformats.org/officeDocument/2006/relationships/notesSlide" Target="/ppt/notesSlides/notesSlide3.xml" Id="R57b04fe7f0374b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e29cad0754c85" /><Relationship Type="http://schemas.openxmlformats.org/officeDocument/2006/relationships/image" Target="/ppt/media/image8.png" Id="R308233a3d5b44ce9" /><Relationship Type="http://schemas.openxmlformats.org/officeDocument/2006/relationships/image" Target="/ppt/media/image9.png" Id="Rb7590ace916044c3" /><Relationship Type="http://schemas.openxmlformats.org/officeDocument/2006/relationships/notesSlide" Target="/ppt/notesSlides/notesSlide4.xml" Id="Rf830ae4a0245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4d615ccd74341" /><Relationship Type="http://schemas.openxmlformats.org/officeDocument/2006/relationships/image" Target="/ppt/media/image10.png" Id="R5a3b0dd02b3c4dc0" /><Relationship Type="http://schemas.openxmlformats.org/officeDocument/2006/relationships/image" Target="/ppt/media/image11.png" Id="Rc1d06c35e7804a81" /><Relationship Type="http://schemas.openxmlformats.org/officeDocument/2006/relationships/notesSlide" Target="/ppt/notesSlides/notesSlide5.xml" Id="R9641f9df3560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fa7a968bb4e1a" /><Relationship Type="http://schemas.openxmlformats.org/officeDocument/2006/relationships/image" Target="/ppt/media/image12.png" Id="R2dbcf9c30b9240e6" /><Relationship Type="http://schemas.openxmlformats.org/officeDocument/2006/relationships/image" Target="/ppt/media/image13.png" Id="R5b84615d341a4564" /><Relationship Type="http://schemas.openxmlformats.org/officeDocument/2006/relationships/image" Target="/ppt/media/image14.png" Id="R36b35aaacd8c475a" /><Relationship Type="http://schemas.openxmlformats.org/officeDocument/2006/relationships/notesSlide" Target="/ppt/notesSlides/notesSlide6.xml" Id="Rd071ff9ba15941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b235543184407" /><Relationship Type="http://schemas.openxmlformats.org/officeDocument/2006/relationships/image" Target="/ppt/media/image15.png" Id="R3e8b452482df4a4d" /><Relationship Type="http://schemas.openxmlformats.org/officeDocument/2006/relationships/image" Target="/ppt/media/image16.png" Id="Rce2bbd0d0c3f41b1" /><Relationship Type="http://schemas.openxmlformats.org/officeDocument/2006/relationships/image" Target="/ppt/media/image17.png" Id="R7aba67f2dc2b4f48" /><Relationship Type="http://schemas.openxmlformats.org/officeDocument/2006/relationships/notesSlide" Target="/ppt/notesSlides/notesSlide7.xml" Id="R7bfc5d76d2504c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41cd264eb4653" /><Relationship Type="http://schemas.openxmlformats.org/officeDocument/2006/relationships/image" Target="/ppt/media/image18.png" Id="Ra542de65553a42ac" /><Relationship Type="http://schemas.openxmlformats.org/officeDocument/2006/relationships/image" Target="/ppt/media/image19.png" Id="Rbe7c320d5d6f47c6" /><Relationship Type="http://schemas.openxmlformats.org/officeDocument/2006/relationships/image" Target="/ppt/media/image20.png" Id="R3ab17d36cfe748bc" /><Relationship Type="http://schemas.openxmlformats.org/officeDocument/2006/relationships/notesSlide" Target="/ppt/notesSlides/notesSlide8.xml" Id="R83a6a2508e4d4c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e88a89d104b5c" /><Relationship Type="http://schemas.openxmlformats.org/officeDocument/2006/relationships/image" Target="/ppt/media/image21.png" Id="R5e98f8bbc7264ba7" /><Relationship Type="http://schemas.openxmlformats.org/officeDocument/2006/relationships/image" Target="/ppt/media/image22.png" Id="Raa2d5a55c8e54957" /><Relationship Type="http://schemas.openxmlformats.org/officeDocument/2006/relationships/image" Target="/ppt/media/image23.png" Id="Re36b76b2e63344c1" /><Relationship Type="http://schemas.openxmlformats.org/officeDocument/2006/relationships/notesSlide" Target="/ppt/notesSlides/notesSlide9.xml" Id="R81e3676b5bc94c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4c1f730374cb7" /><Relationship Type="http://schemas.openxmlformats.org/officeDocument/2006/relationships/image" Target="/ppt/media/image24.png" Id="R932241876a604c48" /><Relationship Type="http://schemas.openxmlformats.org/officeDocument/2006/relationships/image" Target="/ppt/media/image25.png" Id="R0a5a425f7cb24346" /><Relationship Type="http://schemas.openxmlformats.org/officeDocument/2006/relationships/image" Target="/ppt/media/image26.png" Id="R2b45f1ca871f4351" /><Relationship Type="http://schemas.openxmlformats.org/officeDocument/2006/relationships/notesSlide" Target="/ppt/notesSlides/notesSlide10.xml" Id="Ra76774fb5f504b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d690f50514347" /><Relationship Type="http://schemas.openxmlformats.org/officeDocument/2006/relationships/image" Target="/ppt/media/image27.png" Id="Rdc2f1a64a4cd4e45" /><Relationship Type="http://schemas.openxmlformats.org/officeDocument/2006/relationships/image" Target="/ppt/media/image28.png" Id="R84ad3adc74db4f17" /><Relationship Type="http://schemas.openxmlformats.org/officeDocument/2006/relationships/image" Target="/ppt/media/image29.png" Id="R5470f446304a4fa6" /><Relationship Type="http://schemas.openxmlformats.org/officeDocument/2006/relationships/notesSlide" Target="/ppt/notesSlides/notesSlide11.xml" Id="R8b5663c4f6bc48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6bfac5f804b77" /><Relationship Type="http://schemas.openxmlformats.org/officeDocument/2006/relationships/image" Target="/ppt/media/image30.png" Id="Rd5a415d889e1470a" /><Relationship Type="http://schemas.openxmlformats.org/officeDocument/2006/relationships/image" Target="/ppt/media/image31.png" Id="Rff39e5f489f54722" /><Relationship Type="http://schemas.openxmlformats.org/officeDocument/2006/relationships/notesSlide" Target="/ppt/notesSlides/notesSlide12.xml" Id="R46c997ab0cdd43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d1358980e4650" /><Relationship Type="http://schemas.openxmlformats.org/officeDocument/2006/relationships/image" Target="/ppt/media/image32.png" Id="R9c7abdce855f4f5d" /><Relationship Type="http://schemas.openxmlformats.org/officeDocument/2006/relationships/image" Target="/ppt/media/image33.png" Id="Rf4050848e312496d" /><Relationship Type="http://schemas.openxmlformats.org/officeDocument/2006/relationships/notesSlide" Target="/ppt/notesSlides/notesSlide13.xml" Id="Rd3a8e5971053489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43994d046438c" /><Relationship Type="http://schemas.openxmlformats.org/officeDocument/2006/relationships/image" Target="/ppt/media/image34.png" Id="Rf8750e5dc9a14e9b" /><Relationship Type="http://schemas.openxmlformats.org/officeDocument/2006/relationships/image" Target="/ppt/media/image35.png" Id="R7c006182a31a4536" /><Relationship Type="http://schemas.openxmlformats.org/officeDocument/2006/relationships/notesSlide" Target="/ppt/notesSlides/notesSlide14.xml" Id="R1ba18299178e42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0217e9c114af9" /><Relationship Type="http://schemas.openxmlformats.org/officeDocument/2006/relationships/image" Target="/ppt/media/image36.png" Id="Rd39500ae1c264763" /><Relationship Type="http://schemas.openxmlformats.org/officeDocument/2006/relationships/image" Target="/ppt/media/image37.png" Id="Rf68cf563619a42dc" /><Relationship Type="http://schemas.openxmlformats.org/officeDocument/2006/relationships/notesSlide" Target="/ppt/notesSlides/notesSlide15.xml" Id="R46b4889b5f1c48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acd5e930644f3" /><Relationship Type="http://schemas.openxmlformats.org/officeDocument/2006/relationships/image" Target="/ppt/media/image38.png" Id="R7676a58467e54108" /><Relationship Type="http://schemas.openxmlformats.org/officeDocument/2006/relationships/image" Target="/ppt/media/image39.png" Id="R70d7e2adc32e4e28" /><Relationship Type="http://schemas.openxmlformats.org/officeDocument/2006/relationships/notesSlide" Target="/ppt/notesSlides/notesSlide16.xml" Id="R09bd3d0ad76b4a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2255E-E125-4BAE-83D4-55FD67E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2E574-7742-4A95-A72D-0406F46D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41EFD-49B2-4C09-B9D6-E1889A10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8AC46-450D-4396-93F3-6ADD9FD0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966D7-247E-444B-B411-F34DDA8C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460C5-CD38-4AB2-B832-E419D84B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TEACHING WEEK 1  /  H1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4A78A-4CE5-421D-BAAE-36F1F52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IC packaging process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6A321-4D38-49C4-9783-AA3256E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The assembly route changes a bare die into a testable package.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CF7FF-8BEF-4C75-9B3A-3826DB01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Concepts and worked route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b16b8068f4b8c"/>
          <a:stretch xmlns:a="http://schemas.openxmlformats.org/drawingml/2006/main"/>
        </p:blipFill>
        <p:spPr>
          <a:xfrm xmlns:a="http://schemas.openxmlformats.org/drawingml/2006/main">
            <a:off x="5334000" y="1744821"/>
            <a:ext cx="6238875" cy="3511233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0da9373f04a33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09a2494ae4f8d"/>
          <a:stretch xmlns:a="http://schemas.openxmlformats.org/drawingml/2006/main"/>
        </p:blipFill>
        <p:spPr>
          <a:xfrm xmlns:a="http://schemas.openxmlformats.org/drawingml/2006/main">
            <a:off x="1457325" y="6305636"/>
            <a:ext cx="1524000" cy="4189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669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6DD41-4D59-4D39-B711-76FB187F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7FD8B-91DE-4F7F-9ADC-ADBDD1A5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3AB86-FE55-4C65-B947-86AD092E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9D3DF-2B43-40AC-91BC-D2154334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A18F4-F649-4382-9348-B65FDF9F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2ECC1-50AB-4B20-9E1E-4B81C31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evidence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E4CA5-5619-46C7-BFFC-50A654DB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One annotated process map is the output for today.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6CF15-F591-4C6C-B601-268337C3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D5F40-86F0-48C3-8FA3-3DCAC763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CB3A3-D01B-4D99-A64C-D55EC7F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7DBD2-377F-4EE5-A758-2A080173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64D73-2FF0-4889-B27D-351A04C2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AA161-BC11-405D-9C61-6284E6F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705F9-CFA5-44EA-B088-59F978AA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19596-C543-4866-96D3-05B34AB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201DD-318E-47F2-B2F5-365C64CF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5C097-2B48-46AC-8642-202F2038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859B48-60E1-4E32-9B5D-66A74BE0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48E1E-77CF-4C28-B1A4-552ABF0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926FF-C566-4436-BB3C-E00BF98D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1AAB3-60B4-4434-80C3-720F9DF0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makes a process map useful for diagnosis?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e1c43c1824a82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8432d01b0446d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68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F3912-8D52-42C0-8109-8B0CDF0A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0A90C-1D10-4EC9-B881-E2476123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E38BA-6103-4A5D-BF0B-DF02249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C53C3-B7C0-46E0-8584-6CF4ADC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7B586-1B78-4C7F-AE2D-2F758594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ACEB3-B280-4421-A062-1717D18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 known-good die can fail later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2B68C-4873-418C-BA4C-746A6E3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Wafer test does not include assembly stress.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CCA9C-DBA3-4A89-9147-155A3BC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B3A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DF140-47DA-4C86-813B-0559341A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25" y="27908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3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3E242C-5224-49F2-9AEB-5758BF1E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825" y="27908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76C08-83D9-4734-BDB0-063262F9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365" y="3743325"/>
            <a:ext cx="282702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wafer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39FB8-E94C-4D22-A22A-B3404875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908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23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B6EDB-C868-4026-B74D-2866C53D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908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8A8F3-0617-4337-A382-A0EFF23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4865" y="3743325"/>
            <a:ext cx="282702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assembly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E92E1-7FF3-4BD5-9AF2-B90F232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5" y="27908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26ED3-FD25-4BF4-8537-9B20B25E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825" y="2790825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B6E00-8707-4354-9553-CAC48CAA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365" y="3743325"/>
            <a:ext cx="282702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final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A3315-A4F1-4A5E-867F-15D856D7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Mark one possible failure stage before the answer.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515091d974ec6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8e7e4df864094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81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6CE7B-D3A6-45A8-AC84-CADF14B2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91576-1726-4B75-9549-B0CFB9B5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53F0C-1BEA-4A4F-A631-058EAAF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6886C-4BC3-45D9-AE0F-FF915AE5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147C9-2E36-4883-96D6-EBF239C1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3CAE3-175C-4915-ACE3-818A6D6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Package interfaces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510B3-9531-4209-BDA6-E000C47F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The die connects to the board through two interconnect levels.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12257-8E96-487E-BED6-461A91A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DCB75-F1EA-49E4-868B-932537F5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003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silicon die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DC713-1ECC-43D8-9E8B-B697B1DC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B5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E8B4C-CF0F-4673-964B-A01B0EEA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670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first-level 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521B1-E7BF-471C-9179-2B60942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052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6EE76-E562-4555-96BC-09842CEE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337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substrate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FB9D0-A21F-40DD-B759-42ADF04A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71925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A133B-1845-446E-AB49-BDF2D69C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005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second-level join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45294-4518-4484-8FA2-4CB2F740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51759-0406-462C-BA9B-66B5B2D4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6722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DF5BA-639E-4F44-BF29-EA20152B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Trace one signal path aloud.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233a3d5b44ce9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90ace916044c3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97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B214F-FEE7-4951-B62C-FBB24E30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8F3F3-6E72-4B37-8510-DCD19C05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8A4C7-972F-4B8D-B8AF-01260C70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459A8-BFE1-45A8-95A1-9C6CBCFA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DDC40-BB76-4C3C-915B-EEC3D410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E23E4-7C68-489D-97BB-2FBA9816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 process map records state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6BEC5-6137-41D8-AC72-33D3C74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Each operation changes geometry, material, or connectivity.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64011-2274-48C8-B835-69AB4D9D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3AAC2-8B6F-4BB6-81C6-196ECFF3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13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A7DEF-3E84-4144-BAE0-419E569C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13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7379A-1A87-438B-92A6-C5F58E5F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069" y="4029075"/>
            <a:ext cx="16144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wafer prep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CFF39-8719-413C-A9A7-C77DF782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E9574-FA21-4224-9A01-03A54F54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3E456-5219-4951-94C1-D54C2D71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944" y="4029075"/>
            <a:ext cx="16144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singulation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E1745-FA6D-47C4-A909-41B474E7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463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8471B-348D-4A04-9B58-265196D8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463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66335-3DEB-4441-B3BE-1AEB748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819" y="4029075"/>
            <a:ext cx="16144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die attach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F333D-7570-459A-8775-6E3DAEAD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338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6601A-CA4D-4E1D-BD58-08D2FC4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338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A3970-8241-407E-8D88-5457411C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694" y="4029075"/>
            <a:ext cx="16144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interconnect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88AC5-D291-4629-B4BC-D9B5B668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C32EF-16D5-4808-9870-946E86E5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F621F-6E43-4EE3-9DAD-169E87D3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569" y="4029075"/>
            <a:ext cx="16144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88E03-253E-4AF5-BCA2-82BEBA15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088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64E30-F9CE-48C7-8040-56353CF2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088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2706C8-865C-4BEC-8B17-BFA68F45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3444" y="4029075"/>
            <a:ext cx="16144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final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B858A-777D-4300-8822-7FCF8E59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boxes change connectivity?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b0dd02b3c4dc0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06c35e7804a81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22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7D111-6D2A-4AE5-9172-B7A28566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66EFF-20A7-4F26-988A-BE02E268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636D0-163B-4C7C-A52C-EC768C2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C882D-B646-4F16-BB01-A638C8D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285C6-17B9-429A-B35B-DCBD28F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48AEC-F030-4B8E-83F9-1A8F6395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Singulation separates the dies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DF58E-F55D-48FC-ABEA-A4EA260C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Dicing makes individual dies while they remain supported on tape.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cf9c30b9240e6"/>
          <a:stretch xmlns:a="http://schemas.openxmlformats.org/drawingml/2006/main"/>
        </p:blipFill>
        <p:spPr>
          <a:xfrm xmlns:a="http://schemas.openxmlformats.org/drawingml/2006/main">
            <a:off x="1078496" y="219075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1A51E-3A94-4F26-843E-7BF6ADBF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7D18CA-5AD6-4850-8A4E-4111029F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wafer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9EBA1-1FC2-4C5F-8E3E-A37A740B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F0791-50E7-4102-8508-DC316E93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saw street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377A1-86BA-4B98-A721-1948AA3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5B03B-24E7-4CFD-8C02-0A44E377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dicing tape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AD1BA-D51A-45FB-9AC5-DBCC19B0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Why inspect before die attach?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4615d341a4564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35aaacd8c475a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7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89D11-D54A-418C-BB75-1576D5D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8E7F5-7BBA-48C9-97F1-D3BA56A9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74B89-F992-4685-B2A2-469A5310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DA8A5-0899-4498-A6A3-5408FB8A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23F43-A00C-467E-925C-CE9B0A9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E95FF-DF15-41E5-A2FD-9C0A2FC2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Die attach creates an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4BE5A-107D-4EE0-A3FF-5BE7B544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The attach layer carries heat and mechanical load.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b452482df4a4d"/>
          <a:stretch xmlns:a="http://schemas.openxmlformats.org/drawingml/2006/main"/>
        </p:blipFill>
        <p:spPr>
          <a:xfrm xmlns:a="http://schemas.openxmlformats.org/drawingml/2006/main">
            <a:off x="1078496" y="219075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D4735-CA7B-4B30-AA36-EBEF7A0E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F2ABA-12D1-495C-90BF-F8FFBF9A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silicon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B81A5-2FE2-4BAF-BFBF-FF9D66A6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45EAF-5365-466B-85F4-B6A8CC6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attach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805EE-DF9F-40D4-9918-ED14CB65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49D82-070F-4B5F-A796-22DE568C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void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A1691-4D82-467B-A3AF-1D755EE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3118D-EAB3-4AC9-A5EF-6E0030EC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CCF42-4F51-4B6C-A869-98C9F840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could detect a buried void?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bbd0d0c3f41b1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a67f2dc2b4f48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08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CD6F4-A6D4-4B20-B362-1D468F79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E7951-4A44-4AFD-883F-AFF4F7FB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3752A-2A3F-4C79-AE69-B5647D8A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B4AFB-9D86-4FB3-9373-36FDDEF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3AEDC-57F0-42D3-95D1-D527EFB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DF231-DF8F-41D0-99E7-CB001A65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The first join has two routes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331D5-CB27-4E1A-B61B-B3A85C09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Wire bonds connect edge pads; flip-chip bumps connect a face-down die.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2de65553a42ac"/>
          <a:stretch xmlns:a="http://schemas.openxmlformats.org/drawingml/2006/main"/>
        </p:blipFill>
        <p:spPr>
          <a:xfrm xmlns:a="http://schemas.openxmlformats.org/drawingml/2006/main">
            <a:off x="571500" y="2491150"/>
            <a:ext cx="7191375" cy="28758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503C9-B9A1-41EB-913F-C5D219B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DB526-E206-4F25-8339-717F533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wire bond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850BE-F73F-4477-9381-6CB4069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8C72C-E15E-4CF2-BB8B-E44490D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flip chip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423B8-F168-4668-B5F4-A5CD9CD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Where is the first-level connection in each?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c320d5d6f47c6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17d36cfe748bc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13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7D8FFB-D1F0-4ED2-8820-124BF1C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91ADB-EF93-4216-9F53-92D98624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17D8-593E-46BC-9058-B127F3E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779FA-ADD9-4E06-8799-79AEC43C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58753-C363-4978-AA2A-6E7F7F8D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E2FED-7370-47BC-AC1E-3798C6B4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Wire bonding has two joints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F7EAA-10A9-46E2-BD2A-81877636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bond wire must make sound connections at both ends.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8f8bbc7264ba7"/>
          <a:stretch xmlns:a="http://schemas.openxmlformats.org/drawingml/2006/main"/>
        </p:blipFill>
        <p:spPr>
          <a:xfrm xmlns:a="http://schemas.openxmlformats.org/drawingml/2006/main">
            <a:off x="1078496" y="219075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D99D8-3583-44B1-84CA-98E47D08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03AE2-A74C-4838-B4D3-431E38DA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first bond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6A264-7298-4A72-AB67-867C7DE0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1F088-7D03-428D-8763-AFEDE62B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99AEE-10ED-44FA-9A18-D435D821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03AF7-34D5-4DF3-8EB2-E474A3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second 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A20E3-6F91-4250-9412-5358AE90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observation tests the joint rather than the loop?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d5a55c8e54957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b76b2e63344c1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4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A8330-E0F5-4F60-94E5-2DAE547D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AC11D-3AA9-4ECD-83F6-9D1EEDB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EE0B-CE3C-4CA0-85AA-0BC5BB32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9ADBE-CC79-4263-8EE0-6E552470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14A31-7C43-40FD-AE0F-CCDD6CB2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46ACC-3D5D-430B-A26A-125F40B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Flip-chip assembly fills the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6FEA4-B2CE-46C8-A001-69350285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Aligned bumps join the die to the substrate before underfill.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241876a604c48"/>
          <a:stretch xmlns:a="http://schemas.openxmlformats.org/drawingml/2006/main"/>
        </p:blipFill>
        <p:spPr>
          <a:xfrm xmlns:a="http://schemas.openxmlformats.org/drawingml/2006/main">
            <a:off x="1078496" y="219075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18DF2-46D7-4FF9-A60E-9CFF7AF2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FFAA8-9461-41EB-AF07-BAA53064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5AFA1-9219-4985-A33E-8574E01C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A8170-03E7-4866-B391-90FB1FE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bump array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5C223-D445-489A-A27B-8BEEDE87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00018-956C-4B36-A7F5-9B7D657C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underfill front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5DFFC-A376-4D06-9CA1-F931852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B8033-E059-43E5-9AC3-CF944769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8D86B-EDFB-404E-B208-736DE8F6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remains at risk if flow stops early?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a425f7cb24346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5f1ca871f4351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419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B215A-641F-45EC-954F-7B9BA8B2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4D42D-4629-483C-A8A7-FA7856E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ED4FE-D299-439C-9131-52D48DF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B3064-F51F-42F5-B40B-83EE9335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DF799-9B49-4A20-AA45-64818D07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744D5-474A-47D7-84D5-37B08462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Molding protects the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C11F8-9EF4-44EA-9BE0-B8ED2D7E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Encapsulation covers the die and first-level connections.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f1a64a4cd4e45"/>
          <a:stretch xmlns:a="http://schemas.openxmlformats.org/drawingml/2006/main"/>
        </p:blipFill>
        <p:spPr>
          <a:xfrm xmlns:a="http://schemas.openxmlformats.org/drawingml/2006/main">
            <a:off x="1078496" y="219075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5DFD3-6F55-4A59-8E84-D4D3581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A9F3D-8172-458D-BAFB-E6AEAF4D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mold cavity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A151A-2250-4BAF-9CB3-DC2D6978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527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EF9562-6E00-4C64-A171-CFB64C9D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compound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C15A-4751-46D9-AAE2-2A4076C6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9387B-0EA9-4790-8A57-FC5169C3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wires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ABC67C-95C3-41D7-B7C9-B1DCF67E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910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00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7E6D5-AB7E-4F7D-8777-3BE44B8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substrate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DBFC0-3ABA-4B48-885A-D4222E7E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Could protection create a new defect?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d3adc74db4f17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0f446304a4fa6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448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74FA1-29E8-4C72-A5EA-EA3B6CC3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4B93F-0CA5-4578-8CD5-14086818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719DC-04CA-4537-8E64-DDB1791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9CC38-FB5C-4464-936C-CB6805E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95577-253B-48A4-B8CA-8BB3D44C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F6E9B-020A-4CA0-A150-B7AFD731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Test follows assembly stress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BAEAF-120A-4BAB-B718-A9F15B2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Final test checks electrical function after the package is built.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BB0DA-DDBA-4535-8E53-10AF9F16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10429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46EBA-967D-48F4-B763-ADB5803D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1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D990B-9828-4929-95EA-5355880E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181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EAC17-B8A7-4BC7-9655-97C076D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16" y="4029075"/>
            <a:ext cx="242173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inspect 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7DA67-C02E-48B0-A536-60E709E1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94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97736-C4A3-49D3-9E7E-8B99F4A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994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647C6-9154-4936-B470-D673F29F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728" y="4029075"/>
            <a:ext cx="242173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test continuity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EFD2E-D59A-4458-9759-03CFA676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806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23149-74CC-415F-AF0F-EB2BC4F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806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49E45-44A9-4A35-AAF2-42A41E32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541" y="4029075"/>
            <a:ext cx="242173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test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9C9AC-163B-4853-86FC-EFFCAE02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619" y="3438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DD234-1751-46AB-9328-F22099F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619" y="34385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60441-1E80-46DA-BC57-EBD0B4D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353" y="4029075"/>
            <a:ext cx="2421731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record disposition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0D06F-7254-4A84-AA5C-C2364271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Can a failed test locate its own root cause?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415d889e1470a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9e5f489f54722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857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5EA27-0F14-485C-90D8-E6BBFC8B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C8EBE-8A5F-4D85-BCD6-55A049C6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D916B-EBAC-4608-A25D-24EC682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FEDC0B-144D-4B2D-8F31-CA57C71A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E8079-4490-455C-8FBD-230D170F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0E28D-4FF7-42E7-ACF0-5AD3C932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Worked route: attach void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E5AD3-61E7-422E-B4CF-209BD14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 void introduced at die attach may remain latent until later.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55A6E-FA14-4156-8197-2A96BD8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0A1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311F2-1A88-4438-A469-4F1FB0BD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E6CB7-F351-4E75-9ECB-AD55BB57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6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C84AE-0D18-45EA-8940-53643B9D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die attach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A21E0A-7A34-4F8B-9543-C600FA8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028C5-58F0-44C4-9ED4-6F9CCAE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784CD-CD91-4530-99F0-A00461D2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local void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9A6D1-065E-4F61-BB4A-734C6712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C4BF3-9163-4B3A-97CF-4E3FB665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13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94706-B34C-427C-B593-496DC4F3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acoustic indication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554EBE-B8EF-42AF-B9F6-56609AA8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6C332-321A-4977-9FE4-E5AC5145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3718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6724D-70C2-4D65-83B2-0ACB7DFB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019550"/>
            <a:ext cx="2409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possible heat-path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72654-A93B-40D7-BCD3-2DAA5AC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D9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D91"/>
                </a:solidFill>
                <a:latin typeface="Arial"/>
                <a:ea typeface="Arial"/>
                <a:cs typeface="Arial"/>
              </a:rPr>
              <a:t>PROCESS STAGE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80C78-98E0-4ACC-AD75-6BFFEEF2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078F1-3A5E-4F4C-839B-9A17D6A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link is a hypothesis rather than an observation?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abdce855f4f5d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50848e312496d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632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A3D0EE-4A07-4CC4-8F11-6D81263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856CA-C953-4EBA-8BAC-965FC859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9B31D-DCA6-41EF-9231-3405F007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9C982-E573-4585-B0C2-D58EC2C2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CAE85-A336-4BA3-9F8F-6B3A1AC7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FEA17-49DB-44B1-9E1D-E76C0293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Inspection follows 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6855E-A67B-49BF-BD17-51C86A8D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Choose a method for the defect you suspect.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188EB-71AF-4609-87BE-8BC652AD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58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2415E-D3CC-45CC-A7D1-23FF6E89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33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suspected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BBD9F-596E-4271-8B92-B4B5005C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571750"/>
            <a:ext cx="358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3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EFDD5-3B8E-4FD3-83B0-7C5B8911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38425"/>
            <a:ext cx="33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observation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2836A-FE1A-4356-8834-AF8C429D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571750"/>
            <a:ext cx="3587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8D670-BAE4-4263-98BD-16132E9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2638425"/>
            <a:ext cx="339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blind spot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E1F22-E761-41E5-B9DD-23EC77FB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131DB-E12E-4EFA-9FC3-A30D235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1908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429C5-FD77-441D-A619-FE1453D6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1908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B5B5E-9685-4DC1-B20D-CC1E29DF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0F047-4663-4CAB-A8B8-E470128C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38766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7356A-52D4-47C6-91EB-3C069F47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8766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60D08-BD08-43C9-8D0C-03FDB37E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F23D3-8011-41E7-A46C-2C88EA22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45624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8BC77-2A9B-4A07-8144-141AC8B0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4562475"/>
            <a:ext cx="358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0B08D3-E468-45E3-B3A2-C4761E1B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099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attach void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33115-DB28-41E2-9C1B-B8795A5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32099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acoustic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C30EC-8117-4E33-989F-6369221D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32099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size / significance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F40A5-F375-4152-8799-C8A21F7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957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wire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FAF42-95BA-4C1A-8569-FAF28AAE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38957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optical 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AEB0C-84BD-4EBD-BCD5-B5D6598C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38957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bond strength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86B05-FDED-487D-95B8-3A223B9E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815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open circuit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2E1B2C-A327-46A9-BEC0-DB59507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45815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continuity 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E23BF1-59B7-416B-88DC-855F4E4D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025" y="4581525"/>
            <a:ext cx="3416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physical location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CB2FC-5BB3-4B77-87C3-79834D5B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Which method helps with a buried attach void?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50e5dc9a14e9b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06182a31a4536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000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D5504-81D3-4DCA-AA31-EDAF18B8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49C8-B09D-4757-A594-5356484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BD903-FA64-4ECD-ABD9-633CAE4F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A4C93-C035-47F7-901A-4686DE6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DFF4-8A02-466C-8873-A8217852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8E83B-F250-4CB1-9A22-2D350E40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A final fail is not a diagnosis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2F713-B0AF-436E-A904-2EBB0AF8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The same electrical fail can follow different process faults.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BAD2D-1717-4C33-9CEB-7651B4EB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F5F33-EDE0-49E9-B067-7C40AC1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62250"/>
            <a:ext cx="327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bond open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7D588-9ED8-4C60-A431-529CF6A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86250"/>
            <a:ext cx="317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B38BA-CFB1-4A37-900F-340FF243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A14A-DD4C-4CD3-B60F-BF4BC5F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2762250"/>
            <a:ext cx="327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joint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A2A28-7437-4C8B-A3EF-5B766FF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9925" y="4286250"/>
            <a:ext cx="317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AA3B3-B04E-4A83-B200-60395A51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625" y="2619375"/>
            <a:ext cx="666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8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E2333-344D-4E58-85F6-72CF59B2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2762250"/>
            <a:ext cx="3270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die damage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40D48-CD73-4A64-85FC-55C2C170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4286250"/>
            <a:ext cx="317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0EB1A3-EB6D-4B71-B812-ED383C75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What extra observation would separate these?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500ae1c264763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cf563619a42dc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31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CA1AC-31BE-44ED-870E-7D68A1BF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0A1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C7E15-196B-4E51-B456-E2BAA063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NCKU  /  DIGITAL TWIN AND IC PACKAGING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321C4-D23F-4E21-BB61-1BDF9F1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30 SEP 2026   H1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6E182-62BB-4800-B215-71DD03DA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8AEB9-EDE8-468C-AB3F-D005D4F1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436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004AA-2E72-4091-BDE6-E62FF8C5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H1 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6D030-A797-48D9-B51B-25E676B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21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2124"/>
                </a:solidFill>
                <a:latin typeface="Arial"/>
                <a:ea typeface="Arial"/>
                <a:cs typeface="Arial"/>
              </a:rPr>
              <a:t>Complete the route from die preparation to final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62639-36A4-4542-979E-9E7AB06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7B36C-573D-4B06-BCF7-C3833F82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ADE93-75B7-4594-B230-6BF7587F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material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B3359-704A-4664-80FD-5D5F3BEB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C3612-81E1-4363-8468-1EC5954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defect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302EA-3E2F-4173-B074-43CB09A2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F128E-087B-46EC-85FC-1E52F34C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438" y="2714625"/>
            <a:ext cx="2538413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33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EC553-D007-4597-B760-6F9034DA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3238500"/>
            <a:ext cx="2690813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3894F-318F-4B4B-9C40-BD3B1141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B4B89-3D96-44F2-B401-A58FCAD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B3A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19F97-2924-4A88-A65D-BBA62340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29275"/>
            <a:ext cx="11001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20A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0A15"/>
                </a:solidFill>
                <a:latin typeface="Arial"/>
                <a:ea typeface="Arial"/>
                <a:cs typeface="Arial"/>
              </a:rPr>
              <a:t>Save the map for H2.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6a58467e54108"/>
          <a:stretch xmlns:a="http://schemas.openxmlformats.org/drawingml/2006/main"/>
        </p:blipFill>
        <p:spPr>
          <a:xfrm xmlns:a="http://schemas.openxmlformats.org/drawingml/2006/main">
            <a:off x="562144" y="6286500"/>
            <a:ext cx="704512" cy="4762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7e2adc32e4e28"/>
          <a:stretch xmlns:a="http://schemas.openxmlformats.org/drawingml/2006/main"/>
        </p:blipFill>
        <p:spPr>
          <a:xfrm xmlns:a="http://schemas.openxmlformats.org/drawingml/2006/main">
            <a:off x="1457325" y="6378841"/>
            <a:ext cx="1571625" cy="2915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84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2026-09-23T09:22:38.7560000Z</dcterms:created>
  <dcterms:modified xsi:type="dcterms:W3CDTF">2026-09-23T09:22:38.7560000Z</dcterms:modified>
</coreProperties>
</file>