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00e62a18244f9d" /><Relationship Type="http://schemas.openxmlformats.org/officeDocument/2006/relationships/extended-properties" Target="/docProps/app.xml" Id="R4befecc00d784e16" /><Relationship Type="http://schemas.openxmlformats.org/officeDocument/2006/relationships/officeDocument" Target="/ppt/presentation.xml" Id="Rb561f6d7ca3a482f" /></Relationships>
</file>

<file path=ppt/presentation.xml><?xml version="1.0" encoding="utf-8"?>
<p:presentation xmlns:p="http://schemas.openxmlformats.org/presentationml/2006/main">
  <p:sldMasterIdLst>
    <p:sldMasterId xmlns:r="http://schemas.openxmlformats.org/officeDocument/2006/relationships" id="2147483648" r:id="R5c7c63c658944706"/>
  </p:sldMasterIdLst>
  <p:notesMasterIdLst>
    <p:notesMasterId xmlns:r="http://schemas.openxmlformats.org/officeDocument/2006/relationships" r:id="R53c0bacae0be4587"/>
  </p:notesMasterIdLst>
  <p:sldIdLst>
    <p:sldId xmlns:r="http://schemas.openxmlformats.org/officeDocument/2006/relationships" id="256" r:id="R5979fa4ff51c4363"/>
    <p:sldId xmlns:r="http://schemas.openxmlformats.org/officeDocument/2006/relationships" id="257" r:id="Ra3f2d55fa3964ed1"/>
    <p:sldId xmlns:r="http://schemas.openxmlformats.org/officeDocument/2006/relationships" id="258" r:id="R42b8494f299644e8"/>
    <p:sldId xmlns:r="http://schemas.openxmlformats.org/officeDocument/2006/relationships" id="259" r:id="Ree306069af6440fd"/>
    <p:sldId xmlns:r="http://schemas.openxmlformats.org/officeDocument/2006/relationships" id="260" r:id="R1922430196dc41cb"/>
    <p:sldId xmlns:r="http://schemas.openxmlformats.org/officeDocument/2006/relationships" id="261" r:id="Rb2fd177ed0724899"/>
    <p:sldId xmlns:r="http://schemas.openxmlformats.org/officeDocument/2006/relationships" id="262" r:id="Ref8f372ed81c48b2"/>
    <p:sldId xmlns:r="http://schemas.openxmlformats.org/officeDocument/2006/relationships" id="263" r:id="R6401743be1ea418e"/>
    <p:sldId xmlns:r="http://schemas.openxmlformats.org/officeDocument/2006/relationships" id="264" r:id="R982ca6e5c25b4500"/>
    <p:sldId xmlns:r="http://schemas.openxmlformats.org/officeDocument/2006/relationships" id="265" r:id="R3b90369ada9c4e71"/>
    <p:sldId xmlns:r="http://schemas.openxmlformats.org/officeDocument/2006/relationships" id="266" r:id="Ra26fec974e784f0b"/>
    <p:sldId xmlns:r="http://schemas.openxmlformats.org/officeDocument/2006/relationships" id="267" r:id="Rc38c8c25b38d41da"/>
    <p:sldId xmlns:r="http://schemas.openxmlformats.org/officeDocument/2006/relationships" id="268" r:id="R3aeb632e78e24f0a"/>
    <p:sldId xmlns:r="http://schemas.openxmlformats.org/officeDocument/2006/relationships" id="269" r:id="R496b96fc034b4d61"/>
    <p:sldId xmlns:r="http://schemas.openxmlformats.org/officeDocument/2006/relationships" id="270" r:id="R5875611f30004fb9"/>
    <p:sldId xmlns:r="http://schemas.openxmlformats.org/officeDocument/2006/relationships" id="271" r:id="R99efb8b53fe848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f7cad1df2346cf" /><Relationship Type="http://schemas.openxmlformats.org/officeDocument/2006/relationships/slideMaster" Target="/ppt/slideMasters/slideMaster1.xml" Id="R5c7c63c658944706" /><Relationship Type="http://schemas.openxmlformats.org/officeDocument/2006/relationships/notesMaster" Target="/ppt/notesMasters/notesMaster1.xml" Id="R53c0bacae0be4587" /><Relationship Type="http://schemas.openxmlformats.org/officeDocument/2006/relationships/presProps" Target="/ppt/presProps.xml" Id="R365e8e0963444934" /><Relationship Type="http://schemas.openxmlformats.org/officeDocument/2006/relationships/tableStyles" Target="/ppt/tableStyles.xml" Id="Rae728b06e3884264" /><Relationship Type="http://schemas.openxmlformats.org/officeDocument/2006/relationships/slide" Target="/ppt/slides/slide1.xml" Id="R5979fa4ff51c4363" /><Relationship Type="http://schemas.openxmlformats.org/officeDocument/2006/relationships/slide" Target="/ppt/slides/slide2.xml" Id="Ra3f2d55fa3964ed1" /><Relationship Type="http://schemas.openxmlformats.org/officeDocument/2006/relationships/slide" Target="/ppt/slides/slide3.xml" Id="R42b8494f299644e8" /><Relationship Type="http://schemas.openxmlformats.org/officeDocument/2006/relationships/slide" Target="/ppt/slides/slide4.xml" Id="Ree306069af6440fd" /><Relationship Type="http://schemas.openxmlformats.org/officeDocument/2006/relationships/slide" Target="/ppt/slides/slide5.xml" Id="R1922430196dc41cb" /><Relationship Type="http://schemas.openxmlformats.org/officeDocument/2006/relationships/slide" Target="/ppt/slides/slide6.xml" Id="Rb2fd177ed0724899" /><Relationship Type="http://schemas.openxmlformats.org/officeDocument/2006/relationships/slide" Target="/ppt/slides/slide7.xml" Id="Ref8f372ed81c48b2" /><Relationship Type="http://schemas.openxmlformats.org/officeDocument/2006/relationships/slide" Target="/ppt/slides/slide8.xml" Id="R6401743be1ea418e" /><Relationship Type="http://schemas.openxmlformats.org/officeDocument/2006/relationships/slide" Target="/ppt/slides/slide9.xml" Id="R982ca6e5c25b4500" /><Relationship Type="http://schemas.openxmlformats.org/officeDocument/2006/relationships/slide" Target="/ppt/slides/slide10.xml" Id="R3b90369ada9c4e71" /><Relationship Type="http://schemas.openxmlformats.org/officeDocument/2006/relationships/slide" Target="/ppt/slides/slide11.xml" Id="Ra26fec974e784f0b" /><Relationship Type="http://schemas.openxmlformats.org/officeDocument/2006/relationships/slide" Target="/ppt/slides/slide12.xml" Id="Rc38c8c25b38d41da" /><Relationship Type="http://schemas.openxmlformats.org/officeDocument/2006/relationships/slide" Target="/ppt/slides/slide13.xml" Id="R3aeb632e78e24f0a" /><Relationship Type="http://schemas.openxmlformats.org/officeDocument/2006/relationships/slide" Target="/ppt/slides/slide14.xml" Id="R496b96fc034b4d61" /><Relationship Type="http://schemas.openxmlformats.org/officeDocument/2006/relationships/slide" Target="/ppt/slides/slide15.xml" Id="R5875611f30004fb9" /><Relationship Type="http://schemas.openxmlformats.org/officeDocument/2006/relationships/slide" Target="/ppt/slides/slide16.xml" Id="R99efb8b53fe848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4086057af347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05f7a46e60420b" /><Relationship Type="http://schemas.openxmlformats.org/officeDocument/2006/relationships/notesMaster" Target="/ppt/notesMasters/notesMaster1.xml" Id="Re4d622060dbf4b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14a779a1134fee" /><Relationship Type="http://schemas.openxmlformats.org/officeDocument/2006/relationships/notesMaster" Target="/ppt/notesMasters/notesMaster1.xml" Id="Raf9d3762d02d4e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eb543c06f849a4" /><Relationship Type="http://schemas.openxmlformats.org/officeDocument/2006/relationships/notesMaster" Target="/ppt/notesMasters/notesMaster1.xml" Id="R1d333be9f6b04a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2938cad6bf4472" /><Relationship Type="http://schemas.openxmlformats.org/officeDocument/2006/relationships/notesMaster" Target="/ppt/notesMasters/notesMaster1.xml" Id="Rd2286bf4778449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7e3efef49d484b" /><Relationship Type="http://schemas.openxmlformats.org/officeDocument/2006/relationships/notesMaster" Target="/ppt/notesMasters/notesMaster1.xml" Id="R9e9d5a083f384b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a1575b2132482d" /><Relationship Type="http://schemas.openxmlformats.org/officeDocument/2006/relationships/notesMaster" Target="/ppt/notesMasters/notesMaster1.xml" Id="Re5f4e56785bb49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7c4c7783e348f8" /><Relationship Type="http://schemas.openxmlformats.org/officeDocument/2006/relationships/notesMaster" Target="/ppt/notesMasters/notesMaster1.xml" Id="R06cdd4f3583a45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4121fb5a6f4bb0" /><Relationship Type="http://schemas.openxmlformats.org/officeDocument/2006/relationships/notesMaster" Target="/ppt/notesMasters/notesMaster1.xml" Id="Raf5025d5176b48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1c200c0eec43ec" /><Relationship Type="http://schemas.openxmlformats.org/officeDocument/2006/relationships/notesMaster" Target="/ppt/notesMasters/notesMaster1.xml" Id="R86ccd9e4cdf54c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1a6059b4d84b67" /><Relationship Type="http://schemas.openxmlformats.org/officeDocument/2006/relationships/notesMaster" Target="/ppt/notesMasters/notesMaster1.xml" Id="R26034042ce134c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b75af7ff9f4554" /><Relationship Type="http://schemas.openxmlformats.org/officeDocument/2006/relationships/notesMaster" Target="/ppt/notesMasters/notesMaster1.xml" Id="Ra6f83a0f2e624e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7d5aaa987b4e64" /><Relationship Type="http://schemas.openxmlformats.org/officeDocument/2006/relationships/notesMaster" Target="/ppt/notesMasters/notesMaster1.xml" Id="R169b11c13fc049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55814df0304161" /><Relationship Type="http://schemas.openxmlformats.org/officeDocument/2006/relationships/notesMaster" Target="/ppt/notesMasters/notesMaster1.xml" Id="Rd54fa41f9dcb44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842b8281d04008" /><Relationship Type="http://schemas.openxmlformats.org/officeDocument/2006/relationships/notesMaster" Target="/ppt/notesMasters/notesMaster1.xml" Id="R3b43464163ea44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43a58dca6548cf" /><Relationship Type="http://schemas.openxmlformats.org/officeDocument/2006/relationships/notesMaster" Target="/ppt/notesMasters/notesMaster1.xml" Id="Rbd13cbb680fb4e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8e08e4f5104f90" /><Relationship Type="http://schemas.openxmlformats.org/officeDocument/2006/relationships/notesMaster" Target="/ppt/notesMasters/notesMaster1.xml" Id="Rb37af68f4f3642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a:t>
            </a:r>
          </a:p>
          <a:p xmlns:a="http://schemas.openxmlformats.org/drawingml/2006/main">
            <a:r>
              <a:t>Teaching intent and transition: Restore the H1 map. The conceptual image shows one possible interconnect failure; it is not a measured micrograph.</a:t>
            </a:r>
          </a:p>
          <a:p xmlns:a="http://schemas.openxmlformats.org/drawingml/2006/main">
            <a:r>
              <a:t>Visual purpose: The illustration establishes the physical object or engineering problem for this hour. The task is to defend an observation, not merely name a defect.</a:t>
            </a:r>
          </a:p>
          <a:p xmlns:a="http://schemas.openxmlformats.org/drawingml/2006/main">
            <a:r>
              <a:t>Facilitation prompt: Which gate would you add first?</a:t>
            </a:r>
          </a:p>
          <a:p xmlns:a="http://schemas.openxmlformats.org/drawingml/2006/main">
            <a:r>
              <a:t>Expected response: Require a stage-specific answer that names the observable, method, and remaining uncertainty.</a:t>
            </a:r>
          </a:p>
          <a:p xmlns:a="http://schemas.openxmlformats.org/drawingml/2006/main">
            <a:r>
              <a:t>Misconception to check: One inspection method can detect every relevant failure mechanism.</a:t>
            </a:r>
          </a:p>
          <a:p xmlns:a="http://schemas.openxmlformats.org/drawingml/2006/main">
            <a:r>
              <a:t>[Sources]</a:t>
            </a:r>
          </a:p>
          <a:p xmlns:a="http://schemas.openxmlformats.org/drawingml/2006/main">
            <a:r>
              <a:t>Instructor teaching plan, 23 Sep 2026, 2026_Teaching_Plan_and_Reading_List.md</a:t>
            </a:r>
          </a:p>
          <a:p xmlns:a="http://schemas.openxmlformats.org/drawingml/2006/main">
            <a:r>
              <a:t>AI-generated conceptual illustration, 23 Sep 2026, see source-notes.md.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a:t>
            </a:r>
          </a:p>
          <a:p xmlns:a="http://schemas.openxmlformats.org/drawingml/2006/main">
            <a:r>
              <a:t>Teaching intent and transition: Ask students to bring the H1 map. Expected answer varies by available records; the misconception is that the final test directly reveals the origin.</a:t>
            </a:r>
          </a:p>
          <a:p xmlns:a="http://schemas.openxmlformats.org/drawingml/2006/main">
            <a:r>
              <a:t>Visual purpose: The partial route gives students a place to predict the missing mechanism. Work backward from a nonfunctional package.</a:t>
            </a:r>
          </a:p>
          <a:p xmlns:a="http://schemas.openxmlformats.org/drawingml/2006/main">
            <a:r>
              <a:t>Facilitation prompt: Which H1 gate would narrow the search?</a:t>
            </a:r>
          </a:p>
          <a:p xmlns:a="http://schemas.openxmlformats.org/drawingml/2006/main">
            <a:r>
              <a:t>Expected response: Require a stage-specific answer that names the observable, method, and remaining uncertainty.</a:t>
            </a:r>
          </a:p>
          <a:p xmlns:a="http://schemas.openxmlformats.org/drawingml/2006/main">
            <a:r>
              <a:t>Misconception to check: A process label alone explains the mechanism without material state or an observable.</a:t>
            </a:r>
          </a:p>
          <a:p xmlns:a="http://schemas.openxmlformats.org/drawingml/2006/main">
            <a:r>
              <a:t>[Sources]</a:t>
            </a:r>
          </a:p>
          <a:p xmlns:a="http://schemas.openxmlformats.org/drawingml/2006/main">
            <a:r>
              <a:t>IEEE EPS HIR 2024, Ch. 17 Test Technology | https://eps.ieee.org/wp-content/uploads/2025/11/HIR_2024_ch17_Test_Technology.pdf</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a:t>
            </a:r>
          </a:p>
          <a:p xmlns:a="http://schemas.openxmlformats.org/drawingml/2006/main">
            <a:r>
              <a:t>Teaching intent and transition: Display the template used in guided practice. Explain that a test name alone is not enough; the student must say what it observes.</a:t>
            </a:r>
          </a:p>
          <a:p xmlns:a="http://schemas.openxmlformats.org/drawingml/2006/main">
            <a:r>
              <a:t>Visual purpose: The connected chain ties evidence fields to a process or decision. For each row, record stage, defect, observable, method, and decision.</a:t>
            </a:r>
          </a:p>
          <a:p xmlns:a="http://schemas.openxmlformats.org/drawingml/2006/main">
            <a:r>
              <a:t>Facilitation prompt: What must be measurable in the row?</a:t>
            </a:r>
          </a:p>
          <a:p xmlns:a="http://schemas.openxmlformats.org/drawingml/2006/main">
            <a:r>
              <a:t>Expected response: Require a stage-specific answer that names the observable, method, and remaining uncertainty.</a:t>
            </a:r>
          </a:p>
          <a:p xmlns:a="http://schemas.openxmlformats.org/drawingml/2006/main">
            <a:r>
              <a:t>Misconception to check: A screenshot or model prediction is sufficient without case identity, units, and a physical check.</a:t>
            </a:r>
          </a:p>
          <a:p xmlns:a="http://schemas.openxmlformats.org/drawingml/2006/main">
            <a:r>
              <a:t>[Sources]</a:t>
            </a:r>
          </a:p>
          <a:p xmlns:a="http://schemas.openxmlformats.org/drawingml/2006/main">
            <a:r>
              <a:t>Instructor teaching plan, 23 Sep 2026, 2026_Teaching_Plan_and_Reading_List.md</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a:t>
            </a:r>
          </a:p>
          <a:p xmlns:a="http://schemas.openxmlformats.org/drawingml/2006/main">
            <a:r>
              <a:t>Teaching intent and transition: Define each class with a concrete example. An optical microscope can inspect exposed geometry but cannot see a buried attach void.</a:t>
            </a:r>
          </a:p>
          <a:p xmlns:a="http://schemas.openxmlformats.org/drawingml/2006/main">
            <a:r>
              <a:t>Visual purpose: The editable matrix relates methods and physical observables. A method can be strong for one class and blind to another.</a:t>
            </a:r>
          </a:p>
          <a:p xmlns:a="http://schemas.openxmlformats.org/drawingml/2006/main">
            <a:r>
              <a:t>Facilitation prompt: Where does a visual microscope have a blind spot?</a:t>
            </a:r>
          </a:p>
          <a:p xmlns:a="http://schemas.openxmlformats.org/drawingml/2006/main">
            <a:r>
              <a:t>Expected response: Require a stage-specific answer that names the observable, method, and remaining uncertainty.</a:t>
            </a:r>
          </a:p>
          <a:p xmlns:a="http://schemas.openxmlformats.org/drawingml/2006/main">
            <a:r>
              <a:t>Misconception to check: A process label alone explains the mechanism without material state or an observable.</a:t>
            </a:r>
          </a:p>
          <a:p xmlns:a="http://schemas.openxmlformats.org/drawingml/2006/main">
            <a:r>
              <a:t>[Sources]</a:t>
            </a:r>
          </a:p>
          <a:p xmlns:a="http://schemas.openxmlformats.org/drawingml/2006/main">
            <a:r>
              <a:t>IEEE EPS HIR 2024, Ch. 17 Test Technology | https://eps.ieee.org/wp-content/uploads/2025/11/HIR_2024_ch17_Test_Technology.pdf</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a:t>
            </a:r>
          </a:p>
          <a:p xmlns:a="http://schemas.openxmlformats.org/drawingml/2006/main">
            <a:r>
              <a:t>Teaching intent and transition: Use the editable die-edge diagram to show the possible location. Do not imply every chip causes failure; impact depends on extent and later loading.</a:t>
            </a:r>
          </a:p>
          <a:p xmlns:a="http://schemas.openxmlformats.org/drawingml/2006/main">
            <a:r>
              <a:t>Visual purpose: The editable locator identifies distinct physical failure sites. An apparently intact die can still need a targeted check.</a:t>
            </a:r>
          </a:p>
          <a:p xmlns:a="http://schemas.openxmlformats.org/drawingml/2006/main">
            <a:r>
              <a:t>Facilitation prompt: What would you inspect before placement?</a:t>
            </a:r>
          </a:p>
          <a:p xmlns:a="http://schemas.openxmlformats.org/drawingml/2006/main">
            <a:r>
              <a:t>Expected response: Require a stage-specific answer that names the observable, method, and remaining uncertainty.</a:t>
            </a:r>
          </a:p>
          <a:p xmlns:a="http://schemas.openxmlformats.org/drawingml/2006/main">
            <a:r>
              <a:t>Misconception to check: Every visible edge feature is a functional failure.</a:t>
            </a:r>
          </a:p>
          <a:p xmlns:a="http://schemas.openxmlformats.org/drawingml/2006/main">
            <a:r>
              <a:t>[Sources]</a:t>
            </a:r>
          </a:p>
          <a:p xmlns:a="http://schemas.openxmlformats.org/drawingml/2006/main">
            <a:r>
              <a:t>Instructor teaching plan, 23 Sep 2026, 2026_Teaching_Plan_and_Reading_List.md</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a:t>
            </a:r>
          </a:p>
          <a:p xmlns:a="http://schemas.openxmlformats.org/drawingml/2006/main">
            <a:r>
              <a:t>Teaching intent and transition: The device may function electrically despite a local attach void. Acoustic imaging may help locate a discontinuity; thermal measurements address performance consequence.</a:t>
            </a:r>
          </a:p>
          <a:p xmlns:a="http://schemas.openxmlformats.org/drawingml/2006/main">
            <a:r>
              <a:t>Visual purpose: The cross-section places a small local void inside the attach layer. The observable is interface discontinuity, not simply 'heat is bad'.</a:t>
            </a:r>
          </a:p>
          <a:p xmlns:a="http://schemas.openxmlformats.org/drawingml/2006/main">
            <a:r>
              <a:t>Facilitation prompt: Why could electrical test still pass?</a:t>
            </a:r>
          </a:p>
          <a:p xmlns:a="http://schemas.openxmlformats.org/drawingml/2006/main">
            <a:r>
              <a:t>Expected response: Require a stage-specific answer that names the observable, method, and remaining uncertainty.</a:t>
            </a:r>
          </a:p>
          <a:p xmlns:a="http://schemas.openxmlformats.org/drawingml/2006/main">
            <a:r>
              <a:t>Misconception to check: Every void has the same consequence regardless of area, position, and load.</a:t>
            </a:r>
          </a:p>
          <a:p xmlns:a="http://schemas.openxmlformats.org/drawingml/2006/main">
            <a:r>
              <a:t>[Sources]</a:t>
            </a:r>
          </a:p>
          <a:p xmlns:a="http://schemas.openxmlformats.org/drawingml/2006/main">
            <a:r>
              <a:t>IEEE EPS HIR 2024, Ch. 22 Interconnects | https://eps.ieee.org/wp-content/uploads/2025/11/HIR_2024_ch22_2D-3D.pdf</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a:t>
            </a:r>
          </a:p>
          <a:p xmlns:a="http://schemas.openxmlformats.org/drawingml/2006/main">
            <a:r>
              <a:t>Teaching intent and transition: Use the conceptual single-wire cutaway to locate the four sites. Pull or shear testing probes joint strength on samples; optical inspection checks loop geometry.</a:t>
            </a:r>
          </a:p>
          <a:p xmlns:a="http://schemas.openxmlformats.org/drawingml/2006/main">
            <a:r>
              <a:t>Visual purpose: The annotated conceptual image shows the physical parts and their spatial relationship. Match inspection to the suspected site.</a:t>
            </a:r>
          </a:p>
          <a:p xmlns:a="http://schemas.openxmlformats.org/drawingml/2006/main">
            <a:r>
              <a:t>Facilitation prompt: Which observation probes strength?</a:t>
            </a:r>
          </a:p>
          <a:p xmlns:a="http://schemas.openxmlformats.org/drawingml/2006/main">
            <a:r>
              <a:t>Expected response: Require a stage-specific answer that names the observable, method, and remaining uncertainty.</a:t>
            </a:r>
          </a:p>
          <a:p xmlns:a="http://schemas.openxmlformats.org/drawingml/2006/main">
            <a:r>
              <a:t>Misconception to check: A visually acceptable loop proves the bond joints are strong.</a:t>
            </a:r>
          </a:p>
          <a:p xmlns:a="http://schemas.openxmlformats.org/drawingml/2006/main">
            <a:r>
              <a:t>[Sources]</a:t>
            </a:r>
          </a:p>
          <a:p xmlns:a="http://schemas.openxmlformats.org/drawingml/2006/main">
            <a:r>
              <a:t>ASE Flip Chip Packaging | https://ase.aseglobal.com/flip-chip-packaging/</a:t>
            </a:r>
          </a:p>
          <a:p xmlns:a="http://schemas.openxmlformats.org/drawingml/2006/main">
            <a:r>
              <a:t>AI-generated conceptual illustration, 23 Sep 2026, see source-notes.md.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a:t>
            </a:r>
          </a:p>
          <a:p xmlns:a="http://schemas.openxmlformats.org/drawingml/2006/main">
            <a:r>
              <a:t>Teaching intent and transition: Electrical testing can reveal an open or short but may not localize it. An underfill gap can exist while continuity remains normal.</a:t>
            </a:r>
          </a:p>
          <a:p xmlns:a="http://schemas.openxmlformats.org/drawingml/2006/main">
            <a:r>
              <a:t>Visual purpose: The ruled comparison separates alternatives under a common question. A single image modality may miss one of them.</a:t>
            </a:r>
          </a:p>
          <a:p xmlns:a="http://schemas.openxmlformats.org/drawingml/2006/main">
            <a:r>
              <a:t>Facilitation prompt: What would electrical continuity miss?</a:t>
            </a:r>
          </a:p>
          <a:p xmlns:a="http://schemas.openxmlformats.org/drawingml/2006/main">
            <a:r>
              <a:t>Expected response: Require a stage-specific answer that names the observable, method, and remaining uncertainty.</a:t>
            </a:r>
          </a:p>
          <a:p xmlns:a="http://schemas.openxmlformats.org/drawingml/2006/main">
            <a:r>
              <a:t>Misconception to check: A joined bump array guarantees that the die-substrate gap filled completely.</a:t>
            </a:r>
          </a:p>
          <a:p xmlns:a="http://schemas.openxmlformats.org/drawingml/2006/main">
            <a:r>
              <a:t>[Sources]</a:t>
            </a:r>
          </a:p>
          <a:p xmlns:a="http://schemas.openxmlformats.org/drawingml/2006/main">
            <a:r>
              <a:t>ASE Flip Chip Packaging | https://ase.aseglobal.com/flip-chip-packaging/</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a:t>
            </a:r>
          </a:p>
          <a:p xmlns:a="http://schemas.openxmlformats.org/drawingml/2006/main">
            <a:r>
              <a:t>Teaching intent and transition: Connect flow and cure to the H1 sequence. Avoid claiming all package families use the same protective process.</a:t>
            </a:r>
          </a:p>
          <a:p xmlns:a="http://schemas.openxmlformats.org/drawingml/2006/main">
            <a:r>
              <a:t>Visual purpose: The editable route shows operation order and where state changes occur. The process can create voids, delamination, or wire movement.</a:t>
            </a:r>
          </a:p>
          <a:p xmlns:a="http://schemas.openxmlformats.org/drawingml/2006/main">
            <a:r>
              <a:t>Facilitation prompt: Which observation would you collect after cure?</a:t>
            </a:r>
          </a:p>
          <a:p xmlns:a="http://schemas.openxmlformats.org/drawingml/2006/main">
            <a:r>
              <a:t>Expected response: Require a stage-specific answer that names the observable, method, and remaining uncertainty.</a:t>
            </a:r>
          </a:p>
          <a:p xmlns:a="http://schemas.openxmlformats.org/drawingml/2006/main">
            <a:r>
              <a:t>Misconception to check: Protection steps cannot introduce defects of their own.</a:t>
            </a:r>
          </a:p>
          <a:p xmlns:a="http://schemas.openxmlformats.org/drawingml/2006/main">
            <a:r>
              <a:t>[Sources]</a:t>
            </a:r>
          </a:p>
          <a:p xmlns:a="http://schemas.openxmlformats.org/drawingml/2006/main">
            <a:r>
              <a:t>IEEE TCPMT 2019, Fan-Out Warpage | https://ieeexplore.ieee.org/document/8590768</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a:t>
            </a:r>
          </a:p>
          <a:p xmlns:a="http://schemas.openxmlformats.org/drawingml/2006/main">
            <a:r>
              <a:t>Teaching intent and transition: Walk the class across the matrix. X-ray can show some solder geometry, acoustic methods can reveal some internal delamination, and electrical test measures circuit behavior.</a:t>
            </a:r>
          </a:p>
          <a:p xmlns:a="http://schemas.openxmlformats.org/drawingml/2006/main">
            <a:r>
              <a:t>Visual purpose: The editable matrix relates methods and physical observables. Optical, X-ray, acoustic, and electrical methods answer different questions.</a:t>
            </a:r>
          </a:p>
          <a:p xmlns:a="http://schemas.openxmlformats.org/drawingml/2006/main">
            <a:r>
              <a:t>Facilitation prompt: Which pair could separate an open joint from underfill void?</a:t>
            </a:r>
          </a:p>
          <a:p xmlns:a="http://schemas.openxmlformats.org/drawingml/2006/main">
            <a:r>
              <a:t>Expected response: Require a stage-specific answer that names the observable, method, and remaining uncertainty.</a:t>
            </a:r>
          </a:p>
          <a:p xmlns:a="http://schemas.openxmlformats.org/drawingml/2006/main">
            <a:r>
              <a:t>Misconception to check: One inspection method can detect every relevant failure mechanism.</a:t>
            </a:r>
          </a:p>
          <a:p xmlns:a="http://schemas.openxmlformats.org/drawingml/2006/main">
            <a:r>
              <a:t>[Sources]</a:t>
            </a:r>
          </a:p>
          <a:p xmlns:a="http://schemas.openxmlformats.org/drawingml/2006/main">
            <a:r>
              <a:t>IEEE EPS HIR 2024, Ch. 17 Test Technology | https://eps.ieee.org/wp-content/uploads/2025/11/HIR_2024_ch17_Test_Technology.pdf</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a:t>
            </a:r>
          </a:p>
          <a:p xmlns:a="http://schemas.openxmlformats.org/drawingml/2006/main">
            <a:r>
              <a:t>Teaching intent and transition: State this as a hypothetical case. Start with the observed open. Show that multiple physical mechanisms are consistent with that observation.</a:t>
            </a:r>
          </a:p>
          <a:p xmlns:a="http://schemas.openxmlformats.org/drawingml/2006/main">
            <a:r>
              <a:t>Visual purpose: The chain separates a defect hypothesis from an observed result. List alignment, joint formation, and die damage as hypotheses.</a:t>
            </a:r>
          </a:p>
          <a:p xmlns:a="http://schemas.openxmlformats.org/drawingml/2006/main">
            <a:r>
              <a:t>Facilitation prompt: Which measurement distinguishes candidates?</a:t>
            </a:r>
          </a:p>
          <a:p xmlns:a="http://schemas.openxmlformats.org/drawingml/2006/main">
            <a:r>
              <a:t>Expected response: An open is observed; the physical cause is still a hypothesis.</a:t>
            </a:r>
          </a:p>
          <a:p xmlns:a="http://schemas.openxmlformats.org/drawingml/2006/main">
            <a:r>
              <a:t>Misconception to check: Wafer test or a final electrical fail identifies the exact later physical cause.</a:t>
            </a:r>
          </a:p>
          <a:p xmlns:a="http://schemas.openxmlformats.org/drawingml/2006/main">
            <a:r>
              <a:t>[Sources]</a:t>
            </a:r>
          </a:p>
          <a:p xmlns:a="http://schemas.openxmlformats.org/drawingml/2006/main">
            <a:r>
              <a:t>IEEE EPS HIR 2024, Ch. 17 Test Technology | https://eps.ieee.org/wp-content/uploads/2025/11/HIR_2024_ch17_Test_Technology.pdf</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a:t>
            </a:r>
          </a:p>
          <a:p xmlns:a="http://schemas.openxmlformats.org/drawingml/2006/main">
            <a:r>
              <a:t>Teaching intent and transition: Work through conditional reasoning: a visible bridge or missing joint changes the likely cause, while a normal X-ray does not prove the interface is sound. Cross-sectioning may follow if needed.</a:t>
            </a:r>
          </a:p>
          <a:p xmlns:a="http://schemas.openxmlformats.org/drawingml/2006/main">
            <a:r>
              <a:t>Visual purpose: The decision tree separates hypotheses through a proposed test. Prefer a discriminating observation before destructive analysis.</a:t>
            </a:r>
          </a:p>
          <a:p xmlns:a="http://schemas.openxmlformats.org/drawingml/2006/main">
            <a:r>
              <a:t>Facilitation prompt: What result would change your hypothesis?</a:t>
            </a:r>
          </a:p>
          <a:p xmlns:a="http://schemas.openxmlformats.org/drawingml/2006/main">
            <a:r>
              <a:t>Expected response: Require a stage-specific answer that names the observable, method, and remaining uncertainty.</a:t>
            </a:r>
          </a:p>
          <a:p xmlns:a="http://schemas.openxmlformats.org/drawingml/2006/main">
            <a:r>
              <a:t>Misconception to check: A screenshot or model prediction is sufficient without case identity, units, and a physical check.</a:t>
            </a:r>
          </a:p>
          <a:p xmlns:a="http://schemas.openxmlformats.org/drawingml/2006/main">
            <a:r>
              <a:t>[Sources]</a:t>
            </a:r>
          </a:p>
          <a:p xmlns:a="http://schemas.openxmlformats.org/drawingml/2006/main">
            <a:r>
              <a:t>IEEE EPS HIR 2024, Ch. 17 Test Technology | https://eps.ieee.org/wp-content/uploads/2025/11/HIR_2024_ch17_Test_Technology.pdf</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a:t>
            </a:r>
          </a:p>
          <a:p xmlns:a="http://schemas.openxmlformats.org/drawingml/2006/main">
            <a:r>
              <a:t>Teaching intent and transition: Explicitly label these as synthetic teaching observations. Expected answer: an open is established; physical location and mechanism remain unresolved.</a:t>
            </a:r>
          </a:p>
          <a:p xmlns:a="http://schemas.openxmlformats.org/drawingml/2006/main">
            <a:r>
              <a:t>Visual purpose: The ruled record shows exactly what students must capture for a rerun. Observed: one net is open; X-ray shows no clear bridge; no acoustic record.</a:t>
            </a:r>
          </a:p>
          <a:p xmlns:a="http://schemas.openxmlformats.org/drawingml/2006/main">
            <a:r>
              <a:t>Facilitation prompt: What can you conclude, and what remains unknown?</a:t>
            </a:r>
          </a:p>
          <a:p xmlns:a="http://schemas.openxmlformats.org/drawingml/2006/main">
            <a:r>
              <a:t>Expected response: Require a stage-specific answer that names the observable, method, and remaining uncertainty.</a:t>
            </a:r>
          </a:p>
          <a:p xmlns:a="http://schemas.openxmlformats.org/drawingml/2006/main">
            <a:r>
              <a:t>Misconception to check: A screenshot or model prediction is sufficient without case identity, units, and a physical check.</a:t>
            </a:r>
          </a:p>
          <a:p xmlns:a="http://schemas.openxmlformats.org/drawingml/2006/main">
            <a:r>
              <a:t>[Sources]</a:t>
            </a:r>
          </a:p>
          <a:p xmlns:a="http://schemas.openxmlformats.org/drawingml/2006/main">
            <a:r>
              <a:t>Instructor teaching plan, 23 Sep 2026, 2026_Teaching_Plan_and_Reading_List.md</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a:t>
            </a:r>
          </a:p>
          <a:p xmlns:a="http://schemas.openxmlformats.org/drawingml/2006/main">
            <a:r>
              <a:t>Teaching intent and transition: Give students six minutes of group work across this and the next slide. Check that their method actually observes the named feature. The peer challenge then identifies each method's blind spot.</a:t>
            </a:r>
          </a:p>
          <a:p xmlns:a="http://schemas.openxmlformats.org/drawingml/2006/main">
            <a:r>
              <a:t>Visual purpose: The blank grid is the artifact students fill and save. Write one row for the open and one row for an attach-interface concern.</a:t>
            </a:r>
          </a:p>
          <a:p xmlns:a="http://schemas.openxmlformats.org/drawingml/2006/main">
            <a:r>
              <a:t>Facilitation prompt: Stop when both rows name an observable and method.</a:t>
            </a:r>
          </a:p>
          <a:p xmlns:a="http://schemas.openxmlformats.org/drawingml/2006/main">
            <a:r>
              <a:t>Expected response: Require a stage-specific answer that names the observable, method, and remaining uncertainty.</a:t>
            </a:r>
          </a:p>
          <a:p xmlns:a="http://schemas.openxmlformats.org/drawingml/2006/main">
            <a:r>
              <a:t>Misconception to check: A process label alone explains the mechanism without material state or an observable.</a:t>
            </a:r>
          </a:p>
          <a:p xmlns:a="http://schemas.openxmlformats.org/drawingml/2006/main">
            <a:r>
              <a:t>[Sources]</a:t>
            </a:r>
          </a:p>
          <a:p xmlns:a="http://schemas.openxmlformats.org/drawingml/2006/main">
            <a:r>
              <a:t>Instructor teaching plan, 23 Sep 2026, 2026_Teaching_Plan_and_Reading_List.md</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a:t>
            </a:r>
          </a:p>
          <a:p xmlns:a="http://schemas.openxmlformats.org/drawingml/2006/main">
            <a:r>
              <a:t>Teaching intent and transition: Ask each pair to identify a leap from observation to cause. The stopping condition is one corrected inference and one proposed test.</a:t>
            </a:r>
          </a:p>
          <a:p xmlns:a="http://schemas.openxmlformats.org/drawingml/2006/main">
            <a:r>
              <a:t>Visual purpose: The ruled comparison separates alternatives under a common question. Exchange maps and mark one unsupported inference.</a:t>
            </a:r>
          </a:p>
          <a:p xmlns:a="http://schemas.openxmlformats.org/drawingml/2006/main">
            <a:r>
              <a:t>Facilitation prompt: What is the smallest useful next test?</a:t>
            </a:r>
          </a:p>
          <a:p xmlns:a="http://schemas.openxmlformats.org/drawingml/2006/main">
            <a:r>
              <a:t>Expected response: Require a stage-specific answer that names the observable, method, and remaining uncertainty.</a:t>
            </a:r>
          </a:p>
          <a:p xmlns:a="http://schemas.openxmlformats.org/drawingml/2006/main">
            <a:r>
              <a:t>Misconception to check: A process label alone explains the mechanism without material state or an observable.</a:t>
            </a:r>
          </a:p>
          <a:p xmlns:a="http://schemas.openxmlformats.org/drawingml/2006/main">
            <a:r>
              <a:t>[Sources]</a:t>
            </a:r>
          </a:p>
          <a:p xmlns:a="http://schemas.openxmlformats.org/drawingml/2006/main">
            <a:r>
              <a:t>NIST Credibility Consideration for Digital Twins | https://www.nist.gov/publications/credibility-consideration-digital-twins-manufacturing</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a:t>
            </a:r>
          </a:p>
          <a:p xmlns:a="http://schemas.openxmlformats.org/drawingml/2006/main">
            <a:r>
              <a:t>Teaching intent and transition: Collect the annotated five-column map. Bridge to H3: model results may prioritize a concern, but measured evidence still has to be recorded separately.</a:t>
            </a:r>
          </a:p>
          <a:p xmlns:a="http://schemas.openxmlformats.org/drawingml/2006/main">
            <a:r>
              <a:t>Visual purpose: The connected chain ties evidence fields to a process or decision. H3 will turn the same map into an InPack.AI evidence record.</a:t>
            </a:r>
          </a:p>
          <a:p xmlns:a="http://schemas.openxmlformats.org/drawingml/2006/main">
            <a:r>
              <a:t>Facilitation prompt: Can a peer reproduce your reasoning?</a:t>
            </a:r>
          </a:p>
          <a:p xmlns:a="http://schemas.openxmlformats.org/drawingml/2006/main">
            <a:r>
              <a:t>Expected response: Require a stage-specific answer that names the observable, method, and remaining uncertainty.</a:t>
            </a:r>
          </a:p>
          <a:p xmlns:a="http://schemas.openxmlformats.org/drawingml/2006/main">
            <a:r>
              <a:t>Misconception to check: A process label alone explains the mechanism without material state or an observable.</a:t>
            </a:r>
          </a:p>
          <a:p xmlns:a="http://schemas.openxmlformats.org/drawingml/2006/main">
            <a:r>
              <a:t>[Sources]</a:t>
            </a:r>
          </a:p>
          <a:p xmlns:a="http://schemas.openxmlformats.org/drawingml/2006/main">
            <a:r>
              <a:t>Instructor teaching plan, 23 Sep 2026, 2026_Teaching_Plan_and_Reading_List.md</a:t>
            </a:r>
          </a:p>
          <a:p xmlns:a="http://schemas.openxmlformats.org/drawingml/2006/main">
            <a:r>
              <a:t>Editable PowerPoint diagram authored for this lecture, 23 Sep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330aa9150f47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6bf6a4b24a4772" /><Relationship Type="http://schemas.openxmlformats.org/officeDocument/2006/relationships/slideLayout" Target="/ppt/slideLayouts/slideLayout1.xml" Id="R06432561a91045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432561a91045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18c04e7d5d4468" /><Relationship Type="http://schemas.openxmlformats.org/officeDocument/2006/relationships/image" Target="/ppt/media/image.png" Id="Re25a294628f147d5" /><Relationship Type="http://schemas.openxmlformats.org/officeDocument/2006/relationships/image" Target="/ppt/media/image2.png" Id="Rc05b13a925d24ad6" /><Relationship Type="http://schemas.openxmlformats.org/officeDocument/2006/relationships/image" Target="/ppt/media/image3.png" Id="R1bfa6aa84fc84c39" /><Relationship Type="http://schemas.openxmlformats.org/officeDocument/2006/relationships/notesSlide" Target="/ppt/notesSlides/notesSlide1.xml" Id="R09482a95dff146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68e2bbd36b4a26" /><Relationship Type="http://schemas.openxmlformats.org/officeDocument/2006/relationships/image" Target="/ppt/media/image4.png" Id="R117216a5a9eb4447" /><Relationship Type="http://schemas.openxmlformats.org/officeDocument/2006/relationships/image" Target="/ppt/media/image5.png" Id="R9f38d33361dc493e" /><Relationship Type="http://schemas.openxmlformats.org/officeDocument/2006/relationships/notesSlide" Target="/ppt/notesSlides/notesSlide2.xml" Id="R1882f53ca2474f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c13d934ef7437c" /><Relationship Type="http://schemas.openxmlformats.org/officeDocument/2006/relationships/image" Target="/ppt/media/image6.png" Id="Rb4b785aaa9f840e2" /><Relationship Type="http://schemas.openxmlformats.org/officeDocument/2006/relationships/image" Target="/ppt/media/image7.png" Id="Rc625339a51a44196" /><Relationship Type="http://schemas.openxmlformats.org/officeDocument/2006/relationships/notesSlide" Target="/ppt/notesSlides/notesSlide3.xml" Id="R2a1136484a8549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396e704ddd4a2d" /><Relationship Type="http://schemas.openxmlformats.org/officeDocument/2006/relationships/image" Target="/ppt/media/image8.png" Id="R0ab4b1ac16e741e4" /><Relationship Type="http://schemas.openxmlformats.org/officeDocument/2006/relationships/image" Target="/ppt/media/image9.png" Id="Ra0d7889a6c5f446c" /><Relationship Type="http://schemas.openxmlformats.org/officeDocument/2006/relationships/notesSlide" Target="/ppt/notesSlides/notesSlide4.xml" Id="R4abdc7cad1b443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3f3f96c7fbc4afb" /><Relationship Type="http://schemas.openxmlformats.org/officeDocument/2006/relationships/image" Target="/ppt/media/image10.png" Id="R2608961c77f94d8b" /><Relationship Type="http://schemas.openxmlformats.org/officeDocument/2006/relationships/image" Target="/ppt/media/image11.png" Id="Rc296c51e29034413" /><Relationship Type="http://schemas.openxmlformats.org/officeDocument/2006/relationships/notesSlide" Target="/ppt/notesSlides/notesSlide5.xml" Id="Raf59653c01ee40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63d174c2f84c0b" /><Relationship Type="http://schemas.openxmlformats.org/officeDocument/2006/relationships/image" Target="/ppt/media/image12.png" Id="Rd97c3acea4814ffe" /><Relationship Type="http://schemas.openxmlformats.org/officeDocument/2006/relationships/image" Target="/ppt/media/image13.png" Id="R67c9d6d22142491c" /><Relationship Type="http://schemas.openxmlformats.org/officeDocument/2006/relationships/notesSlide" Target="/ppt/notesSlides/notesSlide6.xml" Id="R2f9ceb7db97a4a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286079d60d416d" /><Relationship Type="http://schemas.openxmlformats.org/officeDocument/2006/relationships/image" Target="/ppt/media/image14.png" Id="Ra0f3615843b54206" /><Relationship Type="http://schemas.openxmlformats.org/officeDocument/2006/relationships/image" Target="/ppt/media/image15.png" Id="R03ca65d5fc6d427c" /><Relationship Type="http://schemas.openxmlformats.org/officeDocument/2006/relationships/image" Target="/ppt/media/image16.png" Id="Rc9337d0a1a7f4587" /><Relationship Type="http://schemas.openxmlformats.org/officeDocument/2006/relationships/notesSlide" Target="/ppt/notesSlides/notesSlide7.xml" Id="R8bb8964bd5304f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6410abb1bc42eb" /><Relationship Type="http://schemas.openxmlformats.org/officeDocument/2006/relationships/image" Target="/ppt/media/image17.png" Id="R5ff623b5c6914e29" /><Relationship Type="http://schemas.openxmlformats.org/officeDocument/2006/relationships/image" Target="/ppt/media/image18.png" Id="R977a4821eec140b7" /><Relationship Type="http://schemas.openxmlformats.org/officeDocument/2006/relationships/notesSlide" Target="/ppt/notesSlides/notesSlide8.xml" Id="Rcbba3e6b5ace40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2b4b9b651e42eb" /><Relationship Type="http://schemas.openxmlformats.org/officeDocument/2006/relationships/image" Target="/ppt/media/image19.png" Id="R1dee0bf1c5a14b00" /><Relationship Type="http://schemas.openxmlformats.org/officeDocument/2006/relationships/image" Target="/ppt/media/image20.png" Id="R25e7ac3322de41bb" /><Relationship Type="http://schemas.openxmlformats.org/officeDocument/2006/relationships/notesSlide" Target="/ppt/notesSlides/notesSlide9.xml" Id="R7c29c49d4c6e44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e3c9a3f78e7402d" /><Relationship Type="http://schemas.openxmlformats.org/officeDocument/2006/relationships/image" Target="/ppt/media/image21.png" Id="Rbfd424c939834c1d" /><Relationship Type="http://schemas.openxmlformats.org/officeDocument/2006/relationships/image" Target="/ppt/media/image22.png" Id="R46895a62e468424a" /><Relationship Type="http://schemas.openxmlformats.org/officeDocument/2006/relationships/notesSlide" Target="/ppt/notesSlides/notesSlide10.xml" Id="Raf0f545766c24b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08a72098dcb452d" /><Relationship Type="http://schemas.openxmlformats.org/officeDocument/2006/relationships/image" Target="/ppt/media/image23.png" Id="R5a067290b9504072" /><Relationship Type="http://schemas.openxmlformats.org/officeDocument/2006/relationships/image" Target="/ppt/media/image24.png" Id="Rdda32f06b87946d4" /><Relationship Type="http://schemas.openxmlformats.org/officeDocument/2006/relationships/notesSlide" Target="/ppt/notesSlides/notesSlide11.xml" Id="Ref552197100147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bfa71fcda574699" /><Relationship Type="http://schemas.openxmlformats.org/officeDocument/2006/relationships/image" Target="/ppt/media/image25.png" Id="R1852a7d79e304bbb" /><Relationship Type="http://schemas.openxmlformats.org/officeDocument/2006/relationships/image" Target="/ppt/media/image26.png" Id="R69a02dd5dd1e49ed" /><Relationship Type="http://schemas.openxmlformats.org/officeDocument/2006/relationships/notesSlide" Target="/ppt/notesSlides/notesSlide12.xml" Id="R057c617f46a347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7e6343c7c0f4a18" /><Relationship Type="http://schemas.openxmlformats.org/officeDocument/2006/relationships/image" Target="/ppt/media/image27.png" Id="Rdbd7505bc6f54e72" /><Relationship Type="http://schemas.openxmlformats.org/officeDocument/2006/relationships/image" Target="/ppt/media/image28.png" Id="R3713ace0c2ff40d8" /><Relationship Type="http://schemas.openxmlformats.org/officeDocument/2006/relationships/notesSlide" Target="/ppt/notesSlides/notesSlide13.xml" Id="Ra4c73505441d4f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d5bac1e80d04039" /><Relationship Type="http://schemas.openxmlformats.org/officeDocument/2006/relationships/image" Target="/ppt/media/image29.png" Id="R2e387c267bef4ff1" /><Relationship Type="http://schemas.openxmlformats.org/officeDocument/2006/relationships/image" Target="/ppt/media/image30.png" Id="R46e1bbf354064eb2" /><Relationship Type="http://schemas.openxmlformats.org/officeDocument/2006/relationships/notesSlide" Target="/ppt/notesSlides/notesSlide14.xml" Id="R4782f15935e94c3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d4ac8304b664c65" /><Relationship Type="http://schemas.openxmlformats.org/officeDocument/2006/relationships/image" Target="/ppt/media/image31.png" Id="Rc4b6a10f80f74a0f" /><Relationship Type="http://schemas.openxmlformats.org/officeDocument/2006/relationships/image" Target="/ppt/media/image32.png" Id="Ree717b873fe14c00" /><Relationship Type="http://schemas.openxmlformats.org/officeDocument/2006/relationships/notesSlide" Target="/ppt/notesSlides/notesSlide15.xml" Id="R307bef1da5c64b8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05fdcb3e7694acc" /><Relationship Type="http://schemas.openxmlformats.org/officeDocument/2006/relationships/image" Target="/ppt/media/image33.png" Id="Rf10cad0eda844bc3" /><Relationship Type="http://schemas.openxmlformats.org/officeDocument/2006/relationships/image" Target="/ppt/media/image34.png" Id="R237d3e6c1c7f4cac" /><Relationship Type="http://schemas.openxmlformats.org/officeDocument/2006/relationships/notesSlide" Target="/ppt/notesSlides/notesSlide16.xml" Id="Ra11f9419a8f54c4c" /></Relationships>
</file>

<file path=ppt/slides/slide1.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593447C-C6D6-44F7-AFBE-BCFBEEF422C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F4E428-ECF7-4BEA-B730-08FBE0630316}"/>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3E8BDB53-688C-4293-AFA1-8EAC8CD9E45A}"/>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3A87B885-938E-4374-A3A3-D80C0A645925}"/>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6DF0FB19-51E0-4B74-9E5A-F5F337B5514C}"/>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01 / 16</a:t>
            </a:r>
          </a:p>
        </p:txBody>
      </p:sp>
      <p:sp>
        <p:nvSpPr>
          <p:cNvPr id="6" name="">
            <a:extLst xmlns:a="http://schemas.openxmlformats.org/drawingml/2006/main">
              <a:ext uri="{FF2B5EF4-FFF2-40B4-BE49-F238E27FC236}">
                <a16:creationId xmlns:a16="http://schemas.microsoft.com/office/drawing/2014/main" id="{E2F4493E-25E1-4BDA-8B3C-C22B074869F8}"/>
              </a:ext>
            </a:extLst>
          </p:cNvPr>
          <p:cNvSpPr>
            <a:spLocks xmlns:a="http://schemas.openxmlformats.org/drawingml/2006/main" noGrp="1"/>
          </p:cNvSpPr>
          <p:nvPr/>
        </p:nvSpPr>
        <p:spPr>
          <a:xfrm xmlns:a="http://schemas.openxmlformats.org/drawingml/2006/main">
            <a:off x="571500" y="904875"/>
            <a:ext cx="442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4002B"/>
                </a:solidFill>
                <a:latin typeface="Arial"/>
                <a:ea typeface="Arial"/>
                <a:cs typeface="Arial"/>
              </a:defRPr>
            </a:pPr>
            <a:r>
              <a:rPr sz="1650" b="1">
                <a:solidFill>
                  <a:srgbClr val="E4002B"/>
                </a:solidFill>
                <a:latin typeface="Arial"/>
                <a:ea typeface="Arial"/>
                <a:cs typeface="Arial"/>
              </a:rPr>
              <a:t>TEACHING WEEK 1  /  H2</a:t>
            </a:r>
          </a:p>
        </p:txBody>
      </p:sp>
      <p:sp>
        <p:nvSpPr>
          <p:cNvPr id="7" name="">
            <a:extLst xmlns:a="http://schemas.openxmlformats.org/drawingml/2006/main">
              <a:ext uri="{FF2B5EF4-FFF2-40B4-BE49-F238E27FC236}">
                <a16:creationId xmlns:a16="http://schemas.microsoft.com/office/drawing/2014/main" id="{7B23609B-D0F5-46F8-9549-F87548EBCCC1}"/>
              </a:ext>
            </a:extLst>
          </p:cNvPr>
          <p:cNvSpPr>
            <a:spLocks xmlns:a="http://schemas.openxmlformats.org/drawingml/2006/main" noGrp="1"/>
          </p:cNvSpPr>
          <p:nvPr/>
        </p:nvSpPr>
        <p:spPr>
          <a:xfrm xmlns:a="http://schemas.openxmlformats.org/drawingml/2006/main">
            <a:off x="571500" y="1428750"/>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975" b="1">
                <a:solidFill>
                  <a:srgbClr val="12233F"/>
                </a:solidFill>
                <a:latin typeface="Arial"/>
                <a:ea typeface="Arial"/>
                <a:cs typeface="Arial"/>
              </a:defRPr>
            </a:pPr>
            <a:r>
              <a:rPr sz="3975" b="1">
                <a:solidFill>
                  <a:srgbClr val="12233F"/>
                </a:solidFill>
                <a:latin typeface="Arial"/>
                <a:ea typeface="Arial"/>
                <a:cs typeface="Arial"/>
              </a:rPr>
              <a:t>Defects and inspection gates</a:t>
            </a:r>
          </a:p>
        </p:txBody>
      </p:sp>
      <p:sp>
        <p:nvSpPr>
          <p:cNvPr id="8" name="">
            <a:extLst xmlns:a="http://schemas.openxmlformats.org/drawingml/2006/main">
              <a:ext uri="{FF2B5EF4-FFF2-40B4-BE49-F238E27FC236}">
                <a16:creationId xmlns:a16="http://schemas.microsoft.com/office/drawing/2014/main" id="{F62C2F5C-E4A9-4B09-9084-F3800EC31ACA}"/>
              </a:ext>
            </a:extLst>
          </p:cNvPr>
          <p:cNvSpPr>
            <a:spLocks xmlns:a="http://schemas.openxmlformats.org/drawingml/2006/main" noGrp="1"/>
          </p:cNvSpPr>
          <p:nvPr/>
        </p:nvSpPr>
        <p:spPr>
          <a:xfrm xmlns:a="http://schemas.openxmlformats.org/drawingml/2006/main">
            <a:off x="571500" y="3429000"/>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242124"/>
                </a:solidFill>
                <a:latin typeface="Arial"/>
                <a:ea typeface="Arial"/>
                <a:cs typeface="Arial"/>
              </a:defRPr>
            </a:pPr>
            <a:r>
              <a:rPr sz="2175" b="0">
                <a:solidFill>
                  <a:srgbClr val="242124"/>
                </a:solidFill>
                <a:latin typeface="Arial"/>
                <a:ea typeface="Arial"/>
                <a:cs typeface="Arial"/>
              </a:rPr>
              <a:t>A defect map links where a fault begins to where it can be seen.</a:t>
            </a:r>
          </a:p>
        </p:txBody>
      </p:sp>
      <p:sp>
        <p:nvSpPr>
          <p:cNvPr id="9" name="">
            <a:extLst xmlns:a="http://schemas.openxmlformats.org/drawingml/2006/main">
              <a:ext uri="{FF2B5EF4-FFF2-40B4-BE49-F238E27FC236}">
                <a16:creationId xmlns:a16="http://schemas.microsoft.com/office/drawing/2014/main" id="{A721BD8B-B2E0-41C2-AF9A-8CADD1D67E95}"/>
              </a:ext>
            </a:extLst>
          </p:cNvPr>
          <p:cNvSpPr>
            <a:spLocks xmlns:a="http://schemas.openxmlformats.org/drawingml/2006/main" noGrp="1"/>
          </p:cNvSpPr>
          <p:nvPr/>
        </p:nvSpPr>
        <p:spPr>
          <a:xfrm xmlns:a="http://schemas.openxmlformats.org/drawingml/2006/main">
            <a:off x="571500" y="499110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420A15"/>
                </a:solidFill>
                <a:latin typeface="Arial"/>
                <a:ea typeface="Arial"/>
                <a:cs typeface="Arial"/>
              </a:defRPr>
            </a:pPr>
            <a:r>
              <a:rPr sz="1575" b="1">
                <a:solidFill>
                  <a:srgbClr val="420A15"/>
                </a:solidFill>
                <a:latin typeface="Arial"/>
                <a:ea typeface="Arial"/>
                <a:cs typeface="Arial"/>
              </a:rPr>
              <a:t>Guided process analysis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25a294628f147d5"/>
          <a:stretch xmlns:a="http://schemas.openxmlformats.org/drawingml/2006/main"/>
        </p:blipFill>
        <p:spPr>
          <a:xfrm xmlns:a="http://schemas.openxmlformats.org/drawingml/2006/main">
            <a:off x="5334000" y="1744821"/>
            <a:ext cx="6238875" cy="3511233"/>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05b13a925d24ad6"/>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bfa6aa84fc84c39"/>
          <a:stretch xmlns:a="http://schemas.openxmlformats.org/drawingml/2006/main"/>
        </p:blipFill>
        <p:spPr>
          <a:xfrm xmlns:a="http://schemas.openxmlformats.org/drawingml/2006/main">
            <a:off x="1457325" y="6305636"/>
            <a:ext cx="1524000" cy="418928"/>
          </a:xfrm>
          <a:prstGeom xmlns:a="http://schemas.openxmlformats.org/drawingml/2006/main" prst="rect">
            <a:avLst/>
          </a:prstGeom>
        </p:spPr>
      </p:pic>
    </p:spTree>
    <p:extLst>
      <p:ext uri="{BB962C8B-B14F-4D97-AF65-F5344CB8AC3E}">
        <p14:creationId xmlns:p14="http://schemas.microsoft.com/office/powerpoint/2010/main" val="420924910"/>
      </p:ext>
    </p:extLst>
  </p:cSld>
</p:sld>
</file>

<file path=ppt/slides/slide2.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DFDC23A-FDBC-4457-92C2-6A69FB25A89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0A7916-7BBC-4C3C-B0E0-C10C78162064}"/>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0DC3C3B5-676B-42AA-95EB-B601EBF4BD33}"/>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2BC216B6-797B-4B9C-BBB8-FF0056793396}"/>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D6CAD356-AB54-4582-BF32-97A54E2FCB66}"/>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02 / 16</a:t>
            </a:r>
          </a:p>
        </p:txBody>
      </p:sp>
      <p:sp>
        <p:nvSpPr>
          <p:cNvPr id="6" name="">
            <a:extLst xmlns:a="http://schemas.openxmlformats.org/drawingml/2006/main">
              <a:ext uri="{FF2B5EF4-FFF2-40B4-BE49-F238E27FC236}">
                <a16:creationId xmlns:a16="http://schemas.microsoft.com/office/drawing/2014/main" id="{3A1A4144-DB8A-42D4-8F9A-75BEE6F4FBCE}"/>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Retrieval: locate the origin</a:t>
            </a:r>
          </a:p>
        </p:txBody>
      </p:sp>
      <p:sp>
        <p:nvSpPr>
          <p:cNvPr id="7" name="">
            <a:extLst xmlns:a="http://schemas.openxmlformats.org/drawingml/2006/main">
              <a:ext uri="{FF2B5EF4-FFF2-40B4-BE49-F238E27FC236}">
                <a16:creationId xmlns:a16="http://schemas.microsoft.com/office/drawing/2014/main" id="{15DDA6B1-3C4F-468E-9AAC-88BBAF868112}"/>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A failed final test may reflect an earlier assembly operation.</a:t>
            </a:r>
          </a:p>
        </p:txBody>
      </p:sp>
      <p:sp>
        <p:nvSpPr>
          <p:cNvPr id="8" name="">
            <a:extLst xmlns:a="http://schemas.openxmlformats.org/drawingml/2006/main">
              <a:ext uri="{FF2B5EF4-FFF2-40B4-BE49-F238E27FC236}">
                <a16:creationId xmlns:a16="http://schemas.microsoft.com/office/drawing/2014/main" id="{554C5DE1-0AFD-444D-AFE6-9BB3B1F97070}"/>
              </a:ext>
            </a:extLst>
          </p:cNvPr>
          <p:cNvSpPr>
            <a:spLocks xmlns:a="http://schemas.openxmlformats.org/drawingml/2006/main" noGrp="1"/>
          </p:cNvSpPr>
          <p:nvPr/>
        </p:nvSpPr>
        <p:spPr>
          <a:xfrm xmlns:a="http://schemas.openxmlformats.org/drawingml/2006/main">
            <a:off x="1000125" y="3190875"/>
            <a:ext cx="10096500" cy="0"/>
          </a:xfrm>
          <a:prstGeom xmlns:a="http://schemas.openxmlformats.org/drawingml/2006/main" prst="line">
            <a:avLst/>
          </a:prstGeom>
          <a:noFill xmlns:a="http://schemas.openxmlformats.org/drawingml/2006/main"/>
          <a:ln xmlns:a="http://schemas.openxmlformats.org/drawingml/2006/main" w="38100">
            <a:solidFill>
              <a:srgbClr val="B9B3AC"/>
            </a:solidFill>
          </a:ln>
        </p:spPr>
      </p:sp>
      <p:sp>
        <p:nvSpPr>
          <p:cNvPr id="9" name="">
            <a:extLst xmlns:a="http://schemas.openxmlformats.org/drawingml/2006/main">
              <a:ext uri="{FF2B5EF4-FFF2-40B4-BE49-F238E27FC236}">
                <a16:creationId xmlns:a16="http://schemas.microsoft.com/office/drawing/2014/main" id="{2030D7C6-F7D6-4200-AD44-3E81BE99CA25}"/>
              </a:ext>
            </a:extLst>
          </p:cNvPr>
          <p:cNvSpPr>
            <a:spLocks xmlns:a="http://schemas.openxmlformats.org/drawingml/2006/main" noGrp="1"/>
          </p:cNvSpPr>
          <p:nvPr/>
        </p:nvSpPr>
        <p:spPr>
          <a:xfrm xmlns:a="http://schemas.openxmlformats.org/drawingml/2006/main">
            <a:off x="2282825" y="2790825"/>
            <a:ext cx="800100" cy="800100"/>
          </a:xfrm>
          <a:prstGeom xmlns:a="http://schemas.openxmlformats.org/drawingml/2006/main" prst="ellipse">
            <a:avLst/>
          </a:prstGeom>
          <a:solidFill xmlns:a="http://schemas.openxmlformats.org/drawingml/2006/main">
            <a:srgbClr val="12233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304D54D-76A3-474C-B331-04F5B120A65E}"/>
              </a:ext>
            </a:extLst>
          </p:cNvPr>
          <p:cNvSpPr>
            <a:spLocks xmlns:a="http://schemas.openxmlformats.org/drawingml/2006/main" noGrp="1"/>
          </p:cNvSpPr>
          <p:nvPr/>
        </p:nvSpPr>
        <p:spPr>
          <a:xfrm xmlns:a="http://schemas.openxmlformats.org/drawingml/2006/main">
            <a:off x="2282825" y="2790825"/>
            <a:ext cx="800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1">
                <a:solidFill>
                  <a:srgbClr val="FFFFFF"/>
                </a:solidFill>
                <a:latin typeface="Arial"/>
                <a:ea typeface="Arial"/>
                <a:cs typeface="Arial"/>
              </a:defRPr>
            </a:pPr>
            <a:r>
              <a:rPr sz="2850"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92319CA6-7C1E-4C9B-8636-ADB417A84CF4}"/>
              </a:ext>
            </a:extLst>
          </p:cNvPr>
          <p:cNvSpPr>
            <a:spLocks xmlns:a="http://schemas.openxmlformats.org/drawingml/2006/main" noGrp="1"/>
          </p:cNvSpPr>
          <p:nvPr/>
        </p:nvSpPr>
        <p:spPr>
          <a:xfrm xmlns:a="http://schemas.openxmlformats.org/drawingml/2006/main">
            <a:off x="1269365" y="3743325"/>
            <a:ext cx="282702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12233F"/>
                </a:solidFill>
                <a:latin typeface="Arial"/>
                <a:ea typeface="Arial"/>
                <a:cs typeface="Arial"/>
              </a:defRPr>
            </a:pPr>
            <a:r>
              <a:rPr sz="1725" b="1">
                <a:solidFill>
                  <a:srgbClr val="12233F"/>
                </a:solidFill>
                <a:latin typeface="Arial"/>
                <a:ea typeface="Arial"/>
                <a:cs typeface="Arial"/>
              </a:rPr>
              <a:t>final fail</a:t>
            </a:r>
          </a:p>
        </p:txBody>
      </p:sp>
      <p:sp>
        <p:nvSpPr>
          <p:cNvPr id="12" name="">
            <a:extLst xmlns:a="http://schemas.openxmlformats.org/drawingml/2006/main">
              <a:ext uri="{FF2B5EF4-FFF2-40B4-BE49-F238E27FC236}">
                <a16:creationId xmlns:a16="http://schemas.microsoft.com/office/drawing/2014/main" id="{EDC1A6BC-6AAC-4EF6-84DF-25140158E188}"/>
              </a:ext>
            </a:extLst>
          </p:cNvPr>
          <p:cNvSpPr>
            <a:spLocks xmlns:a="http://schemas.openxmlformats.org/drawingml/2006/main" noGrp="1"/>
          </p:cNvSpPr>
          <p:nvPr/>
        </p:nvSpPr>
        <p:spPr>
          <a:xfrm xmlns:a="http://schemas.openxmlformats.org/drawingml/2006/main">
            <a:off x="5648325" y="2790825"/>
            <a:ext cx="800100" cy="800100"/>
          </a:xfrm>
          <a:prstGeom xmlns:a="http://schemas.openxmlformats.org/drawingml/2006/main" prst="ellipse">
            <a:avLst/>
          </a:prstGeom>
          <a:solidFill xmlns:a="http://schemas.openxmlformats.org/drawingml/2006/main">
            <a:srgbClr val="12233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625066C-66FA-4019-926A-D9C630AF6E79}"/>
              </a:ext>
            </a:extLst>
          </p:cNvPr>
          <p:cNvSpPr>
            <a:spLocks xmlns:a="http://schemas.openxmlformats.org/drawingml/2006/main" noGrp="1"/>
          </p:cNvSpPr>
          <p:nvPr/>
        </p:nvSpPr>
        <p:spPr>
          <a:xfrm xmlns:a="http://schemas.openxmlformats.org/drawingml/2006/main">
            <a:off x="5648325" y="2790825"/>
            <a:ext cx="800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1">
                <a:solidFill>
                  <a:srgbClr val="FFFFFF"/>
                </a:solidFill>
                <a:latin typeface="Arial"/>
                <a:ea typeface="Arial"/>
                <a:cs typeface="Arial"/>
              </a:defRPr>
            </a:pPr>
            <a:r>
              <a:rPr sz="2850"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802AB08C-2B96-49FB-BEBC-7832713939E3}"/>
              </a:ext>
            </a:extLst>
          </p:cNvPr>
          <p:cNvSpPr>
            <a:spLocks xmlns:a="http://schemas.openxmlformats.org/drawingml/2006/main" noGrp="1"/>
          </p:cNvSpPr>
          <p:nvPr/>
        </p:nvSpPr>
        <p:spPr>
          <a:xfrm xmlns:a="http://schemas.openxmlformats.org/drawingml/2006/main">
            <a:off x="4634865" y="3743325"/>
            <a:ext cx="282702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12233F"/>
                </a:solidFill>
                <a:latin typeface="Arial"/>
                <a:ea typeface="Arial"/>
                <a:cs typeface="Arial"/>
              </a:defRPr>
            </a:pPr>
            <a:r>
              <a:rPr sz="1725" b="1">
                <a:solidFill>
                  <a:srgbClr val="12233F"/>
                </a:solidFill>
                <a:latin typeface="Arial"/>
                <a:ea typeface="Arial"/>
                <a:cs typeface="Arial"/>
              </a:rPr>
              <a:t>inspection record</a:t>
            </a:r>
          </a:p>
        </p:txBody>
      </p:sp>
      <p:sp>
        <p:nvSpPr>
          <p:cNvPr id="15" name="">
            <a:extLst xmlns:a="http://schemas.openxmlformats.org/drawingml/2006/main">
              <a:ext uri="{FF2B5EF4-FFF2-40B4-BE49-F238E27FC236}">
                <a16:creationId xmlns:a16="http://schemas.microsoft.com/office/drawing/2014/main" id="{1DA177FB-AA06-421E-B17A-A8424D00DBF2}"/>
              </a:ext>
            </a:extLst>
          </p:cNvPr>
          <p:cNvSpPr>
            <a:spLocks xmlns:a="http://schemas.openxmlformats.org/drawingml/2006/main" noGrp="1"/>
          </p:cNvSpPr>
          <p:nvPr/>
        </p:nvSpPr>
        <p:spPr>
          <a:xfrm xmlns:a="http://schemas.openxmlformats.org/drawingml/2006/main">
            <a:off x="9013825" y="2790825"/>
            <a:ext cx="800100" cy="8001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07485B2-B25A-4104-B69B-DED8E442788E}"/>
              </a:ext>
            </a:extLst>
          </p:cNvPr>
          <p:cNvSpPr>
            <a:spLocks xmlns:a="http://schemas.openxmlformats.org/drawingml/2006/main" noGrp="1"/>
          </p:cNvSpPr>
          <p:nvPr/>
        </p:nvSpPr>
        <p:spPr>
          <a:xfrm xmlns:a="http://schemas.openxmlformats.org/drawingml/2006/main">
            <a:off x="9013825" y="2790825"/>
            <a:ext cx="800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850" b="1">
                <a:solidFill>
                  <a:srgbClr val="FFFFFF"/>
                </a:solidFill>
                <a:latin typeface="Arial"/>
                <a:ea typeface="Arial"/>
                <a:cs typeface="Arial"/>
              </a:defRPr>
            </a:pPr>
            <a:r>
              <a:rPr sz="2850" b="1">
                <a:solidFill>
                  <a:srgbClr val="FFFFFF"/>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B17ADF0F-D3FE-4591-A4CA-FC8782A70C28}"/>
              </a:ext>
            </a:extLst>
          </p:cNvPr>
          <p:cNvSpPr>
            <a:spLocks xmlns:a="http://schemas.openxmlformats.org/drawingml/2006/main" noGrp="1"/>
          </p:cNvSpPr>
          <p:nvPr/>
        </p:nvSpPr>
        <p:spPr>
          <a:xfrm xmlns:a="http://schemas.openxmlformats.org/drawingml/2006/main">
            <a:off x="8000365" y="3743325"/>
            <a:ext cx="282702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12233F"/>
                </a:solidFill>
                <a:latin typeface="Arial"/>
                <a:ea typeface="Arial"/>
                <a:cs typeface="Arial"/>
              </a:defRPr>
            </a:pPr>
            <a:r>
              <a:rPr sz="1725" b="1">
                <a:solidFill>
                  <a:srgbClr val="12233F"/>
                </a:solidFill>
                <a:latin typeface="Arial"/>
                <a:ea typeface="Arial"/>
                <a:cs typeface="Arial"/>
              </a:rPr>
              <a:t>candidate stage</a:t>
            </a:r>
          </a:p>
        </p:txBody>
      </p:sp>
      <p:sp>
        <p:nvSpPr>
          <p:cNvPr id="18" name="">
            <a:extLst xmlns:a="http://schemas.openxmlformats.org/drawingml/2006/main">
              <a:ext uri="{FF2B5EF4-FFF2-40B4-BE49-F238E27FC236}">
                <a16:creationId xmlns:a16="http://schemas.microsoft.com/office/drawing/2014/main" id="{204106EB-AFE7-4B4C-838B-15E40A2CB38E}"/>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Which H1 gate would narrow the search?</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17216a5a9eb4447"/>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f38d33361dc493e"/>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1436184568"/>
      </p:ext>
    </p:extLst>
  </p:cSld>
</p:sld>
</file>

<file path=ppt/slides/slide3.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73B2BE9-6785-49A9-B95D-CFDCCFA4A5F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289941-5382-45D8-9F56-FD7ED692A18C}"/>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CB7AA830-DC8D-4FFE-8B23-504EA891FFBF}"/>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2E4DCB95-0E75-45CD-8306-F6579F8A57ED}"/>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10084389-41A8-48D7-A676-E305F16824CD}"/>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03 / 16</a:t>
            </a:r>
          </a:p>
        </p:txBody>
      </p:sp>
      <p:sp>
        <p:nvSpPr>
          <p:cNvPr id="6" name="">
            <a:extLst xmlns:a="http://schemas.openxmlformats.org/drawingml/2006/main">
              <a:ext uri="{FF2B5EF4-FFF2-40B4-BE49-F238E27FC236}">
                <a16:creationId xmlns:a16="http://schemas.microsoft.com/office/drawing/2014/main" id="{19D48E00-51DE-4363-8EFB-5A661A72543C}"/>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The H2 evidence product</a:t>
            </a:r>
          </a:p>
        </p:txBody>
      </p:sp>
      <p:sp>
        <p:nvSpPr>
          <p:cNvPr id="7" name="">
            <a:extLst xmlns:a="http://schemas.openxmlformats.org/drawingml/2006/main">
              <a:ext uri="{FF2B5EF4-FFF2-40B4-BE49-F238E27FC236}">
                <a16:creationId xmlns:a16="http://schemas.microsoft.com/office/drawing/2014/main" id="{B192C015-D9B8-428B-9503-133775A77289}"/>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Add one row per credible failure mechanism.</a:t>
            </a:r>
          </a:p>
        </p:txBody>
      </p:sp>
      <p:sp>
        <p:nvSpPr>
          <p:cNvPr id="8" name="">
            <a:extLst xmlns:a="http://schemas.openxmlformats.org/drawingml/2006/main">
              <a:ext uri="{FF2B5EF4-FFF2-40B4-BE49-F238E27FC236}">
                <a16:creationId xmlns:a16="http://schemas.microsoft.com/office/drawing/2014/main" id="{5A12806D-6BD1-4ECF-BF78-9DB7AE9D287E}"/>
              </a:ext>
            </a:extLst>
          </p:cNvPr>
          <p:cNvSpPr>
            <a:spLocks xmlns:a="http://schemas.openxmlformats.org/drawingml/2006/main" noGrp="1"/>
          </p:cNvSpPr>
          <p:nvPr/>
        </p:nvSpPr>
        <p:spPr>
          <a:xfrm xmlns:a="http://schemas.openxmlformats.org/drawingml/2006/main">
            <a:off x="809625" y="3619500"/>
            <a:ext cx="10096500" cy="0"/>
          </a:xfrm>
          <a:prstGeom xmlns:a="http://schemas.openxmlformats.org/drawingml/2006/main" prst="line">
            <a:avLst/>
          </a:prstGeom>
          <a:noFill xmlns:a="http://schemas.openxmlformats.org/drawingml/2006/main"/>
          <a:ln xmlns:a="http://schemas.openxmlformats.org/drawingml/2006/main" w="28575">
            <a:solidFill>
              <a:srgbClr val="420A15"/>
            </a:solidFill>
          </a:ln>
        </p:spPr>
      </p:sp>
      <p:sp>
        <p:nvSpPr>
          <p:cNvPr id="9" name="">
            <a:extLst xmlns:a="http://schemas.openxmlformats.org/drawingml/2006/main">
              <a:ext uri="{FF2B5EF4-FFF2-40B4-BE49-F238E27FC236}">
                <a16:creationId xmlns:a16="http://schemas.microsoft.com/office/drawing/2014/main" id="{60666E35-3D01-4E3B-AB3B-6724C5F39B1D}"/>
              </a:ext>
            </a:extLst>
          </p:cNvPr>
          <p:cNvSpPr>
            <a:spLocks xmlns:a="http://schemas.openxmlformats.org/drawingml/2006/main" noGrp="1"/>
          </p:cNvSpPr>
          <p:nvPr/>
        </p:nvSpPr>
        <p:spPr>
          <a:xfrm xmlns:a="http://schemas.openxmlformats.org/drawingml/2006/main">
            <a:off x="1609725"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18E9E3C-DD68-418E-ABEE-1E32CFFFAABD}"/>
              </a:ext>
            </a:extLst>
          </p:cNvPr>
          <p:cNvSpPr>
            <a:spLocks xmlns:a="http://schemas.openxmlformats.org/drawingml/2006/main" noGrp="1"/>
          </p:cNvSpPr>
          <p:nvPr/>
        </p:nvSpPr>
        <p:spPr>
          <a:xfrm xmlns:a="http://schemas.openxmlformats.org/drawingml/2006/main">
            <a:off x="1609725"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56329B83-5259-42A3-B02B-31EA1ADE21BF}"/>
              </a:ext>
            </a:extLst>
          </p:cNvPr>
          <p:cNvSpPr>
            <a:spLocks xmlns:a="http://schemas.openxmlformats.org/drawingml/2006/main" noGrp="1"/>
          </p:cNvSpPr>
          <p:nvPr/>
        </p:nvSpPr>
        <p:spPr>
          <a:xfrm xmlns:a="http://schemas.openxmlformats.org/drawingml/2006/main">
            <a:off x="893445" y="4019550"/>
            <a:ext cx="19278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12233F"/>
                </a:solidFill>
                <a:latin typeface="Arial"/>
                <a:ea typeface="Arial"/>
                <a:cs typeface="Arial"/>
              </a:defRPr>
            </a:pPr>
            <a:r>
              <a:rPr sz="1500" b="1">
                <a:solidFill>
                  <a:srgbClr val="12233F"/>
                </a:solidFill>
                <a:latin typeface="Arial"/>
                <a:ea typeface="Arial"/>
                <a:cs typeface="Arial"/>
              </a:rPr>
              <a:t>stage</a:t>
            </a:r>
          </a:p>
        </p:txBody>
      </p:sp>
      <p:sp>
        <p:nvSpPr>
          <p:cNvPr id="12" name="">
            <a:extLst xmlns:a="http://schemas.openxmlformats.org/drawingml/2006/main">
              <a:ext uri="{FF2B5EF4-FFF2-40B4-BE49-F238E27FC236}">
                <a16:creationId xmlns:a16="http://schemas.microsoft.com/office/drawing/2014/main" id="{D412CF95-2FA4-4DA9-8AAE-8EDA968A66CA}"/>
              </a:ext>
            </a:extLst>
          </p:cNvPr>
          <p:cNvSpPr>
            <a:spLocks xmlns:a="http://schemas.openxmlformats.org/drawingml/2006/main" noGrp="1"/>
          </p:cNvSpPr>
          <p:nvPr/>
        </p:nvSpPr>
        <p:spPr>
          <a:xfrm xmlns:a="http://schemas.openxmlformats.org/drawingml/2006/main">
            <a:off x="3705225"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64F76C8-333E-4973-A056-A0A10C9DF7FD}"/>
              </a:ext>
            </a:extLst>
          </p:cNvPr>
          <p:cNvSpPr>
            <a:spLocks xmlns:a="http://schemas.openxmlformats.org/drawingml/2006/main" noGrp="1"/>
          </p:cNvSpPr>
          <p:nvPr/>
        </p:nvSpPr>
        <p:spPr>
          <a:xfrm xmlns:a="http://schemas.openxmlformats.org/drawingml/2006/main">
            <a:off x="3705225"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9A0C6279-4B66-48EE-AD7A-3D96E8D4AE5B}"/>
              </a:ext>
            </a:extLst>
          </p:cNvPr>
          <p:cNvSpPr>
            <a:spLocks xmlns:a="http://schemas.openxmlformats.org/drawingml/2006/main" noGrp="1"/>
          </p:cNvSpPr>
          <p:nvPr/>
        </p:nvSpPr>
        <p:spPr>
          <a:xfrm xmlns:a="http://schemas.openxmlformats.org/drawingml/2006/main">
            <a:off x="2988945" y="4019550"/>
            <a:ext cx="19278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12233F"/>
                </a:solidFill>
                <a:latin typeface="Arial"/>
                <a:ea typeface="Arial"/>
                <a:cs typeface="Arial"/>
              </a:defRPr>
            </a:pPr>
            <a:r>
              <a:rPr sz="1500" b="1">
                <a:solidFill>
                  <a:srgbClr val="12233F"/>
                </a:solidFill>
                <a:latin typeface="Arial"/>
                <a:ea typeface="Arial"/>
                <a:cs typeface="Arial"/>
              </a:rPr>
              <a:t>defect</a:t>
            </a:r>
          </a:p>
        </p:txBody>
      </p:sp>
      <p:sp>
        <p:nvSpPr>
          <p:cNvPr id="15" name="">
            <a:extLst xmlns:a="http://schemas.openxmlformats.org/drawingml/2006/main">
              <a:ext uri="{FF2B5EF4-FFF2-40B4-BE49-F238E27FC236}">
                <a16:creationId xmlns:a16="http://schemas.microsoft.com/office/drawing/2014/main" id="{6E7ED660-68F4-40CF-8853-75D9B381F433}"/>
              </a:ext>
            </a:extLst>
          </p:cNvPr>
          <p:cNvSpPr>
            <a:spLocks xmlns:a="http://schemas.openxmlformats.org/drawingml/2006/main" noGrp="1"/>
          </p:cNvSpPr>
          <p:nvPr/>
        </p:nvSpPr>
        <p:spPr>
          <a:xfrm xmlns:a="http://schemas.openxmlformats.org/drawingml/2006/main">
            <a:off x="5800725"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B318D05-D790-45A0-9DE1-EBA0A0440379}"/>
              </a:ext>
            </a:extLst>
          </p:cNvPr>
          <p:cNvSpPr>
            <a:spLocks xmlns:a="http://schemas.openxmlformats.org/drawingml/2006/main" noGrp="1"/>
          </p:cNvSpPr>
          <p:nvPr/>
        </p:nvSpPr>
        <p:spPr>
          <a:xfrm xmlns:a="http://schemas.openxmlformats.org/drawingml/2006/main">
            <a:off x="5800725"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B188B35B-6DF8-4620-8864-CEBE64B2BB53}"/>
              </a:ext>
            </a:extLst>
          </p:cNvPr>
          <p:cNvSpPr>
            <a:spLocks xmlns:a="http://schemas.openxmlformats.org/drawingml/2006/main" noGrp="1"/>
          </p:cNvSpPr>
          <p:nvPr/>
        </p:nvSpPr>
        <p:spPr>
          <a:xfrm xmlns:a="http://schemas.openxmlformats.org/drawingml/2006/main">
            <a:off x="5084445" y="4019550"/>
            <a:ext cx="19278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12233F"/>
                </a:solidFill>
                <a:latin typeface="Arial"/>
                <a:ea typeface="Arial"/>
                <a:cs typeface="Arial"/>
              </a:defRPr>
            </a:pPr>
            <a:r>
              <a:rPr sz="1500" b="1">
                <a:solidFill>
                  <a:srgbClr val="12233F"/>
                </a:solidFill>
                <a:latin typeface="Arial"/>
                <a:ea typeface="Arial"/>
                <a:cs typeface="Arial"/>
              </a:rPr>
              <a:t>observable</a:t>
            </a:r>
          </a:p>
        </p:txBody>
      </p:sp>
      <p:sp>
        <p:nvSpPr>
          <p:cNvPr id="18" name="">
            <a:extLst xmlns:a="http://schemas.openxmlformats.org/drawingml/2006/main">
              <a:ext uri="{FF2B5EF4-FFF2-40B4-BE49-F238E27FC236}">
                <a16:creationId xmlns:a16="http://schemas.microsoft.com/office/drawing/2014/main" id="{633AE455-D4DC-4841-ADFA-5B4E57A9E4C4}"/>
              </a:ext>
            </a:extLst>
          </p:cNvPr>
          <p:cNvSpPr>
            <a:spLocks xmlns:a="http://schemas.openxmlformats.org/drawingml/2006/main" noGrp="1"/>
          </p:cNvSpPr>
          <p:nvPr/>
        </p:nvSpPr>
        <p:spPr>
          <a:xfrm xmlns:a="http://schemas.openxmlformats.org/drawingml/2006/main">
            <a:off x="7896225"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7060407-A619-404C-805C-71992ABE9138}"/>
              </a:ext>
            </a:extLst>
          </p:cNvPr>
          <p:cNvSpPr>
            <a:spLocks xmlns:a="http://schemas.openxmlformats.org/drawingml/2006/main" noGrp="1"/>
          </p:cNvSpPr>
          <p:nvPr/>
        </p:nvSpPr>
        <p:spPr>
          <a:xfrm xmlns:a="http://schemas.openxmlformats.org/drawingml/2006/main">
            <a:off x="7896225"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B4DC4C30-7D3E-4058-A62B-3F68E9C8F2EE}"/>
              </a:ext>
            </a:extLst>
          </p:cNvPr>
          <p:cNvSpPr>
            <a:spLocks xmlns:a="http://schemas.openxmlformats.org/drawingml/2006/main" noGrp="1"/>
          </p:cNvSpPr>
          <p:nvPr/>
        </p:nvSpPr>
        <p:spPr>
          <a:xfrm xmlns:a="http://schemas.openxmlformats.org/drawingml/2006/main">
            <a:off x="7179945" y="4019550"/>
            <a:ext cx="19278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12233F"/>
                </a:solidFill>
                <a:latin typeface="Arial"/>
                <a:ea typeface="Arial"/>
                <a:cs typeface="Arial"/>
              </a:defRPr>
            </a:pPr>
            <a:r>
              <a:rPr sz="1500" b="1">
                <a:solidFill>
                  <a:srgbClr val="12233F"/>
                </a:solidFill>
                <a:latin typeface="Arial"/>
                <a:ea typeface="Arial"/>
                <a:cs typeface="Arial"/>
              </a:rPr>
              <a:t>method</a:t>
            </a:r>
          </a:p>
        </p:txBody>
      </p:sp>
      <p:sp>
        <p:nvSpPr>
          <p:cNvPr id="21" name="">
            <a:extLst xmlns:a="http://schemas.openxmlformats.org/drawingml/2006/main">
              <a:ext uri="{FF2B5EF4-FFF2-40B4-BE49-F238E27FC236}">
                <a16:creationId xmlns:a16="http://schemas.microsoft.com/office/drawing/2014/main" id="{6E147983-63EA-48B9-815C-CC6990D62A7B}"/>
              </a:ext>
            </a:extLst>
          </p:cNvPr>
          <p:cNvSpPr>
            <a:spLocks xmlns:a="http://schemas.openxmlformats.org/drawingml/2006/main" noGrp="1"/>
          </p:cNvSpPr>
          <p:nvPr/>
        </p:nvSpPr>
        <p:spPr>
          <a:xfrm xmlns:a="http://schemas.openxmlformats.org/drawingml/2006/main">
            <a:off x="9991725"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8B7C04F-3055-4459-AD60-24D047C1BD52}"/>
              </a:ext>
            </a:extLst>
          </p:cNvPr>
          <p:cNvSpPr>
            <a:spLocks xmlns:a="http://schemas.openxmlformats.org/drawingml/2006/main" noGrp="1"/>
          </p:cNvSpPr>
          <p:nvPr/>
        </p:nvSpPr>
        <p:spPr>
          <a:xfrm xmlns:a="http://schemas.openxmlformats.org/drawingml/2006/main">
            <a:off x="9991725"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5</a:t>
            </a:r>
          </a:p>
        </p:txBody>
      </p:sp>
      <p:sp>
        <p:nvSpPr>
          <p:cNvPr id="23" name="">
            <a:extLst xmlns:a="http://schemas.openxmlformats.org/drawingml/2006/main">
              <a:ext uri="{FF2B5EF4-FFF2-40B4-BE49-F238E27FC236}">
                <a16:creationId xmlns:a16="http://schemas.microsoft.com/office/drawing/2014/main" id="{6BA4ED72-0633-4044-9378-1B861E35AB69}"/>
              </a:ext>
            </a:extLst>
          </p:cNvPr>
          <p:cNvSpPr>
            <a:spLocks xmlns:a="http://schemas.openxmlformats.org/drawingml/2006/main" noGrp="1"/>
          </p:cNvSpPr>
          <p:nvPr/>
        </p:nvSpPr>
        <p:spPr>
          <a:xfrm xmlns:a="http://schemas.openxmlformats.org/drawingml/2006/main">
            <a:off x="9275445" y="4019550"/>
            <a:ext cx="19278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12233F"/>
                </a:solidFill>
                <a:latin typeface="Arial"/>
                <a:ea typeface="Arial"/>
                <a:cs typeface="Arial"/>
              </a:defRPr>
            </a:pPr>
            <a:r>
              <a:rPr sz="1500" b="1">
                <a:solidFill>
                  <a:srgbClr val="12233F"/>
                </a:solidFill>
                <a:latin typeface="Arial"/>
                <a:ea typeface="Arial"/>
                <a:cs typeface="Arial"/>
              </a:rPr>
              <a:t>decision</a:t>
            </a:r>
          </a:p>
        </p:txBody>
      </p:sp>
      <p:sp>
        <p:nvSpPr>
          <p:cNvPr id="24" name="">
            <a:extLst xmlns:a="http://schemas.openxmlformats.org/drawingml/2006/main">
              <a:ext uri="{FF2B5EF4-FFF2-40B4-BE49-F238E27FC236}">
                <a16:creationId xmlns:a16="http://schemas.microsoft.com/office/drawing/2014/main" id="{80E32532-0E07-42E1-8F2C-42EE04E36071}"/>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What must be measurable in the row?</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b4b785aaa9f840e2"/>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c625339a51a44196"/>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662133207"/>
      </p:ext>
    </p:extLst>
  </p:cSld>
</p:sld>
</file>

<file path=ppt/slides/slide4.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10889DF0-1B84-42D9-A21E-ACF90488505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B40638-69C7-4659-816D-FC93345C3DDC}"/>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1AB7DCD3-9B5B-494D-8C8C-EE616F0F7C9D}"/>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3090718E-53A6-420B-A2C5-BCF706BBD1ED}"/>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2A8851C5-1AF3-40E0-8391-96BAB18B00BB}"/>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04 / 16</a:t>
            </a:r>
          </a:p>
        </p:txBody>
      </p:sp>
      <p:sp>
        <p:nvSpPr>
          <p:cNvPr id="6" name="">
            <a:extLst xmlns:a="http://schemas.openxmlformats.org/drawingml/2006/main">
              <a:ext uri="{FF2B5EF4-FFF2-40B4-BE49-F238E27FC236}">
                <a16:creationId xmlns:a16="http://schemas.microsoft.com/office/drawing/2014/main" id="{D9E050E9-2194-43EC-97DD-BE2838948E24}"/>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Four observation classes</a:t>
            </a:r>
          </a:p>
        </p:txBody>
      </p:sp>
      <p:sp>
        <p:nvSpPr>
          <p:cNvPr id="7" name="">
            <a:extLst xmlns:a="http://schemas.openxmlformats.org/drawingml/2006/main">
              <a:ext uri="{FF2B5EF4-FFF2-40B4-BE49-F238E27FC236}">
                <a16:creationId xmlns:a16="http://schemas.microsoft.com/office/drawing/2014/main" id="{13DCB961-EED5-4C55-A648-946E1ACF2212}"/>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Geometry, interface integrity, continuity, and function differ.</a:t>
            </a:r>
          </a:p>
        </p:txBody>
      </p:sp>
      <p:sp>
        <p:nvSpPr>
          <p:cNvPr id="8" name="">
            <a:extLst xmlns:a="http://schemas.openxmlformats.org/drawingml/2006/main">
              <a:ext uri="{FF2B5EF4-FFF2-40B4-BE49-F238E27FC236}">
                <a16:creationId xmlns:a16="http://schemas.microsoft.com/office/drawing/2014/main" id="{0F07051B-DE20-4066-B75D-AFD0AA3BA405}"/>
              </a:ext>
            </a:extLst>
          </p:cNvPr>
          <p:cNvSpPr>
            <a:spLocks xmlns:a="http://schemas.openxmlformats.org/drawingml/2006/main" noGrp="1"/>
          </p:cNvSpPr>
          <p:nvPr/>
        </p:nvSpPr>
        <p:spPr>
          <a:xfrm xmlns:a="http://schemas.openxmlformats.org/drawingml/2006/main">
            <a:off x="685800" y="2571750"/>
            <a:ext cx="2690813" cy="619125"/>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894CC56-E8E1-4CD7-9966-E50AFCF5D3C1}"/>
              </a:ext>
            </a:extLst>
          </p:cNvPr>
          <p:cNvSpPr>
            <a:spLocks xmlns:a="http://schemas.openxmlformats.org/drawingml/2006/main" noGrp="1"/>
          </p:cNvSpPr>
          <p:nvPr/>
        </p:nvSpPr>
        <p:spPr>
          <a:xfrm xmlns:a="http://schemas.openxmlformats.org/drawingml/2006/main">
            <a:off x="781050" y="2638425"/>
            <a:ext cx="25003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geometry</a:t>
            </a:r>
          </a:p>
        </p:txBody>
      </p:sp>
      <p:sp>
        <p:nvSpPr>
          <p:cNvPr id="10" name="">
            <a:extLst xmlns:a="http://schemas.openxmlformats.org/drawingml/2006/main">
              <a:ext uri="{FF2B5EF4-FFF2-40B4-BE49-F238E27FC236}">
                <a16:creationId xmlns:a16="http://schemas.microsoft.com/office/drawing/2014/main" id="{7B36155F-57DD-4511-B28F-367F61561F46}"/>
              </a:ext>
            </a:extLst>
          </p:cNvPr>
          <p:cNvSpPr>
            <a:spLocks xmlns:a="http://schemas.openxmlformats.org/drawingml/2006/main" noGrp="1"/>
          </p:cNvSpPr>
          <p:nvPr/>
        </p:nvSpPr>
        <p:spPr>
          <a:xfrm xmlns:a="http://schemas.openxmlformats.org/drawingml/2006/main">
            <a:off x="3376613" y="2571750"/>
            <a:ext cx="2690813" cy="61912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D8F3E5-242E-4CCA-B283-7A74931CE07B}"/>
              </a:ext>
            </a:extLst>
          </p:cNvPr>
          <p:cNvSpPr>
            <a:spLocks xmlns:a="http://schemas.openxmlformats.org/drawingml/2006/main" noGrp="1"/>
          </p:cNvSpPr>
          <p:nvPr/>
        </p:nvSpPr>
        <p:spPr>
          <a:xfrm xmlns:a="http://schemas.openxmlformats.org/drawingml/2006/main">
            <a:off x="3471863" y="2638425"/>
            <a:ext cx="25003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internal interface</a:t>
            </a:r>
          </a:p>
        </p:txBody>
      </p:sp>
      <p:sp>
        <p:nvSpPr>
          <p:cNvPr id="12" name="">
            <a:extLst xmlns:a="http://schemas.openxmlformats.org/drawingml/2006/main">
              <a:ext uri="{FF2B5EF4-FFF2-40B4-BE49-F238E27FC236}">
                <a16:creationId xmlns:a16="http://schemas.microsoft.com/office/drawing/2014/main" id="{C3167844-E09A-4EDE-A76C-DD1926334EB1}"/>
              </a:ext>
            </a:extLst>
          </p:cNvPr>
          <p:cNvSpPr>
            <a:spLocks xmlns:a="http://schemas.openxmlformats.org/drawingml/2006/main" noGrp="1"/>
          </p:cNvSpPr>
          <p:nvPr/>
        </p:nvSpPr>
        <p:spPr>
          <a:xfrm xmlns:a="http://schemas.openxmlformats.org/drawingml/2006/main">
            <a:off x="6067425" y="2571750"/>
            <a:ext cx="2690813" cy="619125"/>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5EAB511-FAB7-44A7-A12B-CC0BE00CDD39}"/>
              </a:ext>
            </a:extLst>
          </p:cNvPr>
          <p:cNvSpPr>
            <a:spLocks xmlns:a="http://schemas.openxmlformats.org/drawingml/2006/main" noGrp="1"/>
          </p:cNvSpPr>
          <p:nvPr/>
        </p:nvSpPr>
        <p:spPr>
          <a:xfrm xmlns:a="http://schemas.openxmlformats.org/drawingml/2006/main">
            <a:off x="6162675" y="2638425"/>
            <a:ext cx="25003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continuity</a:t>
            </a:r>
          </a:p>
        </p:txBody>
      </p:sp>
      <p:sp>
        <p:nvSpPr>
          <p:cNvPr id="14" name="">
            <a:extLst xmlns:a="http://schemas.openxmlformats.org/drawingml/2006/main">
              <a:ext uri="{FF2B5EF4-FFF2-40B4-BE49-F238E27FC236}">
                <a16:creationId xmlns:a16="http://schemas.microsoft.com/office/drawing/2014/main" id="{6D04DBF3-19B6-4D5B-AE35-9C18A1B79244}"/>
              </a:ext>
            </a:extLst>
          </p:cNvPr>
          <p:cNvSpPr>
            <a:spLocks xmlns:a="http://schemas.openxmlformats.org/drawingml/2006/main" noGrp="1"/>
          </p:cNvSpPr>
          <p:nvPr/>
        </p:nvSpPr>
        <p:spPr>
          <a:xfrm xmlns:a="http://schemas.openxmlformats.org/drawingml/2006/main">
            <a:off x="8758238" y="2571750"/>
            <a:ext cx="2690813" cy="61912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1541BB8-35CD-407F-8C71-D9E0574BD0F2}"/>
              </a:ext>
            </a:extLst>
          </p:cNvPr>
          <p:cNvSpPr>
            <a:spLocks xmlns:a="http://schemas.openxmlformats.org/drawingml/2006/main" noGrp="1"/>
          </p:cNvSpPr>
          <p:nvPr/>
        </p:nvSpPr>
        <p:spPr>
          <a:xfrm xmlns:a="http://schemas.openxmlformats.org/drawingml/2006/main">
            <a:off x="8853488" y="2638425"/>
            <a:ext cx="25003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function</a:t>
            </a:r>
          </a:p>
        </p:txBody>
      </p:sp>
      <p:sp>
        <p:nvSpPr>
          <p:cNvPr id="16" name="">
            <a:extLst xmlns:a="http://schemas.openxmlformats.org/drawingml/2006/main">
              <a:ext uri="{FF2B5EF4-FFF2-40B4-BE49-F238E27FC236}">
                <a16:creationId xmlns:a16="http://schemas.microsoft.com/office/drawing/2014/main" id="{F510892C-BBE7-49C6-8EA5-9053CB882E14}"/>
              </a:ext>
            </a:extLst>
          </p:cNvPr>
          <p:cNvSpPr>
            <a:spLocks xmlns:a="http://schemas.openxmlformats.org/drawingml/2006/main" noGrp="1"/>
          </p:cNvSpPr>
          <p:nvPr/>
        </p:nvSpPr>
        <p:spPr>
          <a:xfrm xmlns:a="http://schemas.openxmlformats.org/drawingml/2006/main">
            <a:off x="685800" y="31908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17" name="">
            <a:extLst xmlns:a="http://schemas.openxmlformats.org/drawingml/2006/main">
              <a:ext uri="{FF2B5EF4-FFF2-40B4-BE49-F238E27FC236}">
                <a16:creationId xmlns:a16="http://schemas.microsoft.com/office/drawing/2014/main" id="{1CA146C9-41D4-4FB8-82B5-AB1B62FACB28}"/>
              </a:ext>
            </a:extLst>
          </p:cNvPr>
          <p:cNvSpPr>
            <a:spLocks xmlns:a="http://schemas.openxmlformats.org/drawingml/2006/main" noGrp="1"/>
          </p:cNvSpPr>
          <p:nvPr/>
        </p:nvSpPr>
        <p:spPr>
          <a:xfrm xmlns:a="http://schemas.openxmlformats.org/drawingml/2006/main">
            <a:off x="3376613" y="31908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18" name="">
            <a:extLst xmlns:a="http://schemas.openxmlformats.org/drawingml/2006/main">
              <a:ext uri="{FF2B5EF4-FFF2-40B4-BE49-F238E27FC236}">
                <a16:creationId xmlns:a16="http://schemas.microsoft.com/office/drawing/2014/main" id="{81E71C08-1E0C-4D3A-A9C5-123D89BBB932}"/>
              </a:ext>
            </a:extLst>
          </p:cNvPr>
          <p:cNvSpPr>
            <a:spLocks xmlns:a="http://schemas.openxmlformats.org/drawingml/2006/main" noGrp="1"/>
          </p:cNvSpPr>
          <p:nvPr/>
        </p:nvSpPr>
        <p:spPr>
          <a:xfrm xmlns:a="http://schemas.openxmlformats.org/drawingml/2006/main">
            <a:off x="6067425" y="31908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19" name="">
            <a:extLst xmlns:a="http://schemas.openxmlformats.org/drawingml/2006/main">
              <a:ext uri="{FF2B5EF4-FFF2-40B4-BE49-F238E27FC236}">
                <a16:creationId xmlns:a16="http://schemas.microsoft.com/office/drawing/2014/main" id="{0F202C99-0F49-4625-B45A-1D9DD2484873}"/>
              </a:ext>
            </a:extLst>
          </p:cNvPr>
          <p:cNvSpPr>
            <a:spLocks xmlns:a="http://schemas.openxmlformats.org/drawingml/2006/main" noGrp="1"/>
          </p:cNvSpPr>
          <p:nvPr/>
        </p:nvSpPr>
        <p:spPr>
          <a:xfrm xmlns:a="http://schemas.openxmlformats.org/drawingml/2006/main">
            <a:off x="8758238" y="31908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0" name="">
            <a:extLst xmlns:a="http://schemas.openxmlformats.org/drawingml/2006/main">
              <a:ext uri="{FF2B5EF4-FFF2-40B4-BE49-F238E27FC236}">
                <a16:creationId xmlns:a16="http://schemas.microsoft.com/office/drawing/2014/main" id="{C690B474-F333-480D-A440-83FF5FEEBF38}"/>
              </a:ext>
            </a:extLst>
          </p:cNvPr>
          <p:cNvSpPr>
            <a:spLocks xmlns:a="http://schemas.openxmlformats.org/drawingml/2006/main" noGrp="1"/>
          </p:cNvSpPr>
          <p:nvPr/>
        </p:nvSpPr>
        <p:spPr>
          <a:xfrm xmlns:a="http://schemas.openxmlformats.org/drawingml/2006/main">
            <a:off x="685800" y="38766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1" name="">
            <a:extLst xmlns:a="http://schemas.openxmlformats.org/drawingml/2006/main">
              <a:ext uri="{FF2B5EF4-FFF2-40B4-BE49-F238E27FC236}">
                <a16:creationId xmlns:a16="http://schemas.microsoft.com/office/drawing/2014/main" id="{F2218C95-BF0B-4F65-AD7B-1655F8B693A4}"/>
              </a:ext>
            </a:extLst>
          </p:cNvPr>
          <p:cNvSpPr>
            <a:spLocks xmlns:a="http://schemas.openxmlformats.org/drawingml/2006/main" noGrp="1"/>
          </p:cNvSpPr>
          <p:nvPr/>
        </p:nvSpPr>
        <p:spPr>
          <a:xfrm xmlns:a="http://schemas.openxmlformats.org/drawingml/2006/main">
            <a:off x="3376613" y="38766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2" name="">
            <a:extLst xmlns:a="http://schemas.openxmlformats.org/drawingml/2006/main">
              <a:ext uri="{FF2B5EF4-FFF2-40B4-BE49-F238E27FC236}">
                <a16:creationId xmlns:a16="http://schemas.microsoft.com/office/drawing/2014/main" id="{A7F0A413-BD64-4777-997E-4ACF9FA750ED}"/>
              </a:ext>
            </a:extLst>
          </p:cNvPr>
          <p:cNvSpPr>
            <a:spLocks xmlns:a="http://schemas.openxmlformats.org/drawingml/2006/main" noGrp="1"/>
          </p:cNvSpPr>
          <p:nvPr/>
        </p:nvSpPr>
        <p:spPr>
          <a:xfrm xmlns:a="http://schemas.openxmlformats.org/drawingml/2006/main">
            <a:off x="6067425" y="38766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3" name="">
            <a:extLst xmlns:a="http://schemas.openxmlformats.org/drawingml/2006/main">
              <a:ext uri="{FF2B5EF4-FFF2-40B4-BE49-F238E27FC236}">
                <a16:creationId xmlns:a16="http://schemas.microsoft.com/office/drawing/2014/main" id="{7CE7961F-7A17-4D93-9009-5528753EEF66}"/>
              </a:ext>
            </a:extLst>
          </p:cNvPr>
          <p:cNvSpPr>
            <a:spLocks xmlns:a="http://schemas.openxmlformats.org/drawingml/2006/main" noGrp="1"/>
          </p:cNvSpPr>
          <p:nvPr/>
        </p:nvSpPr>
        <p:spPr>
          <a:xfrm xmlns:a="http://schemas.openxmlformats.org/drawingml/2006/main">
            <a:off x="8758238" y="38766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4" name="">
            <a:extLst xmlns:a="http://schemas.openxmlformats.org/drawingml/2006/main">
              <a:ext uri="{FF2B5EF4-FFF2-40B4-BE49-F238E27FC236}">
                <a16:creationId xmlns:a16="http://schemas.microsoft.com/office/drawing/2014/main" id="{E56BCB24-963D-43B1-824E-44BDC656B4A4}"/>
              </a:ext>
            </a:extLst>
          </p:cNvPr>
          <p:cNvSpPr>
            <a:spLocks xmlns:a="http://schemas.openxmlformats.org/drawingml/2006/main" noGrp="1"/>
          </p:cNvSpPr>
          <p:nvPr/>
        </p:nvSpPr>
        <p:spPr>
          <a:xfrm xmlns:a="http://schemas.openxmlformats.org/drawingml/2006/main">
            <a:off x="685800" y="45624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5" name="">
            <a:extLst xmlns:a="http://schemas.openxmlformats.org/drawingml/2006/main">
              <a:ext uri="{FF2B5EF4-FFF2-40B4-BE49-F238E27FC236}">
                <a16:creationId xmlns:a16="http://schemas.microsoft.com/office/drawing/2014/main" id="{2C726E96-B2C2-4FAF-8054-B2673495C7D3}"/>
              </a:ext>
            </a:extLst>
          </p:cNvPr>
          <p:cNvSpPr>
            <a:spLocks xmlns:a="http://schemas.openxmlformats.org/drawingml/2006/main" noGrp="1"/>
          </p:cNvSpPr>
          <p:nvPr/>
        </p:nvSpPr>
        <p:spPr>
          <a:xfrm xmlns:a="http://schemas.openxmlformats.org/drawingml/2006/main">
            <a:off x="3376613" y="45624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6" name="">
            <a:extLst xmlns:a="http://schemas.openxmlformats.org/drawingml/2006/main">
              <a:ext uri="{FF2B5EF4-FFF2-40B4-BE49-F238E27FC236}">
                <a16:creationId xmlns:a16="http://schemas.microsoft.com/office/drawing/2014/main" id="{B18CA38B-9F82-4E3A-A798-812F0FEFEE2E}"/>
              </a:ext>
            </a:extLst>
          </p:cNvPr>
          <p:cNvSpPr>
            <a:spLocks xmlns:a="http://schemas.openxmlformats.org/drawingml/2006/main" noGrp="1"/>
          </p:cNvSpPr>
          <p:nvPr/>
        </p:nvSpPr>
        <p:spPr>
          <a:xfrm xmlns:a="http://schemas.openxmlformats.org/drawingml/2006/main">
            <a:off x="6067425" y="45624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7" name="">
            <a:extLst xmlns:a="http://schemas.openxmlformats.org/drawingml/2006/main">
              <a:ext uri="{FF2B5EF4-FFF2-40B4-BE49-F238E27FC236}">
                <a16:creationId xmlns:a16="http://schemas.microsoft.com/office/drawing/2014/main" id="{584B6257-237D-4235-BD1B-3E85F6C87E30}"/>
              </a:ext>
            </a:extLst>
          </p:cNvPr>
          <p:cNvSpPr>
            <a:spLocks xmlns:a="http://schemas.openxmlformats.org/drawingml/2006/main" noGrp="1"/>
          </p:cNvSpPr>
          <p:nvPr/>
        </p:nvSpPr>
        <p:spPr>
          <a:xfrm xmlns:a="http://schemas.openxmlformats.org/drawingml/2006/main">
            <a:off x="8758238" y="4562475"/>
            <a:ext cx="2690813" cy="6858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8" name="">
            <a:extLst xmlns:a="http://schemas.openxmlformats.org/drawingml/2006/main">
              <a:ext uri="{FF2B5EF4-FFF2-40B4-BE49-F238E27FC236}">
                <a16:creationId xmlns:a16="http://schemas.microsoft.com/office/drawing/2014/main" id="{E9BB61A2-445C-40A2-BA2A-6D6569215201}"/>
              </a:ext>
            </a:extLst>
          </p:cNvPr>
          <p:cNvSpPr>
            <a:spLocks xmlns:a="http://schemas.openxmlformats.org/drawingml/2006/main" noGrp="1"/>
          </p:cNvSpPr>
          <p:nvPr/>
        </p:nvSpPr>
        <p:spPr>
          <a:xfrm xmlns:a="http://schemas.openxmlformats.org/drawingml/2006/main">
            <a:off x="771525" y="32099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loop height</a:t>
            </a:r>
          </a:p>
        </p:txBody>
      </p:sp>
      <p:sp>
        <p:nvSpPr>
          <p:cNvPr id="29" name="">
            <a:extLst xmlns:a="http://schemas.openxmlformats.org/drawingml/2006/main">
              <a:ext uri="{FF2B5EF4-FFF2-40B4-BE49-F238E27FC236}">
                <a16:creationId xmlns:a16="http://schemas.microsoft.com/office/drawing/2014/main" id="{329B19C6-2746-464C-A418-B04424AE8D6D}"/>
              </a:ext>
            </a:extLst>
          </p:cNvPr>
          <p:cNvSpPr>
            <a:spLocks xmlns:a="http://schemas.openxmlformats.org/drawingml/2006/main" noGrp="1"/>
          </p:cNvSpPr>
          <p:nvPr/>
        </p:nvSpPr>
        <p:spPr>
          <a:xfrm xmlns:a="http://schemas.openxmlformats.org/drawingml/2006/main">
            <a:off x="3462338" y="32099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bond gap</a:t>
            </a:r>
          </a:p>
        </p:txBody>
      </p:sp>
      <p:sp>
        <p:nvSpPr>
          <p:cNvPr id="30" name="">
            <a:extLst xmlns:a="http://schemas.openxmlformats.org/drawingml/2006/main">
              <a:ext uri="{FF2B5EF4-FFF2-40B4-BE49-F238E27FC236}">
                <a16:creationId xmlns:a16="http://schemas.microsoft.com/office/drawing/2014/main" id="{49AE303F-0AEB-4CAC-BB51-10DC6069227A}"/>
              </a:ext>
            </a:extLst>
          </p:cNvPr>
          <p:cNvSpPr>
            <a:spLocks xmlns:a="http://schemas.openxmlformats.org/drawingml/2006/main" noGrp="1"/>
          </p:cNvSpPr>
          <p:nvPr/>
        </p:nvSpPr>
        <p:spPr>
          <a:xfrm xmlns:a="http://schemas.openxmlformats.org/drawingml/2006/main">
            <a:off x="6153150" y="32099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open net</a:t>
            </a:r>
          </a:p>
        </p:txBody>
      </p:sp>
      <p:sp>
        <p:nvSpPr>
          <p:cNvPr id="31" name="">
            <a:extLst xmlns:a="http://schemas.openxmlformats.org/drawingml/2006/main">
              <a:ext uri="{FF2B5EF4-FFF2-40B4-BE49-F238E27FC236}">
                <a16:creationId xmlns:a16="http://schemas.microsoft.com/office/drawing/2014/main" id="{68FDA1ED-9E5C-4D34-9E5B-217327BFE69B}"/>
              </a:ext>
            </a:extLst>
          </p:cNvPr>
          <p:cNvSpPr>
            <a:spLocks xmlns:a="http://schemas.openxmlformats.org/drawingml/2006/main" noGrp="1"/>
          </p:cNvSpPr>
          <p:nvPr/>
        </p:nvSpPr>
        <p:spPr>
          <a:xfrm xmlns:a="http://schemas.openxmlformats.org/drawingml/2006/main">
            <a:off x="8843963" y="32099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logic fail</a:t>
            </a:r>
          </a:p>
        </p:txBody>
      </p:sp>
      <p:sp>
        <p:nvSpPr>
          <p:cNvPr id="32" name="">
            <a:extLst xmlns:a="http://schemas.openxmlformats.org/drawingml/2006/main">
              <a:ext uri="{FF2B5EF4-FFF2-40B4-BE49-F238E27FC236}">
                <a16:creationId xmlns:a16="http://schemas.microsoft.com/office/drawing/2014/main" id="{296571D1-E77D-4ACC-99E7-FF2D844EF700}"/>
              </a:ext>
            </a:extLst>
          </p:cNvPr>
          <p:cNvSpPr>
            <a:spLocks xmlns:a="http://schemas.openxmlformats.org/drawingml/2006/main" noGrp="1"/>
          </p:cNvSpPr>
          <p:nvPr/>
        </p:nvSpPr>
        <p:spPr>
          <a:xfrm xmlns:a="http://schemas.openxmlformats.org/drawingml/2006/main">
            <a:off x="771525" y="38957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die edge</a:t>
            </a:r>
          </a:p>
        </p:txBody>
      </p:sp>
      <p:sp>
        <p:nvSpPr>
          <p:cNvPr id="33" name="">
            <a:extLst xmlns:a="http://schemas.openxmlformats.org/drawingml/2006/main">
              <a:ext uri="{FF2B5EF4-FFF2-40B4-BE49-F238E27FC236}">
                <a16:creationId xmlns:a16="http://schemas.microsoft.com/office/drawing/2014/main" id="{09AE2B7D-8519-42E7-B290-252D6EB80013}"/>
              </a:ext>
            </a:extLst>
          </p:cNvPr>
          <p:cNvSpPr>
            <a:spLocks xmlns:a="http://schemas.openxmlformats.org/drawingml/2006/main" noGrp="1"/>
          </p:cNvSpPr>
          <p:nvPr/>
        </p:nvSpPr>
        <p:spPr>
          <a:xfrm xmlns:a="http://schemas.openxmlformats.org/drawingml/2006/main">
            <a:off x="3462338" y="38957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attach void</a:t>
            </a:r>
          </a:p>
        </p:txBody>
      </p:sp>
      <p:sp>
        <p:nvSpPr>
          <p:cNvPr id="34" name="">
            <a:extLst xmlns:a="http://schemas.openxmlformats.org/drawingml/2006/main">
              <a:ext uri="{FF2B5EF4-FFF2-40B4-BE49-F238E27FC236}">
                <a16:creationId xmlns:a16="http://schemas.microsoft.com/office/drawing/2014/main" id="{1A9899FE-7D0C-4B7F-8CC1-583C4C17DB1C}"/>
              </a:ext>
            </a:extLst>
          </p:cNvPr>
          <p:cNvSpPr>
            <a:spLocks xmlns:a="http://schemas.openxmlformats.org/drawingml/2006/main" noGrp="1"/>
          </p:cNvSpPr>
          <p:nvPr/>
        </p:nvSpPr>
        <p:spPr>
          <a:xfrm xmlns:a="http://schemas.openxmlformats.org/drawingml/2006/main">
            <a:off x="6153150" y="38957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short net</a:t>
            </a:r>
          </a:p>
        </p:txBody>
      </p:sp>
      <p:sp>
        <p:nvSpPr>
          <p:cNvPr id="35" name="">
            <a:extLst xmlns:a="http://schemas.openxmlformats.org/drawingml/2006/main">
              <a:ext uri="{FF2B5EF4-FFF2-40B4-BE49-F238E27FC236}">
                <a16:creationId xmlns:a16="http://schemas.microsoft.com/office/drawing/2014/main" id="{1F0E7FCD-F9D1-44A7-B147-AB904A7AC50C}"/>
              </a:ext>
            </a:extLst>
          </p:cNvPr>
          <p:cNvSpPr>
            <a:spLocks xmlns:a="http://schemas.openxmlformats.org/drawingml/2006/main" noGrp="1"/>
          </p:cNvSpPr>
          <p:nvPr/>
        </p:nvSpPr>
        <p:spPr>
          <a:xfrm xmlns:a="http://schemas.openxmlformats.org/drawingml/2006/main">
            <a:off x="8843963" y="38957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timing fail</a:t>
            </a:r>
          </a:p>
        </p:txBody>
      </p:sp>
      <p:sp>
        <p:nvSpPr>
          <p:cNvPr id="36" name="">
            <a:extLst xmlns:a="http://schemas.openxmlformats.org/drawingml/2006/main">
              <a:ext uri="{FF2B5EF4-FFF2-40B4-BE49-F238E27FC236}">
                <a16:creationId xmlns:a16="http://schemas.microsoft.com/office/drawing/2014/main" id="{EEBEC66B-E589-4878-B4D4-432DB4311801}"/>
              </a:ext>
            </a:extLst>
          </p:cNvPr>
          <p:cNvSpPr>
            <a:spLocks xmlns:a="http://schemas.openxmlformats.org/drawingml/2006/main" noGrp="1"/>
          </p:cNvSpPr>
          <p:nvPr/>
        </p:nvSpPr>
        <p:spPr>
          <a:xfrm xmlns:a="http://schemas.openxmlformats.org/drawingml/2006/main">
            <a:off x="771525" y="45815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visible</a:t>
            </a:r>
          </a:p>
        </p:txBody>
      </p:sp>
      <p:sp>
        <p:nvSpPr>
          <p:cNvPr id="37" name="">
            <a:extLst xmlns:a="http://schemas.openxmlformats.org/drawingml/2006/main">
              <a:ext uri="{FF2B5EF4-FFF2-40B4-BE49-F238E27FC236}">
                <a16:creationId xmlns:a16="http://schemas.microsoft.com/office/drawing/2014/main" id="{82C75B4C-0B9F-421F-B117-89E150A879CA}"/>
              </a:ext>
            </a:extLst>
          </p:cNvPr>
          <p:cNvSpPr>
            <a:spLocks xmlns:a="http://schemas.openxmlformats.org/drawingml/2006/main" noGrp="1"/>
          </p:cNvSpPr>
          <p:nvPr/>
        </p:nvSpPr>
        <p:spPr>
          <a:xfrm xmlns:a="http://schemas.openxmlformats.org/drawingml/2006/main">
            <a:off x="3462338" y="45815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buried</a:t>
            </a:r>
          </a:p>
        </p:txBody>
      </p:sp>
      <p:sp>
        <p:nvSpPr>
          <p:cNvPr id="38" name="">
            <a:extLst xmlns:a="http://schemas.openxmlformats.org/drawingml/2006/main">
              <a:ext uri="{FF2B5EF4-FFF2-40B4-BE49-F238E27FC236}">
                <a16:creationId xmlns:a16="http://schemas.microsoft.com/office/drawing/2014/main" id="{3CC37597-7E8B-4621-9613-EC18084770DA}"/>
              </a:ext>
            </a:extLst>
          </p:cNvPr>
          <p:cNvSpPr>
            <a:spLocks xmlns:a="http://schemas.openxmlformats.org/drawingml/2006/main" noGrp="1"/>
          </p:cNvSpPr>
          <p:nvPr/>
        </p:nvSpPr>
        <p:spPr>
          <a:xfrm xmlns:a="http://schemas.openxmlformats.org/drawingml/2006/main">
            <a:off x="6153150" y="45815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electrical</a:t>
            </a:r>
          </a:p>
        </p:txBody>
      </p:sp>
      <p:sp>
        <p:nvSpPr>
          <p:cNvPr id="39" name="">
            <a:extLst xmlns:a="http://schemas.openxmlformats.org/drawingml/2006/main">
              <a:ext uri="{FF2B5EF4-FFF2-40B4-BE49-F238E27FC236}">
                <a16:creationId xmlns:a16="http://schemas.microsoft.com/office/drawing/2014/main" id="{CC3D3D63-CC26-4060-A151-50BA755C6431}"/>
              </a:ext>
            </a:extLst>
          </p:cNvPr>
          <p:cNvSpPr>
            <a:spLocks xmlns:a="http://schemas.openxmlformats.org/drawingml/2006/main" noGrp="1"/>
          </p:cNvSpPr>
          <p:nvPr/>
        </p:nvSpPr>
        <p:spPr>
          <a:xfrm xmlns:a="http://schemas.openxmlformats.org/drawingml/2006/main">
            <a:off x="8843963" y="458152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system</a:t>
            </a:r>
          </a:p>
        </p:txBody>
      </p:sp>
      <p:sp>
        <p:nvSpPr>
          <p:cNvPr id="40" name="">
            <a:extLst xmlns:a="http://schemas.openxmlformats.org/drawingml/2006/main">
              <a:ext uri="{FF2B5EF4-FFF2-40B4-BE49-F238E27FC236}">
                <a16:creationId xmlns:a16="http://schemas.microsoft.com/office/drawing/2014/main" id="{958D43FC-D9FC-49E7-8DDD-FC8A7921A23D}"/>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Where does a visual microscope have a blind spot?</a:t>
            </a:r>
          </a:p>
        </p:txBody>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0ab4b1ac16e741e4"/>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84" name=""/>
          <p:cNvPicPr>
            <a:picLocks xmlns:a="http://schemas.openxmlformats.org/drawingml/2006/main" noChangeAspect="1"/>
          </p:cNvPicPr>
          <p:nvPr/>
        </p:nvPicPr>
        <p:blipFill>
          <a:blip xmlns:r="http://schemas.openxmlformats.org/officeDocument/2006/relationships" xmlns:a="http://schemas.openxmlformats.org/drawingml/2006/main" r:embed="Ra0d7889a6c5f446c"/>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371201225"/>
      </p:ext>
    </p:extLst>
  </p:cSld>
</p:sld>
</file>

<file path=ppt/slides/slide5.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6E8B226-2526-48D8-A50E-98BD2B8DFA8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C15DE7-BFB6-4EFE-B624-7F8FA6DFD227}"/>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387105C0-90DC-4836-BB07-40714ED05DD3}"/>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7F008BFA-5B47-4A70-8DE6-A6DD1DCD7D32}"/>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164A42B5-93FB-42C9-B693-86B5BB5ADF3B}"/>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05 / 16</a:t>
            </a:r>
          </a:p>
        </p:txBody>
      </p:sp>
      <p:sp>
        <p:nvSpPr>
          <p:cNvPr id="6" name="">
            <a:extLst xmlns:a="http://schemas.openxmlformats.org/drawingml/2006/main">
              <a:ext uri="{FF2B5EF4-FFF2-40B4-BE49-F238E27FC236}">
                <a16:creationId xmlns:a16="http://schemas.microsoft.com/office/drawing/2014/main" id="{91105391-789C-470F-AB97-89FDD9E6B256}"/>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Dicing damage is local</a:t>
            </a:r>
          </a:p>
        </p:txBody>
      </p:sp>
      <p:sp>
        <p:nvSpPr>
          <p:cNvPr id="7" name="">
            <a:extLst xmlns:a="http://schemas.openxmlformats.org/drawingml/2006/main">
              <a:ext uri="{FF2B5EF4-FFF2-40B4-BE49-F238E27FC236}">
                <a16:creationId xmlns:a16="http://schemas.microsoft.com/office/drawing/2014/main" id="{C6BDE0DD-BBEC-482A-BA33-AB3565C370F9}"/>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Edge chips and cracks may begin at singulation.</a:t>
            </a:r>
          </a:p>
        </p:txBody>
      </p:sp>
      <p:sp>
        <p:nvSpPr>
          <p:cNvPr id="8" name="">
            <a:extLst xmlns:a="http://schemas.openxmlformats.org/drawingml/2006/main">
              <a:ext uri="{FF2B5EF4-FFF2-40B4-BE49-F238E27FC236}">
                <a16:creationId xmlns:a16="http://schemas.microsoft.com/office/drawing/2014/main" id="{AE16BFEA-4FFD-439D-BC2F-F80B805195F3}"/>
              </a:ext>
            </a:extLst>
          </p:cNvPr>
          <p:cNvSpPr>
            <a:spLocks xmlns:a="http://schemas.openxmlformats.org/drawingml/2006/main" noGrp="1"/>
          </p:cNvSpPr>
          <p:nvPr/>
        </p:nvSpPr>
        <p:spPr>
          <a:xfrm xmlns:a="http://schemas.openxmlformats.org/drawingml/2006/main">
            <a:off x="1381125" y="263842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D49498E-3FD7-441E-ABFA-6ED7371A0347}"/>
              </a:ext>
            </a:extLst>
          </p:cNvPr>
          <p:cNvSpPr>
            <a:spLocks xmlns:a="http://schemas.openxmlformats.org/drawingml/2006/main" noGrp="1"/>
          </p:cNvSpPr>
          <p:nvPr/>
        </p:nvSpPr>
        <p:spPr>
          <a:xfrm xmlns:a="http://schemas.openxmlformats.org/drawingml/2006/main">
            <a:off x="2409825" y="263842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9458CA2-C271-4B8B-85B1-F1B4205F4DFF}"/>
              </a:ext>
            </a:extLst>
          </p:cNvPr>
          <p:cNvSpPr>
            <a:spLocks xmlns:a="http://schemas.openxmlformats.org/drawingml/2006/main" noGrp="1"/>
          </p:cNvSpPr>
          <p:nvPr/>
        </p:nvSpPr>
        <p:spPr>
          <a:xfrm xmlns:a="http://schemas.openxmlformats.org/drawingml/2006/main">
            <a:off x="3438525" y="263842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1B7B058-F086-4A30-BF0A-8A4A96DE0E1D}"/>
              </a:ext>
            </a:extLst>
          </p:cNvPr>
          <p:cNvSpPr>
            <a:spLocks xmlns:a="http://schemas.openxmlformats.org/drawingml/2006/main" noGrp="1"/>
          </p:cNvSpPr>
          <p:nvPr/>
        </p:nvSpPr>
        <p:spPr>
          <a:xfrm xmlns:a="http://schemas.openxmlformats.org/drawingml/2006/main">
            <a:off x="4467225" y="263842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D6C344-7241-4CBD-8ED1-E1A70F903F92}"/>
              </a:ext>
            </a:extLst>
          </p:cNvPr>
          <p:cNvSpPr>
            <a:spLocks xmlns:a="http://schemas.openxmlformats.org/drawingml/2006/main" noGrp="1"/>
          </p:cNvSpPr>
          <p:nvPr/>
        </p:nvSpPr>
        <p:spPr>
          <a:xfrm xmlns:a="http://schemas.openxmlformats.org/drawingml/2006/main">
            <a:off x="5495925" y="263842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A37C496-BAAA-4D69-B44E-C68116B5FC3F}"/>
              </a:ext>
            </a:extLst>
          </p:cNvPr>
          <p:cNvSpPr>
            <a:spLocks xmlns:a="http://schemas.openxmlformats.org/drawingml/2006/main" noGrp="1"/>
          </p:cNvSpPr>
          <p:nvPr/>
        </p:nvSpPr>
        <p:spPr>
          <a:xfrm xmlns:a="http://schemas.openxmlformats.org/drawingml/2006/main">
            <a:off x="6524625" y="263842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E576C90-909E-4895-92C8-F509874A9C10}"/>
              </a:ext>
            </a:extLst>
          </p:cNvPr>
          <p:cNvSpPr>
            <a:spLocks xmlns:a="http://schemas.openxmlformats.org/drawingml/2006/main" noGrp="1"/>
          </p:cNvSpPr>
          <p:nvPr/>
        </p:nvSpPr>
        <p:spPr>
          <a:xfrm xmlns:a="http://schemas.openxmlformats.org/drawingml/2006/main">
            <a:off x="1381125" y="3387090"/>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52720BF-9EB8-41B9-A68B-6229117E6F0B}"/>
              </a:ext>
            </a:extLst>
          </p:cNvPr>
          <p:cNvSpPr>
            <a:spLocks xmlns:a="http://schemas.openxmlformats.org/drawingml/2006/main" noGrp="1"/>
          </p:cNvSpPr>
          <p:nvPr/>
        </p:nvSpPr>
        <p:spPr>
          <a:xfrm xmlns:a="http://schemas.openxmlformats.org/drawingml/2006/main">
            <a:off x="2409825" y="3387090"/>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44ED69B-B095-43F5-AE64-70B88E4D62B4}"/>
              </a:ext>
            </a:extLst>
          </p:cNvPr>
          <p:cNvSpPr>
            <a:spLocks xmlns:a="http://schemas.openxmlformats.org/drawingml/2006/main" noGrp="1"/>
          </p:cNvSpPr>
          <p:nvPr/>
        </p:nvSpPr>
        <p:spPr>
          <a:xfrm xmlns:a="http://schemas.openxmlformats.org/drawingml/2006/main">
            <a:off x="3438525" y="3387090"/>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BC443B7-8E35-49F6-9438-845A1961C2F1}"/>
              </a:ext>
            </a:extLst>
          </p:cNvPr>
          <p:cNvSpPr>
            <a:spLocks xmlns:a="http://schemas.openxmlformats.org/drawingml/2006/main" noGrp="1"/>
          </p:cNvSpPr>
          <p:nvPr/>
        </p:nvSpPr>
        <p:spPr>
          <a:xfrm xmlns:a="http://schemas.openxmlformats.org/drawingml/2006/main">
            <a:off x="4467225" y="3387090"/>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1401C4E-4BF3-40FE-AE79-D8ACBB308009}"/>
              </a:ext>
            </a:extLst>
          </p:cNvPr>
          <p:cNvSpPr>
            <a:spLocks xmlns:a="http://schemas.openxmlformats.org/drawingml/2006/main" noGrp="1"/>
          </p:cNvSpPr>
          <p:nvPr/>
        </p:nvSpPr>
        <p:spPr>
          <a:xfrm xmlns:a="http://schemas.openxmlformats.org/drawingml/2006/main">
            <a:off x="5495925" y="3387090"/>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260D88C-27A1-4E27-8B24-8E3509A2CFDE}"/>
              </a:ext>
            </a:extLst>
          </p:cNvPr>
          <p:cNvSpPr>
            <a:spLocks xmlns:a="http://schemas.openxmlformats.org/drawingml/2006/main" noGrp="1"/>
          </p:cNvSpPr>
          <p:nvPr/>
        </p:nvSpPr>
        <p:spPr>
          <a:xfrm xmlns:a="http://schemas.openxmlformats.org/drawingml/2006/main">
            <a:off x="6524625" y="3387090"/>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2DD80CD-6EC9-49BA-9E01-73E5A09283CB}"/>
              </a:ext>
            </a:extLst>
          </p:cNvPr>
          <p:cNvSpPr>
            <a:spLocks xmlns:a="http://schemas.openxmlformats.org/drawingml/2006/main" noGrp="1"/>
          </p:cNvSpPr>
          <p:nvPr/>
        </p:nvSpPr>
        <p:spPr>
          <a:xfrm xmlns:a="http://schemas.openxmlformats.org/drawingml/2006/main">
            <a:off x="1381125" y="413575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7175814-D19A-490C-9285-F42B03F35FFB}"/>
              </a:ext>
            </a:extLst>
          </p:cNvPr>
          <p:cNvSpPr>
            <a:spLocks xmlns:a="http://schemas.openxmlformats.org/drawingml/2006/main" noGrp="1"/>
          </p:cNvSpPr>
          <p:nvPr/>
        </p:nvSpPr>
        <p:spPr>
          <a:xfrm xmlns:a="http://schemas.openxmlformats.org/drawingml/2006/main">
            <a:off x="2409825" y="413575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9630DAD-E7A7-460E-9DF4-BF269A47F93C}"/>
              </a:ext>
            </a:extLst>
          </p:cNvPr>
          <p:cNvSpPr>
            <a:spLocks xmlns:a="http://schemas.openxmlformats.org/drawingml/2006/main" noGrp="1"/>
          </p:cNvSpPr>
          <p:nvPr/>
        </p:nvSpPr>
        <p:spPr>
          <a:xfrm xmlns:a="http://schemas.openxmlformats.org/drawingml/2006/main">
            <a:off x="3438525" y="413575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7114BBD-B038-430F-A790-513356810623}"/>
              </a:ext>
            </a:extLst>
          </p:cNvPr>
          <p:cNvSpPr>
            <a:spLocks xmlns:a="http://schemas.openxmlformats.org/drawingml/2006/main" noGrp="1"/>
          </p:cNvSpPr>
          <p:nvPr/>
        </p:nvSpPr>
        <p:spPr>
          <a:xfrm xmlns:a="http://schemas.openxmlformats.org/drawingml/2006/main">
            <a:off x="4467225" y="413575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A9E2CD4-A64D-4DC2-9956-B84A05331C39}"/>
              </a:ext>
            </a:extLst>
          </p:cNvPr>
          <p:cNvSpPr>
            <a:spLocks xmlns:a="http://schemas.openxmlformats.org/drawingml/2006/main" noGrp="1"/>
          </p:cNvSpPr>
          <p:nvPr/>
        </p:nvSpPr>
        <p:spPr>
          <a:xfrm xmlns:a="http://schemas.openxmlformats.org/drawingml/2006/main">
            <a:off x="5495925" y="413575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926E7FE-60FD-4FDC-A5B0-3262C9EFCF7B}"/>
              </a:ext>
            </a:extLst>
          </p:cNvPr>
          <p:cNvSpPr>
            <a:spLocks xmlns:a="http://schemas.openxmlformats.org/drawingml/2006/main" noGrp="1"/>
          </p:cNvSpPr>
          <p:nvPr/>
        </p:nvSpPr>
        <p:spPr>
          <a:xfrm xmlns:a="http://schemas.openxmlformats.org/drawingml/2006/main">
            <a:off x="6524625" y="4135755"/>
            <a:ext cx="933450" cy="65341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1B481B8-E800-4ED7-97FE-4F713B7B1669}"/>
              </a:ext>
            </a:extLst>
          </p:cNvPr>
          <p:cNvSpPr>
            <a:spLocks xmlns:a="http://schemas.openxmlformats.org/drawingml/2006/main" noGrp="1"/>
          </p:cNvSpPr>
          <p:nvPr/>
        </p:nvSpPr>
        <p:spPr>
          <a:xfrm xmlns:a="http://schemas.openxmlformats.org/drawingml/2006/main">
            <a:off x="7334250" y="4133850"/>
            <a:ext cx="114300" cy="114300"/>
          </a:xfrm>
          <a:prstGeom xmlns:a="http://schemas.openxmlformats.org/drawingml/2006/main" prst="line">
            <a:avLst/>
          </a:prstGeom>
          <a:noFill xmlns:a="http://schemas.openxmlformats.org/drawingml/2006/main"/>
          <a:ln xmlns:a="http://schemas.openxmlformats.org/drawingml/2006/main" w="47625">
            <a:solidFill>
              <a:srgbClr val="E4002B"/>
            </a:solidFill>
          </a:ln>
        </p:spPr>
      </p:sp>
      <p:sp>
        <p:nvSpPr>
          <p:cNvPr id="27" name="">
            <a:extLst xmlns:a="http://schemas.openxmlformats.org/drawingml/2006/main">
              <a:ext uri="{FF2B5EF4-FFF2-40B4-BE49-F238E27FC236}">
                <a16:creationId xmlns:a16="http://schemas.microsoft.com/office/drawing/2014/main" id="{3A292CC0-9E18-4722-9AB5-35B853DA0B17}"/>
              </a:ext>
            </a:extLst>
          </p:cNvPr>
          <p:cNvSpPr>
            <a:spLocks xmlns:a="http://schemas.openxmlformats.org/drawingml/2006/main" noGrp="1"/>
          </p:cNvSpPr>
          <p:nvPr/>
        </p:nvSpPr>
        <p:spPr>
          <a:xfrm xmlns:a="http://schemas.openxmlformats.org/drawingml/2006/main">
            <a:off x="7448550" y="4248150"/>
            <a:ext cx="0" cy="133350"/>
          </a:xfrm>
          <a:prstGeom xmlns:a="http://schemas.openxmlformats.org/drawingml/2006/main" prst="line">
            <a:avLst/>
          </a:prstGeom>
          <a:noFill xmlns:a="http://schemas.openxmlformats.org/drawingml/2006/main"/>
          <a:ln xmlns:a="http://schemas.openxmlformats.org/drawingml/2006/main" w="47625">
            <a:solidFill>
              <a:srgbClr val="E4002B"/>
            </a:solidFill>
          </a:ln>
        </p:spPr>
      </p:sp>
      <p:sp>
        <p:nvSpPr>
          <p:cNvPr id="28" name="">
            <a:extLst xmlns:a="http://schemas.openxmlformats.org/drawingml/2006/main">
              <a:ext uri="{FF2B5EF4-FFF2-40B4-BE49-F238E27FC236}">
                <a16:creationId xmlns:a16="http://schemas.microsoft.com/office/drawing/2014/main" id="{734EAD72-E764-40A1-A645-04DAC1639ED2}"/>
              </a:ext>
            </a:extLst>
          </p:cNvPr>
          <p:cNvSpPr>
            <a:spLocks xmlns:a="http://schemas.openxmlformats.org/drawingml/2006/main" noGrp="1"/>
          </p:cNvSpPr>
          <p:nvPr/>
        </p:nvSpPr>
        <p:spPr>
          <a:xfrm xmlns:a="http://schemas.openxmlformats.org/drawingml/2006/main">
            <a:off x="7524750" y="2762250"/>
            <a:ext cx="1381125" cy="0"/>
          </a:xfrm>
          <a:prstGeom xmlns:a="http://schemas.openxmlformats.org/drawingml/2006/main" prst="line">
            <a:avLst/>
          </a:prstGeom>
          <a:noFill xmlns:a="http://schemas.openxmlformats.org/drawingml/2006/main"/>
          <a:ln xmlns:a="http://schemas.openxmlformats.org/drawingml/2006/main" w="28575">
            <a:solidFill>
              <a:srgbClr val="E4002B"/>
            </a:solidFill>
          </a:ln>
        </p:spPr>
      </p:sp>
      <p:sp>
        <p:nvSpPr>
          <p:cNvPr id="29" name="">
            <a:extLst xmlns:a="http://schemas.openxmlformats.org/drawingml/2006/main">
              <a:ext uri="{FF2B5EF4-FFF2-40B4-BE49-F238E27FC236}">
                <a16:creationId xmlns:a16="http://schemas.microsoft.com/office/drawing/2014/main" id="{9585B0F4-CFB1-4968-A20F-1D4C770C4021}"/>
              </a:ext>
            </a:extLst>
          </p:cNvPr>
          <p:cNvSpPr>
            <a:spLocks xmlns:a="http://schemas.openxmlformats.org/drawingml/2006/main" noGrp="1"/>
          </p:cNvSpPr>
          <p:nvPr/>
        </p:nvSpPr>
        <p:spPr>
          <a:xfrm xmlns:a="http://schemas.openxmlformats.org/drawingml/2006/main">
            <a:off x="8972550" y="2524125"/>
            <a:ext cx="228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2233F"/>
                </a:solidFill>
                <a:latin typeface="Arial"/>
                <a:ea typeface="Arial"/>
                <a:cs typeface="Arial"/>
              </a:defRPr>
            </a:pPr>
            <a:r>
              <a:rPr sz="1875" b="1">
                <a:solidFill>
                  <a:srgbClr val="12233F"/>
                </a:solidFill>
                <a:latin typeface="Arial"/>
                <a:ea typeface="Arial"/>
                <a:cs typeface="Arial"/>
              </a:rPr>
              <a:t>scribe street</a:t>
            </a:r>
          </a:p>
        </p:txBody>
      </p:sp>
      <p:sp>
        <p:nvSpPr>
          <p:cNvPr id="30" name="">
            <a:extLst xmlns:a="http://schemas.openxmlformats.org/drawingml/2006/main">
              <a:ext uri="{FF2B5EF4-FFF2-40B4-BE49-F238E27FC236}">
                <a16:creationId xmlns:a16="http://schemas.microsoft.com/office/drawing/2014/main" id="{DDCA68B4-C4EB-4CBA-9244-32A6D5778230}"/>
              </a:ext>
            </a:extLst>
          </p:cNvPr>
          <p:cNvSpPr>
            <a:spLocks xmlns:a="http://schemas.openxmlformats.org/drawingml/2006/main" noGrp="1"/>
          </p:cNvSpPr>
          <p:nvPr/>
        </p:nvSpPr>
        <p:spPr>
          <a:xfrm xmlns:a="http://schemas.openxmlformats.org/drawingml/2006/main">
            <a:off x="7524750" y="4438650"/>
            <a:ext cx="1381125" cy="0"/>
          </a:xfrm>
          <a:prstGeom xmlns:a="http://schemas.openxmlformats.org/drawingml/2006/main" prst="line">
            <a:avLst/>
          </a:prstGeom>
          <a:noFill xmlns:a="http://schemas.openxmlformats.org/drawingml/2006/main"/>
          <a:ln xmlns:a="http://schemas.openxmlformats.org/drawingml/2006/main" w="28575">
            <a:solidFill>
              <a:srgbClr val="E4002B"/>
            </a:solidFill>
          </a:ln>
        </p:spPr>
      </p:sp>
      <p:sp>
        <p:nvSpPr>
          <p:cNvPr id="31" name="">
            <a:extLst xmlns:a="http://schemas.openxmlformats.org/drawingml/2006/main">
              <a:ext uri="{FF2B5EF4-FFF2-40B4-BE49-F238E27FC236}">
                <a16:creationId xmlns:a16="http://schemas.microsoft.com/office/drawing/2014/main" id="{B6094BDE-BF06-421D-87E5-80E345C96B8F}"/>
              </a:ext>
            </a:extLst>
          </p:cNvPr>
          <p:cNvSpPr>
            <a:spLocks xmlns:a="http://schemas.openxmlformats.org/drawingml/2006/main" noGrp="1"/>
          </p:cNvSpPr>
          <p:nvPr/>
        </p:nvSpPr>
        <p:spPr>
          <a:xfrm xmlns:a="http://schemas.openxmlformats.org/drawingml/2006/main">
            <a:off x="8972550" y="4219575"/>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E4002B"/>
                </a:solidFill>
                <a:latin typeface="Arial"/>
                <a:ea typeface="Arial"/>
                <a:cs typeface="Arial"/>
              </a:defRPr>
            </a:pPr>
            <a:r>
              <a:rPr sz="1800" b="1">
                <a:solidFill>
                  <a:srgbClr val="E4002B"/>
                </a:solidFill>
                <a:latin typeface="Arial"/>
                <a:ea typeface="Arial"/>
                <a:cs typeface="Arial"/>
              </a:rPr>
              <a:t>possible edge chip</a:t>
            </a:r>
          </a:p>
        </p:txBody>
      </p:sp>
      <p:sp>
        <p:nvSpPr>
          <p:cNvPr id="32" name="">
            <a:extLst xmlns:a="http://schemas.openxmlformats.org/drawingml/2006/main">
              <a:ext uri="{FF2B5EF4-FFF2-40B4-BE49-F238E27FC236}">
                <a16:creationId xmlns:a16="http://schemas.microsoft.com/office/drawing/2014/main" id="{084DF7E9-6698-43A6-B2D1-E3C9B9BE5012}"/>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What would you inspect before placement?</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2608961c77f94d8b"/>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c296c51e29034413"/>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701717808"/>
      </p:ext>
    </p:extLst>
  </p:cSld>
</p:sld>
</file>

<file path=ppt/slides/slide6.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3EF5AEB-4D97-45CD-B298-245CE50B140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CF2B62-A153-4414-9F26-48A5B4192E7F}"/>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8A1E85F4-8223-401B-9309-9B2E4019CA6E}"/>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54CEBBB0-3FF5-40F1-AB3C-14EF1D7E35EC}"/>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34BFEE19-1844-47A2-8910-1BB1A23DB45A}"/>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06 / 16</a:t>
            </a:r>
          </a:p>
        </p:txBody>
      </p:sp>
      <p:sp>
        <p:nvSpPr>
          <p:cNvPr id="6" name="">
            <a:extLst xmlns:a="http://schemas.openxmlformats.org/drawingml/2006/main">
              <a:ext uri="{FF2B5EF4-FFF2-40B4-BE49-F238E27FC236}">
                <a16:creationId xmlns:a16="http://schemas.microsoft.com/office/drawing/2014/main" id="{EC210C21-B0E3-4131-A6C8-7E9FAC4998F7}"/>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Attach voids hide at an interface</a:t>
            </a:r>
          </a:p>
        </p:txBody>
      </p:sp>
      <p:sp>
        <p:nvSpPr>
          <p:cNvPr id="7" name="">
            <a:extLst xmlns:a="http://schemas.openxmlformats.org/drawingml/2006/main">
              <a:ext uri="{FF2B5EF4-FFF2-40B4-BE49-F238E27FC236}">
                <a16:creationId xmlns:a16="http://schemas.microsoft.com/office/drawing/2014/main" id="{8DCD414C-D855-4CDE-8E48-FE2818FEA8B5}"/>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A void can evade surface viewing.</a:t>
            </a:r>
          </a:p>
        </p:txBody>
      </p:sp>
      <p:sp>
        <p:nvSpPr>
          <p:cNvPr id="8" name="">
            <a:extLst xmlns:a="http://schemas.openxmlformats.org/drawingml/2006/main">
              <a:ext uri="{FF2B5EF4-FFF2-40B4-BE49-F238E27FC236}">
                <a16:creationId xmlns:a16="http://schemas.microsoft.com/office/drawing/2014/main" id="{6F095CFF-2731-4FD1-8CA2-226A5A980CAE}"/>
              </a:ext>
            </a:extLst>
          </p:cNvPr>
          <p:cNvSpPr>
            <a:spLocks xmlns:a="http://schemas.openxmlformats.org/drawingml/2006/main" noGrp="1"/>
          </p:cNvSpPr>
          <p:nvPr/>
        </p:nvSpPr>
        <p:spPr>
          <a:xfrm xmlns:a="http://schemas.openxmlformats.org/drawingml/2006/main">
            <a:off x="1952625" y="2828925"/>
            <a:ext cx="7239000" cy="666750"/>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B6017F-AD48-4596-A442-BD2636DDBA99}"/>
              </a:ext>
            </a:extLst>
          </p:cNvPr>
          <p:cNvSpPr>
            <a:spLocks xmlns:a="http://schemas.openxmlformats.org/drawingml/2006/main" noGrp="1"/>
          </p:cNvSpPr>
          <p:nvPr/>
        </p:nvSpPr>
        <p:spPr>
          <a:xfrm xmlns:a="http://schemas.openxmlformats.org/drawingml/2006/main">
            <a:off x="1952625" y="3562350"/>
            <a:ext cx="7239000" cy="495300"/>
          </a:xfrm>
          <a:prstGeom xmlns:a="http://schemas.openxmlformats.org/drawingml/2006/main" prst="rect">
            <a:avLst/>
          </a:prstGeom>
          <a:solidFill xmlns:a="http://schemas.openxmlformats.org/drawingml/2006/main">
            <a:srgbClr val="E8BB5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29AB6FA-FDB5-436B-B066-77C93F31D0C3}"/>
              </a:ext>
            </a:extLst>
          </p:cNvPr>
          <p:cNvSpPr>
            <a:spLocks xmlns:a="http://schemas.openxmlformats.org/drawingml/2006/main" noGrp="1"/>
          </p:cNvSpPr>
          <p:nvPr/>
        </p:nvSpPr>
        <p:spPr>
          <a:xfrm xmlns:a="http://schemas.openxmlformats.org/drawingml/2006/main">
            <a:off x="3333750" y="3638550"/>
            <a:ext cx="1047750" cy="304800"/>
          </a:xfrm>
          <a:prstGeom xmlns:a="http://schemas.openxmlformats.org/drawingml/2006/main" prst="ellipse">
            <a:avLst/>
          </a:prstGeom>
          <a:solidFill xmlns:a="http://schemas.openxmlformats.org/drawingml/2006/main">
            <a:srgbClr val="F8F4EF"/>
          </a:solidFill>
          <a:ln xmlns:a="http://schemas.openxmlformats.org/drawingml/2006/main" w="19050">
            <a:solidFill>
              <a:srgbClr val="420A15"/>
            </a:solidFill>
          </a:ln>
        </p:spPr>
      </p:sp>
      <p:sp>
        <p:nvSpPr>
          <p:cNvPr id="11" name="">
            <a:extLst xmlns:a="http://schemas.openxmlformats.org/drawingml/2006/main">
              <a:ext uri="{FF2B5EF4-FFF2-40B4-BE49-F238E27FC236}">
                <a16:creationId xmlns:a16="http://schemas.microsoft.com/office/drawing/2014/main" id="{81FFF96F-1C77-4301-8AE7-C2FA6219D33C}"/>
              </a:ext>
            </a:extLst>
          </p:cNvPr>
          <p:cNvSpPr>
            <a:spLocks xmlns:a="http://schemas.openxmlformats.org/drawingml/2006/main" noGrp="1"/>
          </p:cNvSpPr>
          <p:nvPr/>
        </p:nvSpPr>
        <p:spPr>
          <a:xfrm xmlns:a="http://schemas.openxmlformats.org/drawingml/2006/main">
            <a:off x="1952625" y="4124325"/>
            <a:ext cx="7239000" cy="800100"/>
          </a:xfrm>
          <a:prstGeom xmlns:a="http://schemas.openxmlformats.org/drawingml/2006/main" prst="rect">
            <a:avLst/>
          </a:prstGeom>
          <a:solidFill xmlns:a="http://schemas.openxmlformats.org/drawingml/2006/main">
            <a:srgbClr val="008D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45C9B7F-CDCF-4406-8A2C-4255AE4785B5}"/>
              </a:ext>
            </a:extLst>
          </p:cNvPr>
          <p:cNvSpPr>
            <a:spLocks xmlns:a="http://schemas.openxmlformats.org/drawingml/2006/main" noGrp="1"/>
          </p:cNvSpPr>
          <p:nvPr/>
        </p:nvSpPr>
        <p:spPr>
          <a:xfrm xmlns:a="http://schemas.openxmlformats.org/drawingml/2006/main">
            <a:off x="9525000" y="28765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2233F"/>
                </a:solidFill>
                <a:latin typeface="Arial"/>
                <a:ea typeface="Arial"/>
                <a:cs typeface="Arial"/>
              </a:defRPr>
            </a:pPr>
            <a:r>
              <a:rPr sz="1875" b="1">
                <a:solidFill>
                  <a:srgbClr val="12233F"/>
                </a:solidFill>
                <a:latin typeface="Arial"/>
                <a:ea typeface="Arial"/>
                <a:cs typeface="Arial"/>
              </a:rPr>
              <a:t>die</a:t>
            </a:r>
          </a:p>
        </p:txBody>
      </p:sp>
      <p:sp>
        <p:nvSpPr>
          <p:cNvPr id="13" name="">
            <a:extLst xmlns:a="http://schemas.openxmlformats.org/drawingml/2006/main">
              <a:ext uri="{FF2B5EF4-FFF2-40B4-BE49-F238E27FC236}">
                <a16:creationId xmlns:a16="http://schemas.microsoft.com/office/drawing/2014/main" id="{5AF27384-35CD-4706-87AA-CC0869A5D577}"/>
              </a:ext>
            </a:extLst>
          </p:cNvPr>
          <p:cNvSpPr>
            <a:spLocks xmlns:a="http://schemas.openxmlformats.org/drawingml/2006/main" noGrp="1"/>
          </p:cNvSpPr>
          <p:nvPr/>
        </p:nvSpPr>
        <p:spPr>
          <a:xfrm xmlns:a="http://schemas.openxmlformats.org/drawingml/2006/main">
            <a:off x="9525000" y="360997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2233F"/>
                </a:solidFill>
                <a:latin typeface="Arial"/>
                <a:ea typeface="Arial"/>
                <a:cs typeface="Arial"/>
              </a:defRPr>
            </a:pPr>
            <a:r>
              <a:rPr sz="1875" b="1">
                <a:solidFill>
                  <a:srgbClr val="12233F"/>
                </a:solidFill>
                <a:latin typeface="Arial"/>
                <a:ea typeface="Arial"/>
                <a:cs typeface="Arial"/>
              </a:rPr>
              <a:t>attach</a:t>
            </a:r>
          </a:p>
        </p:txBody>
      </p:sp>
      <p:sp>
        <p:nvSpPr>
          <p:cNvPr id="14" name="">
            <a:extLst xmlns:a="http://schemas.openxmlformats.org/drawingml/2006/main">
              <a:ext uri="{FF2B5EF4-FFF2-40B4-BE49-F238E27FC236}">
                <a16:creationId xmlns:a16="http://schemas.microsoft.com/office/drawing/2014/main" id="{98DB118C-BE0A-480B-823F-D6D9E35F2BC6}"/>
              </a:ext>
            </a:extLst>
          </p:cNvPr>
          <p:cNvSpPr>
            <a:spLocks xmlns:a="http://schemas.openxmlformats.org/drawingml/2006/main" noGrp="1"/>
          </p:cNvSpPr>
          <p:nvPr/>
        </p:nvSpPr>
        <p:spPr>
          <a:xfrm xmlns:a="http://schemas.openxmlformats.org/drawingml/2006/main">
            <a:off x="9525000" y="426720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2233F"/>
                </a:solidFill>
                <a:latin typeface="Arial"/>
                <a:ea typeface="Arial"/>
                <a:cs typeface="Arial"/>
              </a:defRPr>
            </a:pPr>
            <a:r>
              <a:rPr sz="1875" b="1">
                <a:solidFill>
                  <a:srgbClr val="12233F"/>
                </a:solidFill>
                <a:latin typeface="Arial"/>
                <a:ea typeface="Arial"/>
                <a:cs typeface="Arial"/>
              </a:rPr>
              <a:t>substrate</a:t>
            </a:r>
          </a:p>
        </p:txBody>
      </p:sp>
      <p:sp>
        <p:nvSpPr>
          <p:cNvPr id="15" name="">
            <a:extLst xmlns:a="http://schemas.openxmlformats.org/drawingml/2006/main">
              <a:ext uri="{FF2B5EF4-FFF2-40B4-BE49-F238E27FC236}">
                <a16:creationId xmlns:a16="http://schemas.microsoft.com/office/drawing/2014/main" id="{8AAA6B7F-D521-43B8-8523-D2DEE5EE38F7}"/>
              </a:ext>
            </a:extLst>
          </p:cNvPr>
          <p:cNvSpPr>
            <a:spLocks xmlns:a="http://schemas.openxmlformats.org/drawingml/2006/main" noGrp="1"/>
          </p:cNvSpPr>
          <p:nvPr/>
        </p:nvSpPr>
        <p:spPr>
          <a:xfrm xmlns:a="http://schemas.openxmlformats.org/drawingml/2006/main">
            <a:off x="3857625" y="3819525"/>
            <a:ext cx="5524500" cy="0"/>
          </a:xfrm>
          <a:prstGeom xmlns:a="http://schemas.openxmlformats.org/drawingml/2006/main" prst="line">
            <a:avLst/>
          </a:prstGeom>
          <a:noFill xmlns:a="http://schemas.openxmlformats.org/drawingml/2006/main"/>
          <a:ln xmlns:a="http://schemas.openxmlformats.org/drawingml/2006/main" w="19050">
            <a:solidFill>
              <a:srgbClr val="E4002B"/>
            </a:solidFill>
          </a:ln>
        </p:spPr>
      </p:sp>
      <p:sp>
        <p:nvSpPr>
          <p:cNvPr id="16" name="">
            <a:extLst xmlns:a="http://schemas.openxmlformats.org/drawingml/2006/main">
              <a:ext uri="{FF2B5EF4-FFF2-40B4-BE49-F238E27FC236}">
                <a16:creationId xmlns:a16="http://schemas.microsoft.com/office/drawing/2014/main" id="{3D5D22D9-21A9-49C6-96CC-A4B50E490C49}"/>
              </a:ext>
            </a:extLst>
          </p:cNvPr>
          <p:cNvSpPr>
            <a:spLocks xmlns:a="http://schemas.openxmlformats.org/drawingml/2006/main" noGrp="1"/>
          </p:cNvSpPr>
          <p:nvPr/>
        </p:nvSpPr>
        <p:spPr>
          <a:xfrm xmlns:a="http://schemas.openxmlformats.org/drawingml/2006/main">
            <a:off x="9525000" y="38195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E4002B"/>
                </a:solidFill>
                <a:latin typeface="Arial"/>
                <a:ea typeface="Arial"/>
                <a:cs typeface="Arial"/>
              </a:defRPr>
            </a:pPr>
            <a:r>
              <a:rPr sz="1800" b="1">
                <a:solidFill>
                  <a:srgbClr val="E4002B"/>
                </a:solidFill>
                <a:latin typeface="Arial"/>
                <a:ea typeface="Arial"/>
                <a:cs typeface="Arial"/>
              </a:rPr>
              <a:t>local void</a:t>
            </a:r>
          </a:p>
        </p:txBody>
      </p:sp>
      <p:sp>
        <p:nvSpPr>
          <p:cNvPr id="17" name="">
            <a:extLst xmlns:a="http://schemas.openxmlformats.org/drawingml/2006/main">
              <a:ext uri="{FF2B5EF4-FFF2-40B4-BE49-F238E27FC236}">
                <a16:creationId xmlns:a16="http://schemas.microsoft.com/office/drawing/2014/main" id="{6A81ED8B-D39F-4B40-B9AF-0E550A78C160}"/>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Why could electrical test still pass?</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97c3acea4814ffe"/>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7c9d6d22142491c"/>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211389542"/>
      </p:ext>
    </p:extLst>
  </p:cSld>
</p:sld>
</file>

<file path=ppt/slides/slide7.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130F740-53CB-4264-92B5-BF7441C96B1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3756A0-288A-4566-948B-4969534A4D6D}"/>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F3C3C25F-1C17-4E9A-99AC-3AFEDB54EF11}"/>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226074FA-FF39-477E-8D3F-71B6B9F723DE}"/>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CD231037-7FF0-4882-83E4-83339DDBF2C8}"/>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07 / 16</a:t>
            </a:r>
          </a:p>
        </p:txBody>
      </p:sp>
      <p:sp>
        <p:nvSpPr>
          <p:cNvPr id="6" name="">
            <a:extLst xmlns:a="http://schemas.openxmlformats.org/drawingml/2006/main">
              <a:ext uri="{FF2B5EF4-FFF2-40B4-BE49-F238E27FC236}">
                <a16:creationId xmlns:a16="http://schemas.microsoft.com/office/drawing/2014/main" id="{1DB403D6-BB6F-4D49-8BD2-1C46CEBCD8D4}"/>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Wire bonds have several failure sites</a:t>
            </a:r>
          </a:p>
        </p:txBody>
      </p:sp>
      <p:sp>
        <p:nvSpPr>
          <p:cNvPr id="7" name="">
            <a:extLst xmlns:a="http://schemas.openxmlformats.org/drawingml/2006/main">
              <a:ext uri="{FF2B5EF4-FFF2-40B4-BE49-F238E27FC236}">
                <a16:creationId xmlns:a16="http://schemas.microsoft.com/office/drawing/2014/main" id="{2BE7AC02-AF37-41DA-A9E0-C07FEF1D01BD}"/>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First bond, heel, loop, and second bond are distinct locations.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0f3615843b54206"/>
          <a:stretch xmlns:a="http://schemas.openxmlformats.org/drawingml/2006/main"/>
        </p:blipFill>
        <p:spPr>
          <a:xfrm xmlns:a="http://schemas.openxmlformats.org/drawingml/2006/main">
            <a:off x="1078496" y="2190750"/>
            <a:ext cx="6177383" cy="3476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9DA8A48-EBC2-47D9-B8F9-B2F9B46B0F5C}"/>
              </a:ext>
            </a:extLst>
          </p:cNvPr>
          <p:cNvSpPr>
            <a:spLocks xmlns:a="http://schemas.openxmlformats.org/drawingml/2006/main" noGrp="1"/>
          </p:cNvSpPr>
          <p:nvPr/>
        </p:nvSpPr>
        <p:spPr>
          <a:xfrm xmlns:a="http://schemas.openxmlformats.org/drawingml/2006/main">
            <a:off x="7953375" y="233362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E4002B"/>
                </a:solidFill>
                <a:latin typeface="Arial"/>
                <a:ea typeface="Arial"/>
                <a:cs typeface="Arial"/>
              </a:defRPr>
            </a:pPr>
            <a:r>
              <a:rPr sz="1500" b="1">
                <a:solidFill>
                  <a:srgbClr val="E4002B"/>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EE5FC08D-98CB-4223-BA39-19F8A3BF2F3E}"/>
              </a:ext>
            </a:extLst>
          </p:cNvPr>
          <p:cNvSpPr>
            <a:spLocks xmlns:a="http://schemas.openxmlformats.org/drawingml/2006/main" noGrp="1"/>
          </p:cNvSpPr>
          <p:nvPr/>
        </p:nvSpPr>
        <p:spPr>
          <a:xfrm xmlns:a="http://schemas.openxmlformats.org/drawingml/2006/main">
            <a:off x="8477250" y="23336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2233F"/>
                </a:solidFill>
                <a:latin typeface="Arial"/>
                <a:ea typeface="Arial"/>
                <a:cs typeface="Arial"/>
              </a:defRPr>
            </a:pPr>
            <a:r>
              <a:rPr sz="1650" b="1">
                <a:solidFill>
                  <a:srgbClr val="12233F"/>
                </a:solidFill>
                <a:latin typeface="Arial"/>
                <a:ea typeface="Arial"/>
                <a:cs typeface="Arial"/>
              </a:rPr>
              <a:t>first bond</a:t>
            </a:r>
          </a:p>
        </p:txBody>
      </p:sp>
      <p:sp>
        <p:nvSpPr>
          <p:cNvPr id="11" name="">
            <a:extLst xmlns:a="http://schemas.openxmlformats.org/drawingml/2006/main">
              <a:ext uri="{FF2B5EF4-FFF2-40B4-BE49-F238E27FC236}">
                <a16:creationId xmlns:a16="http://schemas.microsoft.com/office/drawing/2014/main" id="{FF81FFE6-CCAD-4E5E-BE3A-6481B61233FE}"/>
              </a:ext>
            </a:extLst>
          </p:cNvPr>
          <p:cNvSpPr>
            <a:spLocks xmlns:a="http://schemas.openxmlformats.org/drawingml/2006/main" noGrp="1"/>
          </p:cNvSpPr>
          <p:nvPr/>
        </p:nvSpPr>
        <p:spPr>
          <a:xfrm xmlns:a="http://schemas.openxmlformats.org/drawingml/2006/main">
            <a:off x="7953375" y="29527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E4002B"/>
                </a:solidFill>
                <a:latin typeface="Arial"/>
                <a:ea typeface="Arial"/>
                <a:cs typeface="Arial"/>
              </a:defRPr>
            </a:pPr>
            <a:r>
              <a:rPr sz="1500" b="1">
                <a:solidFill>
                  <a:srgbClr val="E4002B"/>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B12AD595-BDAA-4370-B272-82BC9B929BD7}"/>
              </a:ext>
            </a:extLst>
          </p:cNvPr>
          <p:cNvSpPr>
            <a:spLocks xmlns:a="http://schemas.openxmlformats.org/drawingml/2006/main" noGrp="1"/>
          </p:cNvSpPr>
          <p:nvPr/>
        </p:nvSpPr>
        <p:spPr>
          <a:xfrm xmlns:a="http://schemas.openxmlformats.org/drawingml/2006/main">
            <a:off x="8477250" y="29527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2233F"/>
                </a:solidFill>
                <a:latin typeface="Arial"/>
                <a:ea typeface="Arial"/>
                <a:cs typeface="Arial"/>
              </a:defRPr>
            </a:pPr>
            <a:r>
              <a:rPr sz="1650" b="1">
                <a:solidFill>
                  <a:srgbClr val="12233F"/>
                </a:solidFill>
                <a:latin typeface="Arial"/>
                <a:ea typeface="Arial"/>
                <a:cs typeface="Arial"/>
              </a:rPr>
              <a:t>heel</a:t>
            </a:r>
          </a:p>
        </p:txBody>
      </p:sp>
      <p:sp>
        <p:nvSpPr>
          <p:cNvPr id="13" name="">
            <a:extLst xmlns:a="http://schemas.openxmlformats.org/drawingml/2006/main">
              <a:ext uri="{FF2B5EF4-FFF2-40B4-BE49-F238E27FC236}">
                <a16:creationId xmlns:a16="http://schemas.microsoft.com/office/drawing/2014/main" id="{C7C5121D-47BB-4A3D-88E5-8D7F41675268}"/>
              </a:ext>
            </a:extLst>
          </p:cNvPr>
          <p:cNvSpPr>
            <a:spLocks xmlns:a="http://schemas.openxmlformats.org/drawingml/2006/main" noGrp="1"/>
          </p:cNvSpPr>
          <p:nvPr/>
        </p:nvSpPr>
        <p:spPr>
          <a:xfrm xmlns:a="http://schemas.openxmlformats.org/drawingml/2006/main">
            <a:off x="7953375" y="35718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E4002B"/>
                </a:solidFill>
                <a:latin typeface="Arial"/>
                <a:ea typeface="Arial"/>
                <a:cs typeface="Arial"/>
              </a:defRPr>
            </a:pPr>
            <a:r>
              <a:rPr sz="1500" b="1">
                <a:solidFill>
                  <a:srgbClr val="E4002B"/>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543B7E8D-5DFE-4D8B-AD6F-0417CEAFF257}"/>
              </a:ext>
            </a:extLst>
          </p:cNvPr>
          <p:cNvSpPr>
            <a:spLocks xmlns:a="http://schemas.openxmlformats.org/drawingml/2006/main" noGrp="1"/>
          </p:cNvSpPr>
          <p:nvPr/>
        </p:nvSpPr>
        <p:spPr>
          <a:xfrm xmlns:a="http://schemas.openxmlformats.org/drawingml/2006/main">
            <a:off x="8477250" y="357187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2233F"/>
                </a:solidFill>
                <a:latin typeface="Arial"/>
                <a:ea typeface="Arial"/>
                <a:cs typeface="Arial"/>
              </a:defRPr>
            </a:pPr>
            <a:r>
              <a:rPr sz="1650" b="1">
                <a:solidFill>
                  <a:srgbClr val="12233F"/>
                </a:solidFill>
                <a:latin typeface="Arial"/>
                <a:ea typeface="Arial"/>
                <a:cs typeface="Arial"/>
              </a:rPr>
              <a:t>loop</a:t>
            </a:r>
          </a:p>
        </p:txBody>
      </p:sp>
      <p:sp>
        <p:nvSpPr>
          <p:cNvPr id="15" name="">
            <a:extLst xmlns:a="http://schemas.openxmlformats.org/drawingml/2006/main">
              <a:ext uri="{FF2B5EF4-FFF2-40B4-BE49-F238E27FC236}">
                <a16:creationId xmlns:a16="http://schemas.microsoft.com/office/drawing/2014/main" id="{8C52A2D7-6D0B-4E03-92A5-6BC6C7A37656}"/>
              </a:ext>
            </a:extLst>
          </p:cNvPr>
          <p:cNvSpPr>
            <a:spLocks xmlns:a="http://schemas.openxmlformats.org/drawingml/2006/main" noGrp="1"/>
          </p:cNvSpPr>
          <p:nvPr/>
        </p:nvSpPr>
        <p:spPr>
          <a:xfrm xmlns:a="http://schemas.openxmlformats.org/drawingml/2006/main">
            <a:off x="7953375" y="41910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E4002B"/>
                </a:solidFill>
                <a:latin typeface="Arial"/>
                <a:ea typeface="Arial"/>
                <a:cs typeface="Arial"/>
              </a:defRPr>
            </a:pPr>
            <a:r>
              <a:rPr sz="1500" b="1">
                <a:solidFill>
                  <a:srgbClr val="E4002B"/>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7CF04A44-FC20-43F5-904C-E527B6AFE5CE}"/>
              </a:ext>
            </a:extLst>
          </p:cNvPr>
          <p:cNvSpPr>
            <a:spLocks xmlns:a="http://schemas.openxmlformats.org/drawingml/2006/main" noGrp="1"/>
          </p:cNvSpPr>
          <p:nvPr/>
        </p:nvSpPr>
        <p:spPr>
          <a:xfrm xmlns:a="http://schemas.openxmlformats.org/drawingml/2006/main">
            <a:off x="8477250" y="41910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2233F"/>
                </a:solidFill>
                <a:latin typeface="Arial"/>
                <a:ea typeface="Arial"/>
                <a:cs typeface="Arial"/>
              </a:defRPr>
            </a:pPr>
            <a:r>
              <a:rPr sz="1650" b="1">
                <a:solidFill>
                  <a:srgbClr val="12233F"/>
                </a:solidFill>
                <a:latin typeface="Arial"/>
                <a:ea typeface="Arial"/>
                <a:cs typeface="Arial"/>
              </a:rPr>
              <a:t>second bond</a:t>
            </a:r>
          </a:p>
        </p:txBody>
      </p:sp>
      <p:sp>
        <p:nvSpPr>
          <p:cNvPr id="17" name="">
            <a:extLst xmlns:a="http://schemas.openxmlformats.org/drawingml/2006/main">
              <a:ext uri="{FF2B5EF4-FFF2-40B4-BE49-F238E27FC236}">
                <a16:creationId xmlns:a16="http://schemas.microsoft.com/office/drawing/2014/main" id="{F64B3AD4-9896-4153-8469-698D769337FF}"/>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Which observation probes strength?</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3ca65d5fc6d427c"/>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c9337d0a1a7f4587"/>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1589828854"/>
      </p:ext>
    </p:extLst>
  </p:cSld>
</p:sld>
</file>

<file path=ppt/slides/slide8.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AE6CFBA-1667-4526-9F7A-A6584DF2F7A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05DFF2-DC3B-42DA-AA3A-C8BC3F816C7B}"/>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F8C65161-18FA-4C21-B60B-3EE2844A1566}"/>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C83A3E08-CF23-422A-A863-A0825D9B1EFF}"/>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35BF7898-99DB-4509-9054-82763FE8E3C8}"/>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08 / 16</a:t>
            </a:r>
          </a:p>
        </p:txBody>
      </p:sp>
      <p:sp>
        <p:nvSpPr>
          <p:cNvPr id="6" name="">
            <a:extLst xmlns:a="http://schemas.openxmlformats.org/drawingml/2006/main">
              <a:ext uri="{FF2B5EF4-FFF2-40B4-BE49-F238E27FC236}">
                <a16:creationId xmlns:a16="http://schemas.microsoft.com/office/drawing/2014/main" id="{40BB2DF3-54D2-49AA-97E4-5582956971C8}"/>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Flip-chip joints can fail differently</a:t>
            </a:r>
          </a:p>
        </p:txBody>
      </p:sp>
      <p:sp>
        <p:nvSpPr>
          <p:cNvPr id="7" name="">
            <a:extLst xmlns:a="http://schemas.openxmlformats.org/drawingml/2006/main">
              <a:ext uri="{FF2B5EF4-FFF2-40B4-BE49-F238E27FC236}">
                <a16:creationId xmlns:a16="http://schemas.microsoft.com/office/drawing/2014/main" id="{C6DB28F3-93B6-4AEC-BD01-17A42A116FBC}"/>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Opens, bridges, and underfill gaps can produce different evidence.</a:t>
            </a:r>
          </a:p>
        </p:txBody>
      </p:sp>
      <p:sp>
        <p:nvSpPr>
          <p:cNvPr id="8" name="">
            <a:extLst xmlns:a="http://schemas.openxmlformats.org/drawingml/2006/main">
              <a:ext uri="{FF2B5EF4-FFF2-40B4-BE49-F238E27FC236}">
                <a16:creationId xmlns:a16="http://schemas.microsoft.com/office/drawing/2014/main" id="{99A510BD-20CF-4A2C-A952-5BCA91914CB4}"/>
              </a:ext>
            </a:extLst>
          </p:cNvPr>
          <p:cNvSpPr>
            <a:spLocks xmlns:a="http://schemas.openxmlformats.org/drawingml/2006/main" noGrp="1"/>
          </p:cNvSpPr>
          <p:nvPr/>
        </p:nvSpPr>
        <p:spPr>
          <a:xfrm xmlns:a="http://schemas.openxmlformats.org/drawingml/2006/main">
            <a:off x="619125" y="2619375"/>
            <a:ext cx="66675" cy="25717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05A98F-20BE-48DA-8FF2-958E482A5492}"/>
              </a:ext>
            </a:extLst>
          </p:cNvPr>
          <p:cNvSpPr>
            <a:spLocks xmlns:a="http://schemas.openxmlformats.org/drawingml/2006/main" noGrp="1"/>
          </p:cNvSpPr>
          <p:nvPr/>
        </p:nvSpPr>
        <p:spPr>
          <a:xfrm xmlns:a="http://schemas.openxmlformats.org/drawingml/2006/main">
            <a:off x="828675" y="2762250"/>
            <a:ext cx="327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2233F"/>
                </a:solidFill>
                <a:latin typeface="Arial"/>
                <a:ea typeface="Arial"/>
                <a:cs typeface="Arial"/>
              </a:defRPr>
            </a:pPr>
            <a:r>
              <a:rPr sz="1800" b="1">
                <a:solidFill>
                  <a:srgbClr val="12233F"/>
                </a:solidFill>
                <a:latin typeface="Arial"/>
                <a:ea typeface="Arial"/>
                <a:cs typeface="Arial"/>
              </a:rPr>
              <a:t>open joint</a:t>
            </a:r>
          </a:p>
        </p:txBody>
      </p:sp>
      <p:sp>
        <p:nvSpPr>
          <p:cNvPr id="10" name="">
            <a:extLst xmlns:a="http://schemas.openxmlformats.org/drawingml/2006/main">
              <a:ext uri="{FF2B5EF4-FFF2-40B4-BE49-F238E27FC236}">
                <a16:creationId xmlns:a16="http://schemas.microsoft.com/office/drawing/2014/main" id="{F1945991-7200-472A-9BCA-3CA45182FF63}"/>
              </a:ext>
            </a:extLst>
          </p:cNvPr>
          <p:cNvSpPr>
            <a:spLocks xmlns:a="http://schemas.openxmlformats.org/drawingml/2006/main" noGrp="1"/>
          </p:cNvSpPr>
          <p:nvPr/>
        </p:nvSpPr>
        <p:spPr>
          <a:xfrm xmlns:a="http://schemas.openxmlformats.org/drawingml/2006/main">
            <a:off x="828675" y="4286250"/>
            <a:ext cx="3175000" cy="0"/>
          </a:xfrm>
          <a:prstGeom xmlns:a="http://schemas.openxmlformats.org/drawingml/2006/main" prst="line">
            <a:avLst/>
          </a:prstGeom>
          <a:noFill xmlns:a="http://schemas.openxmlformats.org/drawingml/2006/main"/>
          <a:ln xmlns:a="http://schemas.openxmlformats.org/drawingml/2006/main" w="19050">
            <a:solidFill>
              <a:srgbClr val="B9B3AC"/>
            </a:solidFill>
          </a:ln>
        </p:spPr>
      </p:sp>
      <p:sp>
        <p:nvSpPr>
          <p:cNvPr id="11" name="">
            <a:extLst xmlns:a="http://schemas.openxmlformats.org/drawingml/2006/main">
              <a:ext uri="{FF2B5EF4-FFF2-40B4-BE49-F238E27FC236}">
                <a16:creationId xmlns:a16="http://schemas.microsoft.com/office/drawing/2014/main" id="{ED5035DE-65ED-44DE-AAD4-10A857174070}"/>
              </a:ext>
            </a:extLst>
          </p:cNvPr>
          <p:cNvSpPr>
            <a:spLocks xmlns:a="http://schemas.openxmlformats.org/drawingml/2006/main" noGrp="1"/>
          </p:cNvSpPr>
          <p:nvPr/>
        </p:nvSpPr>
        <p:spPr>
          <a:xfrm xmlns:a="http://schemas.openxmlformats.org/drawingml/2006/main">
            <a:off x="4270375" y="2619375"/>
            <a:ext cx="66675" cy="2571750"/>
          </a:xfrm>
          <a:prstGeom xmlns:a="http://schemas.openxmlformats.org/drawingml/2006/main" prst="rect">
            <a:avLst/>
          </a:prstGeom>
          <a:solidFill xmlns:a="http://schemas.openxmlformats.org/drawingml/2006/main">
            <a:srgbClr val="008D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0128113-0FBF-488F-9EFD-358A4715BBC4}"/>
              </a:ext>
            </a:extLst>
          </p:cNvPr>
          <p:cNvSpPr>
            <a:spLocks xmlns:a="http://schemas.openxmlformats.org/drawingml/2006/main" noGrp="1"/>
          </p:cNvSpPr>
          <p:nvPr/>
        </p:nvSpPr>
        <p:spPr>
          <a:xfrm xmlns:a="http://schemas.openxmlformats.org/drawingml/2006/main">
            <a:off x="4479925" y="2762250"/>
            <a:ext cx="327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2233F"/>
                </a:solidFill>
                <a:latin typeface="Arial"/>
                <a:ea typeface="Arial"/>
                <a:cs typeface="Arial"/>
              </a:defRPr>
            </a:pPr>
            <a:r>
              <a:rPr sz="1800" b="1">
                <a:solidFill>
                  <a:srgbClr val="12233F"/>
                </a:solidFill>
                <a:latin typeface="Arial"/>
                <a:ea typeface="Arial"/>
                <a:cs typeface="Arial"/>
              </a:rPr>
              <a:t>solder bridge</a:t>
            </a:r>
          </a:p>
        </p:txBody>
      </p:sp>
      <p:sp>
        <p:nvSpPr>
          <p:cNvPr id="13" name="">
            <a:extLst xmlns:a="http://schemas.openxmlformats.org/drawingml/2006/main">
              <a:ext uri="{FF2B5EF4-FFF2-40B4-BE49-F238E27FC236}">
                <a16:creationId xmlns:a16="http://schemas.microsoft.com/office/drawing/2014/main" id="{5ADD7DDE-1AF8-41D2-B82C-EB85099505C2}"/>
              </a:ext>
            </a:extLst>
          </p:cNvPr>
          <p:cNvSpPr>
            <a:spLocks xmlns:a="http://schemas.openxmlformats.org/drawingml/2006/main" noGrp="1"/>
          </p:cNvSpPr>
          <p:nvPr/>
        </p:nvSpPr>
        <p:spPr>
          <a:xfrm xmlns:a="http://schemas.openxmlformats.org/drawingml/2006/main">
            <a:off x="4479925" y="4286250"/>
            <a:ext cx="3175000" cy="0"/>
          </a:xfrm>
          <a:prstGeom xmlns:a="http://schemas.openxmlformats.org/drawingml/2006/main" prst="line">
            <a:avLst/>
          </a:prstGeom>
          <a:noFill xmlns:a="http://schemas.openxmlformats.org/drawingml/2006/main"/>
          <a:ln xmlns:a="http://schemas.openxmlformats.org/drawingml/2006/main" w="19050">
            <a:solidFill>
              <a:srgbClr val="B9B3AC"/>
            </a:solidFill>
          </a:ln>
        </p:spPr>
      </p:sp>
      <p:sp>
        <p:nvSpPr>
          <p:cNvPr id="14" name="">
            <a:extLst xmlns:a="http://schemas.openxmlformats.org/drawingml/2006/main">
              <a:ext uri="{FF2B5EF4-FFF2-40B4-BE49-F238E27FC236}">
                <a16:creationId xmlns:a16="http://schemas.microsoft.com/office/drawing/2014/main" id="{6654F918-7545-41C7-A084-0539F481BF9D}"/>
              </a:ext>
            </a:extLst>
          </p:cNvPr>
          <p:cNvSpPr>
            <a:spLocks xmlns:a="http://schemas.openxmlformats.org/drawingml/2006/main" noGrp="1"/>
          </p:cNvSpPr>
          <p:nvPr/>
        </p:nvSpPr>
        <p:spPr>
          <a:xfrm xmlns:a="http://schemas.openxmlformats.org/drawingml/2006/main">
            <a:off x="7921625" y="2619375"/>
            <a:ext cx="66675" cy="2571750"/>
          </a:xfrm>
          <a:prstGeom xmlns:a="http://schemas.openxmlformats.org/drawingml/2006/main" prst="rect">
            <a:avLst/>
          </a:prstGeom>
          <a:solidFill xmlns:a="http://schemas.openxmlformats.org/drawingml/2006/main">
            <a:srgbClr val="2E5A8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DF8E2F5-23E3-4ACE-B813-100337907E92}"/>
              </a:ext>
            </a:extLst>
          </p:cNvPr>
          <p:cNvSpPr>
            <a:spLocks xmlns:a="http://schemas.openxmlformats.org/drawingml/2006/main" noGrp="1"/>
          </p:cNvSpPr>
          <p:nvPr/>
        </p:nvSpPr>
        <p:spPr>
          <a:xfrm xmlns:a="http://schemas.openxmlformats.org/drawingml/2006/main">
            <a:off x="8131175" y="2762250"/>
            <a:ext cx="327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2233F"/>
                </a:solidFill>
                <a:latin typeface="Arial"/>
                <a:ea typeface="Arial"/>
                <a:cs typeface="Arial"/>
              </a:defRPr>
            </a:pPr>
            <a:r>
              <a:rPr sz="1800" b="1">
                <a:solidFill>
                  <a:srgbClr val="12233F"/>
                </a:solidFill>
                <a:latin typeface="Arial"/>
                <a:ea typeface="Arial"/>
                <a:cs typeface="Arial"/>
              </a:rPr>
              <a:t>gap / delamination</a:t>
            </a:r>
          </a:p>
        </p:txBody>
      </p:sp>
      <p:sp>
        <p:nvSpPr>
          <p:cNvPr id="16" name="">
            <a:extLst xmlns:a="http://schemas.openxmlformats.org/drawingml/2006/main">
              <a:ext uri="{FF2B5EF4-FFF2-40B4-BE49-F238E27FC236}">
                <a16:creationId xmlns:a16="http://schemas.microsoft.com/office/drawing/2014/main" id="{B28204D7-66B9-4FC9-B8E6-1C2A6F6BB34E}"/>
              </a:ext>
            </a:extLst>
          </p:cNvPr>
          <p:cNvSpPr>
            <a:spLocks xmlns:a="http://schemas.openxmlformats.org/drawingml/2006/main" noGrp="1"/>
          </p:cNvSpPr>
          <p:nvPr/>
        </p:nvSpPr>
        <p:spPr>
          <a:xfrm xmlns:a="http://schemas.openxmlformats.org/drawingml/2006/main">
            <a:off x="8131175" y="4286250"/>
            <a:ext cx="3175000" cy="0"/>
          </a:xfrm>
          <a:prstGeom xmlns:a="http://schemas.openxmlformats.org/drawingml/2006/main" prst="line">
            <a:avLst/>
          </a:prstGeom>
          <a:noFill xmlns:a="http://schemas.openxmlformats.org/drawingml/2006/main"/>
          <a:ln xmlns:a="http://schemas.openxmlformats.org/drawingml/2006/main" w="19050">
            <a:solidFill>
              <a:srgbClr val="B9B3AC"/>
            </a:solidFill>
          </a:ln>
        </p:spPr>
      </p:sp>
      <p:sp>
        <p:nvSpPr>
          <p:cNvPr id="17" name="">
            <a:extLst xmlns:a="http://schemas.openxmlformats.org/drawingml/2006/main">
              <a:ext uri="{FF2B5EF4-FFF2-40B4-BE49-F238E27FC236}">
                <a16:creationId xmlns:a16="http://schemas.microsoft.com/office/drawing/2014/main" id="{D117E61C-662F-4FF0-8144-00C7201BB019}"/>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What would electrical continuity miss?</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5ff623b5c6914e29"/>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77a4821eec140b7"/>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75148716"/>
      </p:ext>
    </p:extLst>
  </p:cSld>
</p:sld>
</file>

<file path=ppt/slides/slide9.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2A5FF36-C1AA-4226-83FB-1177F039C60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118E34-8C59-4D11-899A-F698C0A2DA36}"/>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5478ECCA-EE35-4153-AAA9-FE19507856AD}"/>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71AA11BC-67DB-4EC1-B614-367FF2D64CF0}"/>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B5E2B2FB-C2DF-4949-B644-A853D00AECF6}"/>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09 / 16</a:t>
            </a:r>
          </a:p>
        </p:txBody>
      </p:sp>
      <p:sp>
        <p:nvSpPr>
          <p:cNvPr id="6" name="">
            <a:extLst xmlns:a="http://schemas.openxmlformats.org/drawingml/2006/main">
              <a:ext uri="{FF2B5EF4-FFF2-40B4-BE49-F238E27FC236}">
                <a16:creationId xmlns:a16="http://schemas.microsoft.com/office/drawing/2014/main" id="{E9B9FA03-23BA-4ECC-BF24-0DB6708A5C60}"/>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Protection adds its own risks</a:t>
            </a:r>
          </a:p>
        </p:txBody>
      </p:sp>
      <p:sp>
        <p:nvSpPr>
          <p:cNvPr id="7" name="">
            <a:extLst xmlns:a="http://schemas.openxmlformats.org/drawingml/2006/main">
              <a:ext uri="{FF2B5EF4-FFF2-40B4-BE49-F238E27FC236}">
                <a16:creationId xmlns:a16="http://schemas.microsoft.com/office/drawing/2014/main" id="{C19BE2F4-704D-4E69-8888-A0685117B896}"/>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Encapsulation and underfill add new material interfaces.</a:t>
            </a:r>
          </a:p>
        </p:txBody>
      </p:sp>
      <p:sp>
        <p:nvSpPr>
          <p:cNvPr id="8" name="">
            <a:extLst xmlns:a="http://schemas.openxmlformats.org/drawingml/2006/main">
              <a:ext uri="{FF2B5EF4-FFF2-40B4-BE49-F238E27FC236}">
                <a16:creationId xmlns:a16="http://schemas.microsoft.com/office/drawing/2014/main" id="{B8501C88-2860-4121-A3CB-5DA1701A11B1}"/>
              </a:ext>
            </a:extLst>
          </p:cNvPr>
          <p:cNvSpPr>
            <a:spLocks xmlns:a="http://schemas.openxmlformats.org/drawingml/2006/main" noGrp="1"/>
          </p:cNvSpPr>
          <p:nvPr/>
        </p:nvSpPr>
        <p:spPr>
          <a:xfrm xmlns:a="http://schemas.openxmlformats.org/drawingml/2006/main">
            <a:off x="714375" y="3667125"/>
            <a:ext cx="10429875" cy="0"/>
          </a:xfrm>
          <a:prstGeom xmlns:a="http://schemas.openxmlformats.org/drawingml/2006/main" prst="line">
            <a:avLst/>
          </a:prstGeom>
          <a:noFill xmlns:a="http://schemas.openxmlformats.org/drawingml/2006/main"/>
          <a:ln xmlns:a="http://schemas.openxmlformats.org/drawingml/2006/main" w="38100">
            <a:solidFill>
              <a:srgbClr val="420A15"/>
            </a:solidFill>
          </a:ln>
        </p:spPr>
      </p:sp>
      <p:sp>
        <p:nvSpPr>
          <p:cNvPr id="9" name="">
            <a:extLst xmlns:a="http://schemas.openxmlformats.org/drawingml/2006/main">
              <a:ext uri="{FF2B5EF4-FFF2-40B4-BE49-F238E27FC236}">
                <a16:creationId xmlns:a16="http://schemas.microsoft.com/office/drawing/2014/main" id="{0400743A-8D7A-40B1-B002-7A0E3D352290}"/>
              </a:ext>
            </a:extLst>
          </p:cNvPr>
          <p:cNvSpPr>
            <a:spLocks xmlns:a="http://schemas.openxmlformats.org/drawingml/2006/main" noGrp="1"/>
          </p:cNvSpPr>
          <p:nvPr/>
        </p:nvSpPr>
        <p:spPr>
          <a:xfrm xmlns:a="http://schemas.openxmlformats.org/drawingml/2006/main">
            <a:off x="1831181" y="3438525"/>
            <a:ext cx="457200" cy="4572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8C1B045-7364-42F7-80BC-F6DAFE019B12}"/>
              </a:ext>
            </a:extLst>
          </p:cNvPr>
          <p:cNvSpPr>
            <a:spLocks xmlns:a="http://schemas.openxmlformats.org/drawingml/2006/main" noGrp="1"/>
          </p:cNvSpPr>
          <p:nvPr/>
        </p:nvSpPr>
        <p:spPr>
          <a:xfrm xmlns:a="http://schemas.openxmlformats.org/drawingml/2006/main">
            <a:off x="1831181" y="34385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3BBD6DA4-BCCD-40B7-B935-11397B1FA187}"/>
              </a:ext>
            </a:extLst>
          </p:cNvPr>
          <p:cNvSpPr>
            <a:spLocks xmlns:a="http://schemas.openxmlformats.org/drawingml/2006/main" noGrp="1"/>
          </p:cNvSpPr>
          <p:nvPr/>
        </p:nvSpPr>
        <p:spPr>
          <a:xfrm xmlns:a="http://schemas.openxmlformats.org/drawingml/2006/main">
            <a:off x="848916" y="4029075"/>
            <a:ext cx="2421731"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2233F"/>
                </a:solidFill>
                <a:latin typeface="Arial"/>
                <a:ea typeface="Arial"/>
                <a:cs typeface="Arial"/>
              </a:defRPr>
            </a:pPr>
            <a:r>
              <a:rPr sz="1575" b="1">
                <a:solidFill>
                  <a:srgbClr val="12233F"/>
                </a:solidFill>
                <a:latin typeface="Arial"/>
                <a:ea typeface="Arial"/>
                <a:cs typeface="Arial"/>
              </a:rPr>
              <a:t>mold / underfill</a:t>
            </a:r>
          </a:p>
        </p:txBody>
      </p:sp>
      <p:sp>
        <p:nvSpPr>
          <p:cNvPr id="12" name="">
            <a:extLst xmlns:a="http://schemas.openxmlformats.org/drawingml/2006/main">
              <a:ext uri="{FF2B5EF4-FFF2-40B4-BE49-F238E27FC236}">
                <a16:creationId xmlns:a16="http://schemas.microsoft.com/office/drawing/2014/main" id="{EA18B4CA-46F8-480E-854B-2F9AF86499FF}"/>
              </a:ext>
            </a:extLst>
          </p:cNvPr>
          <p:cNvSpPr>
            <a:spLocks xmlns:a="http://schemas.openxmlformats.org/drawingml/2006/main" noGrp="1"/>
          </p:cNvSpPr>
          <p:nvPr/>
        </p:nvSpPr>
        <p:spPr>
          <a:xfrm xmlns:a="http://schemas.openxmlformats.org/drawingml/2006/main">
            <a:off x="4521994" y="3438525"/>
            <a:ext cx="457200" cy="4572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FDA266F-32FC-42EC-9A2C-6EF3E2094221}"/>
              </a:ext>
            </a:extLst>
          </p:cNvPr>
          <p:cNvSpPr>
            <a:spLocks xmlns:a="http://schemas.openxmlformats.org/drawingml/2006/main" noGrp="1"/>
          </p:cNvSpPr>
          <p:nvPr/>
        </p:nvSpPr>
        <p:spPr>
          <a:xfrm xmlns:a="http://schemas.openxmlformats.org/drawingml/2006/main">
            <a:off x="4521994" y="34385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2C26680D-1372-4F8E-A0DF-1E11FFE632FF}"/>
              </a:ext>
            </a:extLst>
          </p:cNvPr>
          <p:cNvSpPr>
            <a:spLocks xmlns:a="http://schemas.openxmlformats.org/drawingml/2006/main" noGrp="1"/>
          </p:cNvSpPr>
          <p:nvPr/>
        </p:nvSpPr>
        <p:spPr>
          <a:xfrm xmlns:a="http://schemas.openxmlformats.org/drawingml/2006/main">
            <a:off x="3539728" y="4029075"/>
            <a:ext cx="2421731"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2233F"/>
                </a:solidFill>
                <a:latin typeface="Arial"/>
                <a:ea typeface="Arial"/>
                <a:cs typeface="Arial"/>
              </a:defRPr>
            </a:pPr>
            <a:r>
              <a:rPr sz="1575" b="1">
                <a:solidFill>
                  <a:srgbClr val="12233F"/>
                </a:solidFill>
                <a:latin typeface="Arial"/>
                <a:ea typeface="Arial"/>
                <a:cs typeface="Arial"/>
              </a:rPr>
              <a:t>cure</a:t>
            </a:r>
          </a:p>
        </p:txBody>
      </p:sp>
      <p:sp>
        <p:nvSpPr>
          <p:cNvPr id="15" name="">
            <a:extLst xmlns:a="http://schemas.openxmlformats.org/drawingml/2006/main">
              <a:ext uri="{FF2B5EF4-FFF2-40B4-BE49-F238E27FC236}">
                <a16:creationId xmlns:a16="http://schemas.microsoft.com/office/drawing/2014/main" id="{FCD30725-E056-4B04-8F09-86972BA5883D}"/>
              </a:ext>
            </a:extLst>
          </p:cNvPr>
          <p:cNvSpPr>
            <a:spLocks xmlns:a="http://schemas.openxmlformats.org/drawingml/2006/main" noGrp="1"/>
          </p:cNvSpPr>
          <p:nvPr/>
        </p:nvSpPr>
        <p:spPr>
          <a:xfrm xmlns:a="http://schemas.openxmlformats.org/drawingml/2006/main">
            <a:off x="7212806" y="3438525"/>
            <a:ext cx="457200" cy="4572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3B84088-2C4D-4427-B3A7-065FF6359628}"/>
              </a:ext>
            </a:extLst>
          </p:cNvPr>
          <p:cNvSpPr>
            <a:spLocks xmlns:a="http://schemas.openxmlformats.org/drawingml/2006/main" noGrp="1"/>
          </p:cNvSpPr>
          <p:nvPr/>
        </p:nvSpPr>
        <p:spPr>
          <a:xfrm xmlns:a="http://schemas.openxmlformats.org/drawingml/2006/main">
            <a:off x="7212806" y="34385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945F1076-EA62-400C-8EA2-9241B7E5D464}"/>
              </a:ext>
            </a:extLst>
          </p:cNvPr>
          <p:cNvSpPr>
            <a:spLocks xmlns:a="http://schemas.openxmlformats.org/drawingml/2006/main" noGrp="1"/>
          </p:cNvSpPr>
          <p:nvPr/>
        </p:nvSpPr>
        <p:spPr>
          <a:xfrm xmlns:a="http://schemas.openxmlformats.org/drawingml/2006/main">
            <a:off x="6230541" y="4029075"/>
            <a:ext cx="2421731"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2233F"/>
                </a:solidFill>
                <a:latin typeface="Arial"/>
                <a:ea typeface="Arial"/>
                <a:cs typeface="Arial"/>
              </a:defRPr>
            </a:pPr>
            <a:r>
              <a:rPr sz="1575" b="1">
                <a:solidFill>
                  <a:srgbClr val="12233F"/>
                </a:solidFill>
                <a:latin typeface="Arial"/>
                <a:ea typeface="Arial"/>
                <a:cs typeface="Arial"/>
              </a:rPr>
              <a:t>cool</a:t>
            </a:r>
          </a:p>
        </p:txBody>
      </p:sp>
      <p:sp>
        <p:nvSpPr>
          <p:cNvPr id="18" name="">
            <a:extLst xmlns:a="http://schemas.openxmlformats.org/drawingml/2006/main">
              <a:ext uri="{FF2B5EF4-FFF2-40B4-BE49-F238E27FC236}">
                <a16:creationId xmlns:a16="http://schemas.microsoft.com/office/drawing/2014/main" id="{E52E799F-3D54-449C-AF6E-85B00469786D}"/>
              </a:ext>
            </a:extLst>
          </p:cNvPr>
          <p:cNvSpPr>
            <a:spLocks xmlns:a="http://schemas.openxmlformats.org/drawingml/2006/main" noGrp="1"/>
          </p:cNvSpPr>
          <p:nvPr/>
        </p:nvSpPr>
        <p:spPr>
          <a:xfrm xmlns:a="http://schemas.openxmlformats.org/drawingml/2006/main">
            <a:off x="9903619" y="3438525"/>
            <a:ext cx="457200" cy="4572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4283A4E-B0DE-49BB-AFF9-AE74D021A04B}"/>
              </a:ext>
            </a:extLst>
          </p:cNvPr>
          <p:cNvSpPr>
            <a:spLocks xmlns:a="http://schemas.openxmlformats.org/drawingml/2006/main" noGrp="1"/>
          </p:cNvSpPr>
          <p:nvPr/>
        </p:nvSpPr>
        <p:spPr>
          <a:xfrm xmlns:a="http://schemas.openxmlformats.org/drawingml/2006/main">
            <a:off x="9903619" y="34385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FFCFF0BC-6C14-4A6A-9BD9-1D9EDA926B33}"/>
              </a:ext>
            </a:extLst>
          </p:cNvPr>
          <p:cNvSpPr>
            <a:spLocks xmlns:a="http://schemas.openxmlformats.org/drawingml/2006/main" noGrp="1"/>
          </p:cNvSpPr>
          <p:nvPr/>
        </p:nvSpPr>
        <p:spPr>
          <a:xfrm xmlns:a="http://schemas.openxmlformats.org/drawingml/2006/main">
            <a:off x="8921353" y="4029075"/>
            <a:ext cx="2421731"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2233F"/>
                </a:solidFill>
                <a:latin typeface="Arial"/>
                <a:ea typeface="Arial"/>
                <a:cs typeface="Arial"/>
              </a:defRPr>
            </a:pPr>
            <a:r>
              <a:rPr sz="1575" b="1">
                <a:solidFill>
                  <a:srgbClr val="12233F"/>
                </a:solidFill>
                <a:latin typeface="Arial"/>
                <a:ea typeface="Arial"/>
                <a:cs typeface="Arial"/>
              </a:rPr>
              <a:t>inspect</a:t>
            </a:r>
          </a:p>
        </p:txBody>
      </p:sp>
      <p:sp>
        <p:nvSpPr>
          <p:cNvPr id="21" name="">
            <a:extLst xmlns:a="http://schemas.openxmlformats.org/drawingml/2006/main">
              <a:ext uri="{FF2B5EF4-FFF2-40B4-BE49-F238E27FC236}">
                <a16:creationId xmlns:a16="http://schemas.microsoft.com/office/drawing/2014/main" id="{11B688F1-1928-4437-AFFE-ABB91F9FC62C}"/>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Which observation would you collect after cure?</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1dee0bf1c5a14b00"/>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5e7ac3322de41bb"/>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1336541993"/>
      </p:ext>
    </p:extLst>
  </p:cSld>
</p:sld>
</file>

<file path=ppt/slides/slide10.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84109708-ECDC-46BF-AA55-F3993F4A2CF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CE19D2-45AA-42E1-BD25-5A2F236D9AA2}"/>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976CB2F4-EE9E-4738-B60A-33D8832EBE27}"/>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6A19515B-AC2F-46D4-ABA7-F2DD2C86C15E}"/>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1610C202-7255-44B9-BC97-6D67271BE6A7}"/>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10 / 16</a:t>
            </a:r>
          </a:p>
        </p:txBody>
      </p:sp>
      <p:sp>
        <p:nvSpPr>
          <p:cNvPr id="6" name="">
            <a:extLst xmlns:a="http://schemas.openxmlformats.org/drawingml/2006/main">
              <a:ext uri="{FF2B5EF4-FFF2-40B4-BE49-F238E27FC236}">
                <a16:creationId xmlns:a16="http://schemas.microsoft.com/office/drawing/2014/main" id="{06A8236F-8D5B-4B20-88DA-92D1487E6072}"/>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Observability matrix</a:t>
            </a:r>
          </a:p>
        </p:txBody>
      </p:sp>
      <p:sp>
        <p:nvSpPr>
          <p:cNvPr id="7" name="">
            <a:extLst xmlns:a="http://schemas.openxmlformats.org/drawingml/2006/main">
              <a:ext uri="{FF2B5EF4-FFF2-40B4-BE49-F238E27FC236}">
                <a16:creationId xmlns:a16="http://schemas.microsoft.com/office/drawing/2014/main" id="{4CD7F99B-0331-4B0E-A498-8A072486FBBC}"/>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Select a method based on its physical signal.</a:t>
            </a:r>
          </a:p>
        </p:txBody>
      </p:sp>
      <p:sp>
        <p:nvSpPr>
          <p:cNvPr id="8" name="">
            <a:extLst xmlns:a="http://schemas.openxmlformats.org/drawingml/2006/main">
              <a:ext uri="{FF2B5EF4-FFF2-40B4-BE49-F238E27FC236}">
                <a16:creationId xmlns:a16="http://schemas.microsoft.com/office/drawing/2014/main" id="{2F6000F9-E689-4E27-B4D5-B7E79CC421AB}"/>
              </a:ext>
            </a:extLst>
          </p:cNvPr>
          <p:cNvSpPr>
            <a:spLocks xmlns:a="http://schemas.openxmlformats.org/drawingml/2006/main" noGrp="1"/>
          </p:cNvSpPr>
          <p:nvPr/>
        </p:nvSpPr>
        <p:spPr>
          <a:xfrm xmlns:a="http://schemas.openxmlformats.org/drawingml/2006/main">
            <a:off x="685800" y="2571750"/>
            <a:ext cx="2690813" cy="619125"/>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08F382-0176-433D-8EC5-E16E7B3D93C0}"/>
              </a:ext>
            </a:extLst>
          </p:cNvPr>
          <p:cNvSpPr>
            <a:spLocks xmlns:a="http://schemas.openxmlformats.org/drawingml/2006/main" noGrp="1"/>
          </p:cNvSpPr>
          <p:nvPr/>
        </p:nvSpPr>
        <p:spPr>
          <a:xfrm xmlns:a="http://schemas.openxmlformats.org/drawingml/2006/main">
            <a:off x="781050" y="2638425"/>
            <a:ext cx="25003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method</a:t>
            </a:r>
          </a:p>
        </p:txBody>
      </p:sp>
      <p:sp>
        <p:nvSpPr>
          <p:cNvPr id="10" name="">
            <a:extLst xmlns:a="http://schemas.openxmlformats.org/drawingml/2006/main">
              <a:ext uri="{FF2B5EF4-FFF2-40B4-BE49-F238E27FC236}">
                <a16:creationId xmlns:a16="http://schemas.microsoft.com/office/drawing/2014/main" id="{A46B7639-8725-4064-BD0A-5CD24BA2F80A}"/>
              </a:ext>
            </a:extLst>
          </p:cNvPr>
          <p:cNvSpPr>
            <a:spLocks xmlns:a="http://schemas.openxmlformats.org/drawingml/2006/main" noGrp="1"/>
          </p:cNvSpPr>
          <p:nvPr/>
        </p:nvSpPr>
        <p:spPr>
          <a:xfrm xmlns:a="http://schemas.openxmlformats.org/drawingml/2006/main">
            <a:off x="3376613" y="2571750"/>
            <a:ext cx="2690813" cy="61912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2C45B4C-C11A-4745-9144-FCEE48B9361B}"/>
              </a:ext>
            </a:extLst>
          </p:cNvPr>
          <p:cNvSpPr>
            <a:spLocks xmlns:a="http://schemas.openxmlformats.org/drawingml/2006/main" noGrp="1"/>
          </p:cNvSpPr>
          <p:nvPr/>
        </p:nvSpPr>
        <p:spPr>
          <a:xfrm xmlns:a="http://schemas.openxmlformats.org/drawingml/2006/main">
            <a:off x="3471863" y="2638425"/>
            <a:ext cx="25003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signal observed</a:t>
            </a:r>
          </a:p>
        </p:txBody>
      </p:sp>
      <p:sp>
        <p:nvSpPr>
          <p:cNvPr id="12" name="">
            <a:extLst xmlns:a="http://schemas.openxmlformats.org/drawingml/2006/main">
              <a:ext uri="{FF2B5EF4-FFF2-40B4-BE49-F238E27FC236}">
                <a16:creationId xmlns:a16="http://schemas.microsoft.com/office/drawing/2014/main" id="{21FD20DC-F7B4-47CF-B74E-6701AD102678}"/>
              </a:ext>
            </a:extLst>
          </p:cNvPr>
          <p:cNvSpPr>
            <a:spLocks xmlns:a="http://schemas.openxmlformats.org/drawingml/2006/main" noGrp="1"/>
          </p:cNvSpPr>
          <p:nvPr/>
        </p:nvSpPr>
        <p:spPr>
          <a:xfrm xmlns:a="http://schemas.openxmlformats.org/drawingml/2006/main">
            <a:off x="6067425" y="2571750"/>
            <a:ext cx="2690813" cy="619125"/>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0A7FFF0-1A5A-4165-A974-1C1FD167F7A2}"/>
              </a:ext>
            </a:extLst>
          </p:cNvPr>
          <p:cNvSpPr>
            <a:spLocks xmlns:a="http://schemas.openxmlformats.org/drawingml/2006/main" noGrp="1"/>
          </p:cNvSpPr>
          <p:nvPr/>
        </p:nvSpPr>
        <p:spPr>
          <a:xfrm xmlns:a="http://schemas.openxmlformats.org/drawingml/2006/main">
            <a:off x="6162675" y="2638425"/>
            <a:ext cx="25003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example use</a:t>
            </a:r>
          </a:p>
        </p:txBody>
      </p:sp>
      <p:sp>
        <p:nvSpPr>
          <p:cNvPr id="14" name="">
            <a:extLst xmlns:a="http://schemas.openxmlformats.org/drawingml/2006/main">
              <a:ext uri="{FF2B5EF4-FFF2-40B4-BE49-F238E27FC236}">
                <a16:creationId xmlns:a16="http://schemas.microsoft.com/office/drawing/2014/main" id="{986C031E-167F-41D9-9DF5-FC37C5FDB0B1}"/>
              </a:ext>
            </a:extLst>
          </p:cNvPr>
          <p:cNvSpPr>
            <a:spLocks xmlns:a="http://schemas.openxmlformats.org/drawingml/2006/main" noGrp="1"/>
          </p:cNvSpPr>
          <p:nvPr/>
        </p:nvSpPr>
        <p:spPr>
          <a:xfrm xmlns:a="http://schemas.openxmlformats.org/drawingml/2006/main">
            <a:off x="8758238" y="2571750"/>
            <a:ext cx="2690813" cy="619125"/>
          </a:xfrm>
          <a:prstGeom xmlns:a="http://schemas.openxmlformats.org/drawingml/2006/main" prst="rect">
            <a:avLst/>
          </a:prstGeom>
          <a:solidFill xmlns:a="http://schemas.openxmlformats.org/drawingml/2006/main">
            <a:srgbClr val="12233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C3CA28A-BFB9-4878-92F6-085654CD1D98}"/>
              </a:ext>
            </a:extLst>
          </p:cNvPr>
          <p:cNvSpPr>
            <a:spLocks xmlns:a="http://schemas.openxmlformats.org/drawingml/2006/main" noGrp="1"/>
          </p:cNvSpPr>
          <p:nvPr/>
        </p:nvSpPr>
        <p:spPr>
          <a:xfrm xmlns:a="http://schemas.openxmlformats.org/drawingml/2006/main">
            <a:off x="8853488" y="2638425"/>
            <a:ext cx="25003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blind spot</a:t>
            </a:r>
          </a:p>
        </p:txBody>
      </p:sp>
      <p:sp>
        <p:nvSpPr>
          <p:cNvPr id="16" name="">
            <a:extLst xmlns:a="http://schemas.openxmlformats.org/drawingml/2006/main">
              <a:ext uri="{FF2B5EF4-FFF2-40B4-BE49-F238E27FC236}">
                <a16:creationId xmlns:a16="http://schemas.microsoft.com/office/drawing/2014/main" id="{4E98EF91-BFD7-4403-B6D6-8491B836F72F}"/>
              </a:ext>
            </a:extLst>
          </p:cNvPr>
          <p:cNvSpPr>
            <a:spLocks xmlns:a="http://schemas.openxmlformats.org/drawingml/2006/main" noGrp="1"/>
          </p:cNvSpPr>
          <p:nvPr/>
        </p:nvSpPr>
        <p:spPr>
          <a:xfrm xmlns:a="http://schemas.openxmlformats.org/drawingml/2006/main">
            <a:off x="685800" y="31908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17" name="">
            <a:extLst xmlns:a="http://schemas.openxmlformats.org/drawingml/2006/main">
              <a:ext uri="{FF2B5EF4-FFF2-40B4-BE49-F238E27FC236}">
                <a16:creationId xmlns:a16="http://schemas.microsoft.com/office/drawing/2014/main" id="{4ACA2CE3-FA04-478D-B04F-0AD089AD12C4}"/>
              </a:ext>
            </a:extLst>
          </p:cNvPr>
          <p:cNvSpPr>
            <a:spLocks xmlns:a="http://schemas.openxmlformats.org/drawingml/2006/main" noGrp="1"/>
          </p:cNvSpPr>
          <p:nvPr/>
        </p:nvSpPr>
        <p:spPr>
          <a:xfrm xmlns:a="http://schemas.openxmlformats.org/drawingml/2006/main">
            <a:off x="3376613" y="31908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18" name="">
            <a:extLst xmlns:a="http://schemas.openxmlformats.org/drawingml/2006/main">
              <a:ext uri="{FF2B5EF4-FFF2-40B4-BE49-F238E27FC236}">
                <a16:creationId xmlns:a16="http://schemas.microsoft.com/office/drawing/2014/main" id="{427DD4F5-1913-4B6E-BF8C-6827DE3783FF}"/>
              </a:ext>
            </a:extLst>
          </p:cNvPr>
          <p:cNvSpPr>
            <a:spLocks xmlns:a="http://schemas.openxmlformats.org/drawingml/2006/main" noGrp="1"/>
          </p:cNvSpPr>
          <p:nvPr/>
        </p:nvSpPr>
        <p:spPr>
          <a:xfrm xmlns:a="http://schemas.openxmlformats.org/drawingml/2006/main">
            <a:off x="6067425" y="31908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19" name="">
            <a:extLst xmlns:a="http://schemas.openxmlformats.org/drawingml/2006/main">
              <a:ext uri="{FF2B5EF4-FFF2-40B4-BE49-F238E27FC236}">
                <a16:creationId xmlns:a16="http://schemas.microsoft.com/office/drawing/2014/main" id="{6FC71DC9-576A-46C9-B0BC-E044DD0BD9C1}"/>
              </a:ext>
            </a:extLst>
          </p:cNvPr>
          <p:cNvSpPr>
            <a:spLocks xmlns:a="http://schemas.openxmlformats.org/drawingml/2006/main" noGrp="1"/>
          </p:cNvSpPr>
          <p:nvPr/>
        </p:nvSpPr>
        <p:spPr>
          <a:xfrm xmlns:a="http://schemas.openxmlformats.org/drawingml/2006/main">
            <a:off x="8758238" y="31908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0" name="">
            <a:extLst xmlns:a="http://schemas.openxmlformats.org/drawingml/2006/main">
              <a:ext uri="{FF2B5EF4-FFF2-40B4-BE49-F238E27FC236}">
                <a16:creationId xmlns:a16="http://schemas.microsoft.com/office/drawing/2014/main" id="{E21B61DF-7F9B-485A-8B01-780F05C9CBFF}"/>
              </a:ext>
            </a:extLst>
          </p:cNvPr>
          <p:cNvSpPr>
            <a:spLocks xmlns:a="http://schemas.openxmlformats.org/drawingml/2006/main" noGrp="1"/>
          </p:cNvSpPr>
          <p:nvPr/>
        </p:nvSpPr>
        <p:spPr>
          <a:xfrm xmlns:a="http://schemas.openxmlformats.org/drawingml/2006/main">
            <a:off x="685800" y="37242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1" name="">
            <a:extLst xmlns:a="http://schemas.openxmlformats.org/drawingml/2006/main">
              <a:ext uri="{FF2B5EF4-FFF2-40B4-BE49-F238E27FC236}">
                <a16:creationId xmlns:a16="http://schemas.microsoft.com/office/drawing/2014/main" id="{65C168F5-6E3E-4237-86A1-55A9160857E0}"/>
              </a:ext>
            </a:extLst>
          </p:cNvPr>
          <p:cNvSpPr>
            <a:spLocks xmlns:a="http://schemas.openxmlformats.org/drawingml/2006/main" noGrp="1"/>
          </p:cNvSpPr>
          <p:nvPr/>
        </p:nvSpPr>
        <p:spPr>
          <a:xfrm xmlns:a="http://schemas.openxmlformats.org/drawingml/2006/main">
            <a:off x="3376613" y="37242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2" name="">
            <a:extLst xmlns:a="http://schemas.openxmlformats.org/drawingml/2006/main">
              <a:ext uri="{FF2B5EF4-FFF2-40B4-BE49-F238E27FC236}">
                <a16:creationId xmlns:a16="http://schemas.microsoft.com/office/drawing/2014/main" id="{16BE0A08-5EEB-437C-8ED8-9FD5B51AEF99}"/>
              </a:ext>
            </a:extLst>
          </p:cNvPr>
          <p:cNvSpPr>
            <a:spLocks xmlns:a="http://schemas.openxmlformats.org/drawingml/2006/main" noGrp="1"/>
          </p:cNvSpPr>
          <p:nvPr/>
        </p:nvSpPr>
        <p:spPr>
          <a:xfrm xmlns:a="http://schemas.openxmlformats.org/drawingml/2006/main">
            <a:off x="6067425" y="37242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3" name="">
            <a:extLst xmlns:a="http://schemas.openxmlformats.org/drawingml/2006/main">
              <a:ext uri="{FF2B5EF4-FFF2-40B4-BE49-F238E27FC236}">
                <a16:creationId xmlns:a16="http://schemas.microsoft.com/office/drawing/2014/main" id="{7A716B2E-F1AB-4F86-86C4-08D674209336}"/>
              </a:ext>
            </a:extLst>
          </p:cNvPr>
          <p:cNvSpPr>
            <a:spLocks xmlns:a="http://schemas.openxmlformats.org/drawingml/2006/main" noGrp="1"/>
          </p:cNvSpPr>
          <p:nvPr/>
        </p:nvSpPr>
        <p:spPr>
          <a:xfrm xmlns:a="http://schemas.openxmlformats.org/drawingml/2006/main">
            <a:off x="8758238" y="37242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4" name="">
            <a:extLst xmlns:a="http://schemas.openxmlformats.org/drawingml/2006/main">
              <a:ext uri="{FF2B5EF4-FFF2-40B4-BE49-F238E27FC236}">
                <a16:creationId xmlns:a16="http://schemas.microsoft.com/office/drawing/2014/main" id="{05700A79-C214-422C-A853-D4181D474493}"/>
              </a:ext>
            </a:extLst>
          </p:cNvPr>
          <p:cNvSpPr>
            <a:spLocks xmlns:a="http://schemas.openxmlformats.org/drawingml/2006/main" noGrp="1"/>
          </p:cNvSpPr>
          <p:nvPr/>
        </p:nvSpPr>
        <p:spPr>
          <a:xfrm xmlns:a="http://schemas.openxmlformats.org/drawingml/2006/main">
            <a:off x="685800" y="42576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5" name="">
            <a:extLst xmlns:a="http://schemas.openxmlformats.org/drawingml/2006/main">
              <a:ext uri="{FF2B5EF4-FFF2-40B4-BE49-F238E27FC236}">
                <a16:creationId xmlns:a16="http://schemas.microsoft.com/office/drawing/2014/main" id="{D98A2592-FD68-4FFC-A1EC-C2176B0747A0}"/>
              </a:ext>
            </a:extLst>
          </p:cNvPr>
          <p:cNvSpPr>
            <a:spLocks xmlns:a="http://schemas.openxmlformats.org/drawingml/2006/main" noGrp="1"/>
          </p:cNvSpPr>
          <p:nvPr/>
        </p:nvSpPr>
        <p:spPr>
          <a:xfrm xmlns:a="http://schemas.openxmlformats.org/drawingml/2006/main">
            <a:off x="3376613" y="42576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6" name="">
            <a:extLst xmlns:a="http://schemas.openxmlformats.org/drawingml/2006/main">
              <a:ext uri="{FF2B5EF4-FFF2-40B4-BE49-F238E27FC236}">
                <a16:creationId xmlns:a16="http://schemas.microsoft.com/office/drawing/2014/main" id="{BA5D1B13-E899-4010-805B-4BF45A1DF647}"/>
              </a:ext>
            </a:extLst>
          </p:cNvPr>
          <p:cNvSpPr>
            <a:spLocks xmlns:a="http://schemas.openxmlformats.org/drawingml/2006/main" noGrp="1"/>
          </p:cNvSpPr>
          <p:nvPr/>
        </p:nvSpPr>
        <p:spPr>
          <a:xfrm xmlns:a="http://schemas.openxmlformats.org/drawingml/2006/main">
            <a:off x="6067425" y="42576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7" name="">
            <a:extLst xmlns:a="http://schemas.openxmlformats.org/drawingml/2006/main">
              <a:ext uri="{FF2B5EF4-FFF2-40B4-BE49-F238E27FC236}">
                <a16:creationId xmlns:a16="http://schemas.microsoft.com/office/drawing/2014/main" id="{CA66FAE2-8592-4330-B37D-EB2594932C08}"/>
              </a:ext>
            </a:extLst>
          </p:cNvPr>
          <p:cNvSpPr>
            <a:spLocks xmlns:a="http://schemas.openxmlformats.org/drawingml/2006/main" noGrp="1"/>
          </p:cNvSpPr>
          <p:nvPr/>
        </p:nvSpPr>
        <p:spPr>
          <a:xfrm xmlns:a="http://schemas.openxmlformats.org/drawingml/2006/main">
            <a:off x="8758238" y="42576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8" name="">
            <a:extLst xmlns:a="http://schemas.openxmlformats.org/drawingml/2006/main">
              <a:ext uri="{FF2B5EF4-FFF2-40B4-BE49-F238E27FC236}">
                <a16:creationId xmlns:a16="http://schemas.microsoft.com/office/drawing/2014/main" id="{BFA22E3E-4CB8-4CEA-A7A8-972E02125DEB}"/>
              </a:ext>
            </a:extLst>
          </p:cNvPr>
          <p:cNvSpPr>
            <a:spLocks xmlns:a="http://schemas.openxmlformats.org/drawingml/2006/main" noGrp="1"/>
          </p:cNvSpPr>
          <p:nvPr/>
        </p:nvSpPr>
        <p:spPr>
          <a:xfrm xmlns:a="http://schemas.openxmlformats.org/drawingml/2006/main">
            <a:off x="685800" y="47910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29" name="">
            <a:extLst xmlns:a="http://schemas.openxmlformats.org/drawingml/2006/main">
              <a:ext uri="{FF2B5EF4-FFF2-40B4-BE49-F238E27FC236}">
                <a16:creationId xmlns:a16="http://schemas.microsoft.com/office/drawing/2014/main" id="{75354565-C267-44D0-81B3-CF647CD7BD60}"/>
              </a:ext>
            </a:extLst>
          </p:cNvPr>
          <p:cNvSpPr>
            <a:spLocks xmlns:a="http://schemas.openxmlformats.org/drawingml/2006/main" noGrp="1"/>
          </p:cNvSpPr>
          <p:nvPr/>
        </p:nvSpPr>
        <p:spPr>
          <a:xfrm xmlns:a="http://schemas.openxmlformats.org/drawingml/2006/main">
            <a:off x="3376613" y="47910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30" name="">
            <a:extLst xmlns:a="http://schemas.openxmlformats.org/drawingml/2006/main">
              <a:ext uri="{FF2B5EF4-FFF2-40B4-BE49-F238E27FC236}">
                <a16:creationId xmlns:a16="http://schemas.microsoft.com/office/drawing/2014/main" id="{E21734C6-014C-4454-BE17-5F6AFF43AC18}"/>
              </a:ext>
            </a:extLst>
          </p:cNvPr>
          <p:cNvSpPr>
            <a:spLocks xmlns:a="http://schemas.openxmlformats.org/drawingml/2006/main" noGrp="1"/>
          </p:cNvSpPr>
          <p:nvPr/>
        </p:nvSpPr>
        <p:spPr>
          <a:xfrm xmlns:a="http://schemas.openxmlformats.org/drawingml/2006/main">
            <a:off x="6067425" y="47910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31" name="">
            <a:extLst xmlns:a="http://schemas.openxmlformats.org/drawingml/2006/main">
              <a:ext uri="{FF2B5EF4-FFF2-40B4-BE49-F238E27FC236}">
                <a16:creationId xmlns:a16="http://schemas.microsoft.com/office/drawing/2014/main" id="{1620C03A-A701-4CA4-B572-DF817298B7EC}"/>
              </a:ext>
            </a:extLst>
          </p:cNvPr>
          <p:cNvSpPr>
            <a:spLocks xmlns:a="http://schemas.openxmlformats.org/drawingml/2006/main" noGrp="1"/>
          </p:cNvSpPr>
          <p:nvPr/>
        </p:nvSpPr>
        <p:spPr>
          <a:xfrm xmlns:a="http://schemas.openxmlformats.org/drawingml/2006/main">
            <a:off x="8758238" y="4791075"/>
            <a:ext cx="2690813" cy="533400"/>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32" name="">
            <a:extLst xmlns:a="http://schemas.openxmlformats.org/drawingml/2006/main">
              <a:ext uri="{FF2B5EF4-FFF2-40B4-BE49-F238E27FC236}">
                <a16:creationId xmlns:a16="http://schemas.microsoft.com/office/drawing/2014/main" id="{BF967F2B-4F29-453D-8A71-15EC689210A0}"/>
              </a:ext>
            </a:extLst>
          </p:cNvPr>
          <p:cNvSpPr>
            <a:spLocks xmlns:a="http://schemas.openxmlformats.org/drawingml/2006/main" noGrp="1"/>
          </p:cNvSpPr>
          <p:nvPr/>
        </p:nvSpPr>
        <p:spPr>
          <a:xfrm xmlns:a="http://schemas.openxmlformats.org/drawingml/2006/main">
            <a:off x="771525" y="32099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optical</a:t>
            </a:r>
          </a:p>
        </p:txBody>
      </p:sp>
      <p:sp>
        <p:nvSpPr>
          <p:cNvPr id="33" name="">
            <a:extLst xmlns:a="http://schemas.openxmlformats.org/drawingml/2006/main">
              <a:ext uri="{FF2B5EF4-FFF2-40B4-BE49-F238E27FC236}">
                <a16:creationId xmlns:a16="http://schemas.microsoft.com/office/drawing/2014/main" id="{67BA48F6-4D49-415A-B233-F3A1BE9E8FBB}"/>
              </a:ext>
            </a:extLst>
          </p:cNvPr>
          <p:cNvSpPr>
            <a:spLocks xmlns:a="http://schemas.openxmlformats.org/drawingml/2006/main" noGrp="1"/>
          </p:cNvSpPr>
          <p:nvPr/>
        </p:nvSpPr>
        <p:spPr>
          <a:xfrm xmlns:a="http://schemas.openxmlformats.org/drawingml/2006/main">
            <a:off x="3462338" y="32099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visible geometry</a:t>
            </a:r>
          </a:p>
        </p:txBody>
      </p:sp>
      <p:sp>
        <p:nvSpPr>
          <p:cNvPr id="34" name="">
            <a:extLst xmlns:a="http://schemas.openxmlformats.org/drawingml/2006/main">
              <a:ext uri="{FF2B5EF4-FFF2-40B4-BE49-F238E27FC236}">
                <a16:creationId xmlns:a16="http://schemas.microsoft.com/office/drawing/2014/main" id="{B946A1E6-A762-44FF-A578-A747869433E0}"/>
              </a:ext>
            </a:extLst>
          </p:cNvPr>
          <p:cNvSpPr>
            <a:spLocks xmlns:a="http://schemas.openxmlformats.org/drawingml/2006/main" noGrp="1"/>
          </p:cNvSpPr>
          <p:nvPr/>
        </p:nvSpPr>
        <p:spPr>
          <a:xfrm xmlns:a="http://schemas.openxmlformats.org/drawingml/2006/main">
            <a:off x="6153150" y="32099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wire loop</a:t>
            </a:r>
          </a:p>
        </p:txBody>
      </p:sp>
      <p:sp>
        <p:nvSpPr>
          <p:cNvPr id="35" name="">
            <a:extLst xmlns:a="http://schemas.openxmlformats.org/drawingml/2006/main">
              <a:ext uri="{FF2B5EF4-FFF2-40B4-BE49-F238E27FC236}">
                <a16:creationId xmlns:a16="http://schemas.microsoft.com/office/drawing/2014/main" id="{9A928D2C-FF4E-4F6A-9808-677D439C380F}"/>
              </a:ext>
            </a:extLst>
          </p:cNvPr>
          <p:cNvSpPr>
            <a:spLocks xmlns:a="http://schemas.openxmlformats.org/drawingml/2006/main" noGrp="1"/>
          </p:cNvSpPr>
          <p:nvPr/>
        </p:nvSpPr>
        <p:spPr>
          <a:xfrm xmlns:a="http://schemas.openxmlformats.org/drawingml/2006/main">
            <a:off x="8843963" y="32099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buried gap</a:t>
            </a:r>
          </a:p>
        </p:txBody>
      </p:sp>
      <p:sp>
        <p:nvSpPr>
          <p:cNvPr id="36" name="">
            <a:extLst xmlns:a="http://schemas.openxmlformats.org/drawingml/2006/main">
              <a:ext uri="{FF2B5EF4-FFF2-40B4-BE49-F238E27FC236}">
                <a16:creationId xmlns:a16="http://schemas.microsoft.com/office/drawing/2014/main" id="{0C6FBE78-C982-436D-9CBA-2A7B31E163A6}"/>
              </a:ext>
            </a:extLst>
          </p:cNvPr>
          <p:cNvSpPr>
            <a:spLocks xmlns:a="http://schemas.openxmlformats.org/drawingml/2006/main" noGrp="1"/>
          </p:cNvSpPr>
          <p:nvPr/>
        </p:nvSpPr>
        <p:spPr>
          <a:xfrm xmlns:a="http://schemas.openxmlformats.org/drawingml/2006/main">
            <a:off x="771525" y="37433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X-ray</a:t>
            </a:r>
          </a:p>
        </p:txBody>
      </p:sp>
      <p:sp>
        <p:nvSpPr>
          <p:cNvPr id="37" name="">
            <a:extLst xmlns:a="http://schemas.openxmlformats.org/drawingml/2006/main">
              <a:ext uri="{FF2B5EF4-FFF2-40B4-BE49-F238E27FC236}">
                <a16:creationId xmlns:a16="http://schemas.microsoft.com/office/drawing/2014/main" id="{61736660-4A9D-457E-B952-6628E1A832E3}"/>
              </a:ext>
            </a:extLst>
          </p:cNvPr>
          <p:cNvSpPr>
            <a:spLocks xmlns:a="http://schemas.openxmlformats.org/drawingml/2006/main" noGrp="1"/>
          </p:cNvSpPr>
          <p:nvPr/>
        </p:nvSpPr>
        <p:spPr>
          <a:xfrm xmlns:a="http://schemas.openxmlformats.org/drawingml/2006/main">
            <a:off x="3462338" y="37433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attenuation</a:t>
            </a:r>
          </a:p>
        </p:txBody>
      </p:sp>
      <p:sp>
        <p:nvSpPr>
          <p:cNvPr id="38" name="">
            <a:extLst xmlns:a="http://schemas.openxmlformats.org/drawingml/2006/main">
              <a:ext uri="{FF2B5EF4-FFF2-40B4-BE49-F238E27FC236}">
                <a16:creationId xmlns:a16="http://schemas.microsoft.com/office/drawing/2014/main" id="{9C4D7C9E-2E6B-4258-B86D-9CE3B1864CF0}"/>
              </a:ext>
            </a:extLst>
          </p:cNvPr>
          <p:cNvSpPr>
            <a:spLocks xmlns:a="http://schemas.openxmlformats.org/drawingml/2006/main" noGrp="1"/>
          </p:cNvSpPr>
          <p:nvPr/>
        </p:nvSpPr>
        <p:spPr>
          <a:xfrm xmlns:a="http://schemas.openxmlformats.org/drawingml/2006/main">
            <a:off x="6153150" y="37433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solder geometry</a:t>
            </a:r>
          </a:p>
        </p:txBody>
      </p:sp>
      <p:sp>
        <p:nvSpPr>
          <p:cNvPr id="39" name="">
            <a:extLst xmlns:a="http://schemas.openxmlformats.org/drawingml/2006/main">
              <a:ext uri="{FF2B5EF4-FFF2-40B4-BE49-F238E27FC236}">
                <a16:creationId xmlns:a16="http://schemas.microsoft.com/office/drawing/2014/main" id="{F7ABA453-6E6D-486F-B04D-0BFE3EE220BB}"/>
              </a:ext>
            </a:extLst>
          </p:cNvPr>
          <p:cNvSpPr>
            <a:spLocks xmlns:a="http://schemas.openxmlformats.org/drawingml/2006/main" noGrp="1"/>
          </p:cNvSpPr>
          <p:nvPr/>
        </p:nvSpPr>
        <p:spPr>
          <a:xfrm xmlns:a="http://schemas.openxmlformats.org/drawingml/2006/main">
            <a:off x="8843963" y="37433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thin interface</a:t>
            </a:r>
          </a:p>
        </p:txBody>
      </p:sp>
      <p:sp>
        <p:nvSpPr>
          <p:cNvPr id="40" name="">
            <a:extLst xmlns:a="http://schemas.openxmlformats.org/drawingml/2006/main">
              <a:ext uri="{FF2B5EF4-FFF2-40B4-BE49-F238E27FC236}">
                <a16:creationId xmlns:a16="http://schemas.microsoft.com/office/drawing/2014/main" id="{4F7F1638-1313-4E76-8254-0230369588C1}"/>
              </a:ext>
            </a:extLst>
          </p:cNvPr>
          <p:cNvSpPr>
            <a:spLocks xmlns:a="http://schemas.openxmlformats.org/drawingml/2006/main" noGrp="1"/>
          </p:cNvSpPr>
          <p:nvPr/>
        </p:nvSpPr>
        <p:spPr>
          <a:xfrm xmlns:a="http://schemas.openxmlformats.org/drawingml/2006/main">
            <a:off x="771525" y="42767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acoustic</a:t>
            </a:r>
          </a:p>
        </p:txBody>
      </p:sp>
      <p:sp>
        <p:nvSpPr>
          <p:cNvPr id="41" name="">
            <a:extLst xmlns:a="http://schemas.openxmlformats.org/drawingml/2006/main">
              <a:ext uri="{FF2B5EF4-FFF2-40B4-BE49-F238E27FC236}">
                <a16:creationId xmlns:a16="http://schemas.microsoft.com/office/drawing/2014/main" id="{8C67E7E6-5CD4-414A-8881-693FF274A515}"/>
              </a:ext>
            </a:extLst>
          </p:cNvPr>
          <p:cNvSpPr>
            <a:spLocks xmlns:a="http://schemas.openxmlformats.org/drawingml/2006/main" noGrp="1"/>
          </p:cNvSpPr>
          <p:nvPr/>
        </p:nvSpPr>
        <p:spPr>
          <a:xfrm xmlns:a="http://schemas.openxmlformats.org/drawingml/2006/main">
            <a:off x="3462338" y="42767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echo / interface</a:t>
            </a:r>
          </a:p>
        </p:txBody>
      </p:sp>
      <p:sp>
        <p:nvSpPr>
          <p:cNvPr id="42" name="">
            <a:extLst xmlns:a="http://schemas.openxmlformats.org/drawingml/2006/main">
              <a:ext uri="{FF2B5EF4-FFF2-40B4-BE49-F238E27FC236}">
                <a16:creationId xmlns:a16="http://schemas.microsoft.com/office/drawing/2014/main" id="{403C1CC4-5406-49D5-9D56-B978531F87DD}"/>
              </a:ext>
            </a:extLst>
          </p:cNvPr>
          <p:cNvSpPr>
            <a:spLocks xmlns:a="http://schemas.openxmlformats.org/drawingml/2006/main" noGrp="1"/>
          </p:cNvSpPr>
          <p:nvPr/>
        </p:nvSpPr>
        <p:spPr>
          <a:xfrm xmlns:a="http://schemas.openxmlformats.org/drawingml/2006/main">
            <a:off x="6153150" y="42767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delamination</a:t>
            </a:r>
          </a:p>
        </p:txBody>
      </p:sp>
      <p:sp>
        <p:nvSpPr>
          <p:cNvPr id="43" name="">
            <a:extLst xmlns:a="http://schemas.openxmlformats.org/drawingml/2006/main">
              <a:ext uri="{FF2B5EF4-FFF2-40B4-BE49-F238E27FC236}">
                <a16:creationId xmlns:a16="http://schemas.microsoft.com/office/drawing/2014/main" id="{B11C0CA3-6C4C-41BC-B439-B33605080682}"/>
              </a:ext>
            </a:extLst>
          </p:cNvPr>
          <p:cNvSpPr>
            <a:spLocks xmlns:a="http://schemas.openxmlformats.org/drawingml/2006/main" noGrp="1"/>
          </p:cNvSpPr>
          <p:nvPr/>
        </p:nvSpPr>
        <p:spPr>
          <a:xfrm xmlns:a="http://schemas.openxmlformats.org/drawingml/2006/main">
            <a:off x="8843963" y="42767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electrical function</a:t>
            </a:r>
          </a:p>
        </p:txBody>
      </p:sp>
      <p:sp>
        <p:nvSpPr>
          <p:cNvPr id="44" name="">
            <a:extLst xmlns:a="http://schemas.openxmlformats.org/drawingml/2006/main">
              <a:ext uri="{FF2B5EF4-FFF2-40B4-BE49-F238E27FC236}">
                <a16:creationId xmlns:a16="http://schemas.microsoft.com/office/drawing/2014/main" id="{9F292DDD-94BC-4D86-ADC8-234F36E7BC97}"/>
              </a:ext>
            </a:extLst>
          </p:cNvPr>
          <p:cNvSpPr>
            <a:spLocks xmlns:a="http://schemas.openxmlformats.org/drawingml/2006/main" noGrp="1"/>
          </p:cNvSpPr>
          <p:nvPr/>
        </p:nvSpPr>
        <p:spPr>
          <a:xfrm xmlns:a="http://schemas.openxmlformats.org/drawingml/2006/main">
            <a:off x="771525" y="48101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electrical</a:t>
            </a:r>
          </a:p>
        </p:txBody>
      </p:sp>
      <p:sp>
        <p:nvSpPr>
          <p:cNvPr id="45" name="">
            <a:extLst xmlns:a="http://schemas.openxmlformats.org/drawingml/2006/main">
              <a:ext uri="{FF2B5EF4-FFF2-40B4-BE49-F238E27FC236}">
                <a16:creationId xmlns:a16="http://schemas.microsoft.com/office/drawing/2014/main" id="{8CF7BFD4-B793-4629-9C5A-75018B9B4677}"/>
              </a:ext>
            </a:extLst>
          </p:cNvPr>
          <p:cNvSpPr>
            <a:spLocks xmlns:a="http://schemas.openxmlformats.org/drawingml/2006/main" noGrp="1"/>
          </p:cNvSpPr>
          <p:nvPr/>
        </p:nvSpPr>
        <p:spPr>
          <a:xfrm xmlns:a="http://schemas.openxmlformats.org/drawingml/2006/main">
            <a:off x="3462338" y="48101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circuit response</a:t>
            </a:r>
          </a:p>
        </p:txBody>
      </p:sp>
      <p:sp>
        <p:nvSpPr>
          <p:cNvPr id="46" name="">
            <a:extLst xmlns:a="http://schemas.openxmlformats.org/drawingml/2006/main">
              <a:ext uri="{FF2B5EF4-FFF2-40B4-BE49-F238E27FC236}">
                <a16:creationId xmlns:a16="http://schemas.microsoft.com/office/drawing/2014/main" id="{7A4EAB03-8817-4A01-885B-40873CACA351}"/>
              </a:ext>
            </a:extLst>
          </p:cNvPr>
          <p:cNvSpPr>
            <a:spLocks xmlns:a="http://schemas.openxmlformats.org/drawingml/2006/main" noGrp="1"/>
          </p:cNvSpPr>
          <p:nvPr/>
        </p:nvSpPr>
        <p:spPr>
          <a:xfrm xmlns:a="http://schemas.openxmlformats.org/drawingml/2006/main">
            <a:off x="6153150" y="48101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open / short</a:t>
            </a:r>
          </a:p>
        </p:txBody>
      </p:sp>
      <p:sp>
        <p:nvSpPr>
          <p:cNvPr id="47" name="">
            <a:extLst xmlns:a="http://schemas.openxmlformats.org/drawingml/2006/main">
              <a:ext uri="{FF2B5EF4-FFF2-40B4-BE49-F238E27FC236}">
                <a16:creationId xmlns:a16="http://schemas.microsoft.com/office/drawing/2014/main" id="{E7792AA4-21B1-4A87-AE25-F626C6D5EF01}"/>
              </a:ext>
            </a:extLst>
          </p:cNvPr>
          <p:cNvSpPr>
            <a:spLocks xmlns:a="http://schemas.openxmlformats.org/drawingml/2006/main" noGrp="1"/>
          </p:cNvSpPr>
          <p:nvPr/>
        </p:nvSpPr>
        <p:spPr>
          <a:xfrm xmlns:a="http://schemas.openxmlformats.org/drawingml/2006/main">
            <a:off x="8843963" y="4810125"/>
            <a:ext cx="2519363"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242124"/>
                </a:solidFill>
                <a:latin typeface="Arial"/>
                <a:ea typeface="Arial"/>
                <a:cs typeface="Arial"/>
              </a:defRPr>
            </a:pPr>
            <a:r>
              <a:rPr sz="1350" b="0">
                <a:solidFill>
                  <a:srgbClr val="242124"/>
                </a:solidFill>
                <a:latin typeface="Arial"/>
                <a:ea typeface="Arial"/>
                <a:cs typeface="Arial"/>
              </a:rPr>
              <a:t>physical cause</a:t>
            </a:r>
          </a:p>
        </p:txBody>
      </p:sp>
      <p:sp>
        <p:nvSpPr>
          <p:cNvPr id="48" name="">
            <a:extLst xmlns:a="http://schemas.openxmlformats.org/drawingml/2006/main">
              <a:ext uri="{FF2B5EF4-FFF2-40B4-BE49-F238E27FC236}">
                <a16:creationId xmlns:a16="http://schemas.microsoft.com/office/drawing/2014/main" id="{CC071989-53F8-4F10-A6D3-1D4F202D1D1D}"/>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Which pair could separate an open joint from underfill void?</a:t>
            </a:r>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bfd424c939834c1d"/>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46895a62e468424a"/>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1802846016"/>
      </p:ext>
    </p:extLst>
  </p:cSld>
</p:sld>
</file>

<file path=ppt/slides/slide11.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1FC6016-187E-4E45-9AF3-EB52ADF7990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DD9280-963C-43FE-A61C-C55F0ABC5D4D}"/>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543320FF-1557-4026-8604-F097FA09D0F8}"/>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8F87C43F-18D2-4ACB-8EBF-4451AF598ACF}"/>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87C88B46-8AB3-40D8-B884-6EF0A309ACC0}"/>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11 / 16</a:t>
            </a:r>
          </a:p>
        </p:txBody>
      </p:sp>
      <p:sp>
        <p:nvSpPr>
          <p:cNvPr id="6" name="">
            <a:extLst xmlns:a="http://schemas.openxmlformats.org/drawingml/2006/main">
              <a:ext uri="{FF2B5EF4-FFF2-40B4-BE49-F238E27FC236}">
                <a16:creationId xmlns:a16="http://schemas.microsoft.com/office/drawing/2014/main" id="{3124A3AB-F9D5-4884-95A7-1F9D275D0160}"/>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Worked case: an open after reflow</a:t>
            </a:r>
          </a:p>
        </p:txBody>
      </p:sp>
      <p:sp>
        <p:nvSpPr>
          <p:cNvPr id="7" name="">
            <a:extLst xmlns:a="http://schemas.openxmlformats.org/drawingml/2006/main">
              <a:ext uri="{FF2B5EF4-FFF2-40B4-BE49-F238E27FC236}">
                <a16:creationId xmlns:a16="http://schemas.microsoft.com/office/drawing/2014/main" id="{123E587B-E2C9-4F6F-ACF2-66DBAB084308}"/>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An electrical open after reflow narrows the search, but not to one cause.</a:t>
            </a:r>
          </a:p>
        </p:txBody>
      </p:sp>
      <p:sp>
        <p:nvSpPr>
          <p:cNvPr id="8" name="">
            <a:extLst xmlns:a="http://schemas.openxmlformats.org/drawingml/2006/main">
              <a:ext uri="{FF2B5EF4-FFF2-40B4-BE49-F238E27FC236}">
                <a16:creationId xmlns:a16="http://schemas.microsoft.com/office/drawing/2014/main" id="{B8DEF7DD-4E42-4C12-A806-B46216D01FEE}"/>
              </a:ext>
            </a:extLst>
          </p:cNvPr>
          <p:cNvSpPr>
            <a:spLocks xmlns:a="http://schemas.openxmlformats.org/drawingml/2006/main" noGrp="1"/>
          </p:cNvSpPr>
          <p:nvPr/>
        </p:nvSpPr>
        <p:spPr>
          <a:xfrm xmlns:a="http://schemas.openxmlformats.org/drawingml/2006/main">
            <a:off x="809625" y="3619500"/>
            <a:ext cx="10096500" cy="0"/>
          </a:xfrm>
          <a:prstGeom xmlns:a="http://schemas.openxmlformats.org/drawingml/2006/main" prst="line">
            <a:avLst/>
          </a:prstGeom>
          <a:noFill xmlns:a="http://schemas.openxmlformats.org/drawingml/2006/main"/>
          <a:ln xmlns:a="http://schemas.openxmlformats.org/drawingml/2006/main" w="28575">
            <a:solidFill>
              <a:srgbClr val="420A15"/>
            </a:solidFill>
          </a:ln>
        </p:spPr>
      </p:sp>
      <p:sp>
        <p:nvSpPr>
          <p:cNvPr id="9" name="">
            <a:extLst xmlns:a="http://schemas.openxmlformats.org/drawingml/2006/main">
              <a:ext uri="{FF2B5EF4-FFF2-40B4-BE49-F238E27FC236}">
                <a16:creationId xmlns:a16="http://schemas.microsoft.com/office/drawing/2014/main" id="{D2E8A7CB-BB69-451B-812A-068873604989}"/>
              </a:ext>
            </a:extLst>
          </p:cNvPr>
          <p:cNvSpPr>
            <a:spLocks xmlns:a="http://schemas.openxmlformats.org/drawingml/2006/main" noGrp="1"/>
          </p:cNvSpPr>
          <p:nvPr/>
        </p:nvSpPr>
        <p:spPr>
          <a:xfrm xmlns:a="http://schemas.openxmlformats.org/drawingml/2006/main">
            <a:off x="1871663"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9E9A4F9-2B0A-4090-8BEC-9AB6B9EA90EC}"/>
              </a:ext>
            </a:extLst>
          </p:cNvPr>
          <p:cNvSpPr>
            <a:spLocks xmlns:a="http://schemas.openxmlformats.org/drawingml/2006/main" noGrp="1"/>
          </p:cNvSpPr>
          <p:nvPr/>
        </p:nvSpPr>
        <p:spPr>
          <a:xfrm xmlns:a="http://schemas.openxmlformats.org/drawingml/2006/main">
            <a:off x="1871663"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74B63435-2D52-4C86-8A11-C69A41BA2FAE}"/>
              </a:ext>
            </a:extLst>
          </p:cNvPr>
          <p:cNvSpPr>
            <a:spLocks xmlns:a="http://schemas.openxmlformats.org/drawingml/2006/main" noGrp="1"/>
          </p:cNvSpPr>
          <p:nvPr/>
        </p:nvSpPr>
        <p:spPr>
          <a:xfrm xmlns:a="http://schemas.openxmlformats.org/drawingml/2006/main">
            <a:off x="914400" y="4019550"/>
            <a:ext cx="240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12233F"/>
                </a:solidFill>
                <a:latin typeface="Arial"/>
                <a:ea typeface="Arial"/>
                <a:cs typeface="Arial"/>
              </a:defRPr>
            </a:pPr>
            <a:r>
              <a:rPr sz="1725" b="1">
                <a:solidFill>
                  <a:srgbClr val="12233F"/>
                </a:solidFill>
                <a:latin typeface="Arial"/>
                <a:ea typeface="Arial"/>
                <a:cs typeface="Arial"/>
              </a:rPr>
              <a:t>reflow</a:t>
            </a:r>
          </a:p>
        </p:txBody>
      </p:sp>
      <p:sp>
        <p:nvSpPr>
          <p:cNvPr id="12" name="">
            <a:extLst xmlns:a="http://schemas.openxmlformats.org/drawingml/2006/main">
              <a:ext uri="{FF2B5EF4-FFF2-40B4-BE49-F238E27FC236}">
                <a16:creationId xmlns:a16="http://schemas.microsoft.com/office/drawing/2014/main" id="{6A7A17F3-6298-481C-A6B5-155417C61BC0}"/>
              </a:ext>
            </a:extLst>
          </p:cNvPr>
          <p:cNvSpPr>
            <a:spLocks xmlns:a="http://schemas.openxmlformats.org/drawingml/2006/main" noGrp="1"/>
          </p:cNvSpPr>
          <p:nvPr/>
        </p:nvSpPr>
        <p:spPr>
          <a:xfrm xmlns:a="http://schemas.openxmlformats.org/drawingml/2006/main">
            <a:off x="4491038"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B5AA65A-04C6-4BEC-AAA1-098C0DA52823}"/>
              </a:ext>
            </a:extLst>
          </p:cNvPr>
          <p:cNvSpPr>
            <a:spLocks xmlns:a="http://schemas.openxmlformats.org/drawingml/2006/main" noGrp="1"/>
          </p:cNvSpPr>
          <p:nvPr/>
        </p:nvSpPr>
        <p:spPr>
          <a:xfrm xmlns:a="http://schemas.openxmlformats.org/drawingml/2006/main">
            <a:off x="4491038"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8061D7CF-7B0D-4039-A601-408606A0C93A}"/>
              </a:ext>
            </a:extLst>
          </p:cNvPr>
          <p:cNvSpPr>
            <a:spLocks xmlns:a="http://schemas.openxmlformats.org/drawingml/2006/main" noGrp="1"/>
          </p:cNvSpPr>
          <p:nvPr/>
        </p:nvSpPr>
        <p:spPr>
          <a:xfrm xmlns:a="http://schemas.openxmlformats.org/drawingml/2006/main">
            <a:off x="3533775" y="4019550"/>
            <a:ext cx="240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12233F"/>
                </a:solidFill>
                <a:latin typeface="Arial"/>
                <a:ea typeface="Arial"/>
                <a:cs typeface="Arial"/>
              </a:defRPr>
            </a:pPr>
            <a:r>
              <a:rPr sz="1725" b="1">
                <a:solidFill>
                  <a:srgbClr val="12233F"/>
                </a:solidFill>
                <a:latin typeface="Arial"/>
                <a:ea typeface="Arial"/>
                <a:cs typeface="Arial"/>
              </a:rPr>
              <a:t>electrical open</a:t>
            </a:r>
          </a:p>
        </p:txBody>
      </p:sp>
      <p:sp>
        <p:nvSpPr>
          <p:cNvPr id="15" name="">
            <a:extLst xmlns:a="http://schemas.openxmlformats.org/drawingml/2006/main">
              <a:ext uri="{FF2B5EF4-FFF2-40B4-BE49-F238E27FC236}">
                <a16:creationId xmlns:a16="http://schemas.microsoft.com/office/drawing/2014/main" id="{BD1A4CBE-F2F5-4C90-B487-531EA74F02AA}"/>
              </a:ext>
            </a:extLst>
          </p:cNvPr>
          <p:cNvSpPr>
            <a:spLocks xmlns:a="http://schemas.openxmlformats.org/drawingml/2006/main" noGrp="1"/>
          </p:cNvSpPr>
          <p:nvPr/>
        </p:nvSpPr>
        <p:spPr>
          <a:xfrm xmlns:a="http://schemas.openxmlformats.org/drawingml/2006/main">
            <a:off x="7110413"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EBF0FFB-DDDB-44B0-A9A3-7D7262B952D8}"/>
              </a:ext>
            </a:extLst>
          </p:cNvPr>
          <p:cNvSpPr>
            <a:spLocks xmlns:a="http://schemas.openxmlformats.org/drawingml/2006/main" noGrp="1"/>
          </p:cNvSpPr>
          <p:nvPr/>
        </p:nvSpPr>
        <p:spPr>
          <a:xfrm xmlns:a="http://schemas.openxmlformats.org/drawingml/2006/main">
            <a:off x="7110413"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FEDE5192-6A26-4D72-BE4F-FD261A32C7F2}"/>
              </a:ext>
            </a:extLst>
          </p:cNvPr>
          <p:cNvSpPr>
            <a:spLocks xmlns:a="http://schemas.openxmlformats.org/drawingml/2006/main" noGrp="1"/>
          </p:cNvSpPr>
          <p:nvPr/>
        </p:nvSpPr>
        <p:spPr>
          <a:xfrm xmlns:a="http://schemas.openxmlformats.org/drawingml/2006/main">
            <a:off x="6153150" y="4019550"/>
            <a:ext cx="240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12233F"/>
                </a:solidFill>
                <a:latin typeface="Arial"/>
                <a:ea typeface="Arial"/>
                <a:cs typeface="Arial"/>
              </a:defRPr>
            </a:pPr>
            <a:r>
              <a:rPr sz="1725" b="1">
                <a:solidFill>
                  <a:srgbClr val="12233F"/>
                </a:solidFill>
                <a:latin typeface="Arial"/>
                <a:ea typeface="Arial"/>
                <a:cs typeface="Arial"/>
              </a:rPr>
              <a:t>candidate mechanism</a:t>
            </a:r>
          </a:p>
        </p:txBody>
      </p:sp>
      <p:sp>
        <p:nvSpPr>
          <p:cNvPr id="18" name="">
            <a:extLst xmlns:a="http://schemas.openxmlformats.org/drawingml/2006/main">
              <a:ext uri="{FF2B5EF4-FFF2-40B4-BE49-F238E27FC236}">
                <a16:creationId xmlns:a16="http://schemas.microsoft.com/office/drawing/2014/main" id="{43CB7B9A-60FE-4F70-AA16-1E878B59817A}"/>
              </a:ext>
            </a:extLst>
          </p:cNvPr>
          <p:cNvSpPr>
            <a:spLocks xmlns:a="http://schemas.openxmlformats.org/drawingml/2006/main" noGrp="1"/>
          </p:cNvSpPr>
          <p:nvPr/>
        </p:nvSpPr>
        <p:spPr>
          <a:xfrm xmlns:a="http://schemas.openxmlformats.org/drawingml/2006/main">
            <a:off x="9729788"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8D3E059-9141-44A9-BCEA-A0F6D34B5C35}"/>
              </a:ext>
            </a:extLst>
          </p:cNvPr>
          <p:cNvSpPr>
            <a:spLocks xmlns:a="http://schemas.openxmlformats.org/drawingml/2006/main" noGrp="1"/>
          </p:cNvSpPr>
          <p:nvPr/>
        </p:nvSpPr>
        <p:spPr>
          <a:xfrm xmlns:a="http://schemas.openxmlformats.org/drawingml/2006/main">
            <a:off x="9729788"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9632E444-DA03-4D03-A2C3-BCE5E7B3AC68}"/>
              </a:ext>
            </a:extLst>
          </p:cNvPr>
          <p:cNvSpPr>
            <a:spLocks xmlns:a="http://schemas.openxmlformats.org/drawingml/2006/main" noGrp="1"/>
          </p:cNvSpPr>
          <p:nvPr/>
        </p:nvSpPr>
        <p:spPr>
          <a:xfrm xmlns:a="http://schemas.openxmlformats.org/drawingml/2006/main">
            <a:off x="8772525" y="4019550"/>
            <a:ext cx="2409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12233F"/>
                </a:solidFill>
                <a:latin typeface="Arial"/>
                <a:ea typeface="Arial"/>
                <a:cs typeface="Arial"/>
              </a:defRPr>
            </a:pPr>
            <a:r>
              <a:rPr sz="1725" b="1">
                <a:solidFill>
                  <a:srgbClr val="12233F"/>
                </a:solidFill>
                <a:latin typeface="Arial"/>
                <a:ea typeface="Arial"/>
                <a:cs typeface="Arial"/>
              </a:rPr>
              <a:t>next inspection</a:t>
            </a:r>
          </a:p>
        </p:txBody>
      </p:sp>
      <p:sp>
        <p:nvSpPr>
          <p:cNvPr id="21" name="">
            <a:extLst xmlns:a="http://schemas.openxmlformats.org/drawingml/2006/main">
              <a:ext uri="{FF2B5EF4-FFF2-40B4-BE49-F238E27FC236}">
                <a16:creationId xmlns:a16="http://schemas.microsoft.com/office/drawing/2014/main" id="{0E838DE3-ADFD-44F2-A3F1-14F436A66B2E}"/>
              </a:ext>
            </a:extLst>
          </p:cNvPr>
          <p:cNvSpPr>
            <a:spLocks xmlns:a="http://schemas.openxmlformats.org/drawingml/2006/main" noGrp="1"/>
          </p:cNvSpPr>
          <p:nvPr/>
        </p:nvSpPr>
        <p:spPr>
          <a:xfrm xmlns:a="http://schemas.openxmlformats.org/drawingml/2006/main">
            <a:off x="4619625" y="2714625"/>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08D91"/>
                </a:solidFill>
                <a:latin typeface="Arial"/>
                <a:ea typeface="Arial"/>
                <a:cs typeface="Arial"/>
              </a:defRPr>
            </a:pPr>
            <a:r>
              <a:rPr sz="1350" b="1">
                <a:solidFill>
                  <a:srgbClr val="008D91"/>
                </a:solidFill>
                <a:latin typeface="Arial"/>
                <a:ea typeface="Arial"/>
                <a:cs typeface="Arial"/>
              </a:rPr>
              <a:t>OBSERVED OPEN</a:t>
            </a:r>
          </a:p>
        </p:txBody>
      </p:sp>
      <p:sp>
        <p:nvSpPr>
          <p:cNvPr id="22" name="">
            <a:extLst xmlns:a="http://schemas.openxmlformats.org/drawingml/2006/main">
              <a:ext uri="{FF2B5EF4-FFF2-40B4-BE49-F238E27FC236}">
                <a16:creationId xmlns:a16="http://schemas.microsoft.com/office/drawing/2014/main" id="{0FD9AFAB-93CC-402F-8567-A000A84BFF0C}"/>
              </a:ext>
            </a:extLst>
          </p:cNvPr>
          <p:cNvSpPr>
            <a:spLocks xmlns:a="http://schemas.openxmlformats.org/drawingml/2006/main" noGrp="1"/>
          </p:cNvSpPr>
          <p:nvPr/>
        </p:nvSpPr>
        <p:spPr>
          <a:xfrm xmlns:a="http://schemas.openxmlformats.org/drawingml/2006/main">
            <a:off x="7667625" y="271462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420A15"/>
                </a:solidFill>
                <a:latin typeface="Arial"/>
                <a:ea typeface="Arial"/>
                <a:cs typeface="Arial"/>
              </a:defRPr>
            </a:pPr>
            <a:r>
              <a:rPr sz="1350" b="1">
                <a:solidFill>
                  <a:srgbClr val="420A15"/>
                </a:solidFill>
                <a:latin typeface="Arial"/>
                <a:ea typeface="Arial"/>
                <a:cs typeface="Arial"/>
              </a:rPr>
              <a:t>CAUSE HYPOTHESES</a:t>
            </a:r>
          </a:p>
        </p:txBody>
      </p:sp>
      <p:sp>
        <p:nvSpPr>
          <p:cNvPr id="23" name="">
            <a:extLst xmlns:a="http://schemas.openxmlformats.org/drawingml/2006/main">
              <a:ext uri="{FF2B5EF4-FFF2-40B4-BE49-F238E27FC236}">
                <a16:creationId xmlns:a16="http://schemas.microsoft.com/office/drawing/2014/main" id="{F127E552-A4C8-4DD1-A330-F0C6A17A2F02}"/>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Which measurement distinguishes candidates?</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5a067290b9504072"/>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dda32f06b87946d4"/>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319415663"/>
      </p:ext>
    </p:extLst>
  </p:cSld>
</p:sld>
</file>

<file path=ppt/slides/slide12.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44F5DA2-7400-46AA-96F3-4974CFB72EE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C097FA-4EAF-4F66-A64C-085CC8B3740B}"/>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063D2FBA-E76F-412F-80D1-BE26D4877BBE}"/>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425E0D87-DE6C-41B7-B89E-AD127C39E12E}"/>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96EE2B05-ABAE-4609-9FCE-7F986D538844}"/>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12 / 16</a:t>
            </a:r>
          </a:p>
        </p:txBody>
      </p:sp>
      <p:sp>
        <p:nvSpPr>
          <p:cNvPr id="6" name="">
            <a:extLst xmlns:a="http://schemas.openxmlformats.org/drawingml/2006/main">
              <a:ext uri="{FF2B5EF4-FFF2-40B4-BE49-F238E27FC236}">
                <a16:creationId xmlns:a16="http://schemas.microsoft.com/office/drawing/2014/main" id="{C31BE4E2-5641-47CA-8711-A79C5B19696C}"/>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Worked case: choose the next test</a:t>
            </a:r>
          </a:p>
        </p:txBody>
      </p:sp>
      <p:sp>
        <p:nvSpPr>
          <p:cNvPr id="7" name="">
            <a:extLst xmlns:a="http://schemas.openxmlformats.org/drawingml/2006/main">
              <a:ext uri="{FF2B5EF4-FFF2-40B4-BE49-F238E27FC236}">
                <a16:creationId xmlns:a16="http://schemas.microsoft.com/office/drawing/2014/main" id="{834FE971-323D-4AF3-9F39-363218530574}"/>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The next test should separate competing hypotheses.</a:t>
            </a:r>
          </a:p>
        </p:txBody>
      </p:sp>
      <p:sp>
        <p:nvSpPr>
          <p:cNvPr id="8" name="">
            <a:extLst xmlns:a="http://schemas.openxmlformats.org/drawingml/2006/main">
              <a:ext uri="{FF2B5EF4-FFF2-40B4-BE49-F238E27FC236}">
                <a16:creationId xmlns:a16="http://schemas.microsoft.com/office/drawing/2014/main" id="{A27FCDD0-7883-4E41-86DC-3A863D8DEF6A}"/>
              </a:ext>
            </a:extLst>
          </p:cNvPr>
          <p:cNvSpPr>
            <a:spLocks xmlns:a="http://schemas.openxmlformats.org/drawingml/2006/main" noGrp="1"/>
          </p:cNvSpPr>
          <p:nvPr/>
        </p:nvSpPr>
        <p:spPr>
          <a:xfrm xmlns:a="http://schemas.openxmlformats.org/drawingml/2006/main">
            <a:off x="809625" y="304800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2233F"/>
                </a:solidFill>
                <a:latin typeface="Arial"/>
                <a:ea typeface="Arial"/>
                <a:cs typeface="Arial"/>
              </a:defRPr>
            </a:pPr>
            <a:r>
              <a:rPr sz="2400" b="1">
                <a:solidFill>
                  <a:srgbClr val="12233F"/>
                </a:solidFill>
                <a:latin typeface="Arial"/>
                <a:ea typeface="Arial"/>
                <a:cs typeface="Arial"/>
              </a:rPr>
              <a:t>Observed open</a:t>
            </a:r>
          </a:p>
        </p:txBody>
      </p:sp>
      <p:sp>
        <p:nvSpPr>
          <p:cNvPr id="9" name="">
            <a:extLst xmlns:a="http://schemas.openxmlformats.org/drawingml/2006/main">
              <a:ext uri="{FF2B5EF4-FFF2-40B4-BE49-F238E27FC236}">
                <a16:creationId xmlns:a16="http://schemas.microsoft.com/office/drawing/2014/main" id="{05CA3900-C46C-41E6-A61F-D1B4D34478D8}"/>
              </a:ext>
            </a:extLst>
          </p:cNvPr>
          <p:cNvSpPr>
            <a:spLocks xmlns:a="http://schemas.openxmlformats.org/drawingml/2006/main" noGrp="1"/>
          </p:cNvSpPr>
          <p:nvPr/>
        </p:nvSpPr>
        <p:spPr>
          <a:xfrm xmlns:a="http://schemas.openxmlformats.org/drawingml/2006/main">
            <a:off x="3905250" y="3333750"/>
            <a:ext cx="1714500" cy="0"/>
          </a:xfrm>
          <a:prstGeom xmlns:a="http://schemas.openxmlformats.org/drawingml/2006/main" prst="line">
            <a:avLst/>
          </a:prstGeom>
          <a:noFill xmlns:a="http://schemas.openxmlformats.org/drawingml/2006/main"/>
          <a:ln xmlns:a="http://schemas.openxmlformats.org/drawingml/2006/main" w="28575">
            <a:solidFill>
              <a:srgbClr val="420A15"/>
            </a:solidFill>
          </a:ln>
        </p:spPr>
      </p:sp>
      <p:sp>
        <p:nvSpPr>
          <p:cNvPr id="10" name="">
            <a:extLst xmlns:a="http://schemas.openxmlformats.org/drawingml/2006/main">
              <a:ext uri="{FF2B5EF4-FFF2-40B4-BE49-F238E27FC236}">
                <a16:creationId xmlns:a16="http://schemas.microsoft.com/office/drawing/2014/main" id="{CF705CC9-DC23-4324-B0F9-2C262E67F042}"/>
              </a:ext>
            </a:extLst>
          </p:cNvPr>
          <p:cNvSpPr>
            <a:spLocks xmlns:a="http://schemas.openxmlformats.org/drawingml/2006/main" noGrp="1"/>
          </p:cNvSpPr>
          <p:nvPr/>
        </p:nvSpPr>
        <p:spPr>
          <a:xfrm xmlns:a="http://schemas.openxmlformats.org/drawingml/2006/main">
            <a:off x="5619750" y="2428875"/>
            <a:ext cx="857250" cy="904875"/>
          </a:xfrm>
          <a:prstGeom xmlns:a="http://schemas.openxmlformats.org/drawingml/2006/main" prst="line">
            <a:avLst/>
          </a:prstGeom>
          <a:noFill xmlns:a="http://schemas.openxmlformats.org/drawingml/2006/main"/>
          <a:ln xmlns:a="http://schemas.openxmlformats.org/drawingml/2006/main" w="28575">
            <a:solidFill>
              <a:srgbClr val="420A15"/>
            </a:solidFill>
          </a:ln>
        </p:spPr>
      </p:sp>
      <p:sp>
        <p:nvSpPr>
          <p:cNvPr id="11" name="">
            <a:extLst xmlns:a="http://schemas.openxmlformats.org/drawingml/2006/main">
              <a:ext uri="{FF2B5EF4-FFF2-40B4-BE49-F238E27FC236}">
                <a16:creationId xmlns:a16="http://schemas.microsoft.com/office/drawing/2014/main" id="{B0E07848-B1FE-4D48-B968-7C7A49017F95}"/>
              </a:ext>
            </a:extLst>
          </p:cNvPr>
          <p:cNvSpPr>
            <a:spLocks xmlns:a="http://schemas.openxmlformats.org/drawingml/2006/main" noGrp="1"/>
          </p:cNvSpPr>
          <p:nvPr/>
        </p:nvSpPr>
        <p:spPr>
          <a:xfrm xmlns:a="http://schemas.openxmlformats.org/drawingml/2006/main">
            <a:off x="5619750" y="3333750"/>
            <a:ext cx="857250" cy="857250"/>
          </a:xfrm>
          <a:prstGeom xmlns:a="http://schemas.openxmlformats.org/drawingml/2006/main" prst="line">
            <a:avLst/>
          </a:prstGeom>
          <a:noFill xmlns:a="http://schemas.openxmlformats.org/drawingml/2006/main"/>
          <a:ln xmlns:a="http://schemas.openxmlformats.org/drawingml/2006/main" w="28575">
            <a:solidFill>
              <a:srgbClr val="420A15"/>
            </a:solidFill>
          </a:ln>
        </p:spPr>
      </p:sp>
      <p:sp>
        <p:nvSpPr>
          <p:cNvPr id="12" name="">
            <a:extLst xmlns:a="http://schemas.openxmlformats.org/drawingml/2006/main">
              <a:ext uri="{FF2B5EF4-FFF2-40B4-BE49-F238E27FC236}">
                <a16:creationId xmlns:a16="http://schemas.microsoft.com/office/drawing/2014/main" id="{3C86708A-0568-4F2C-BB2F-21430429A565}"/>
              </a:ext>
            </a:extLst>
          </p:cNvPr>
          <p:cNvSpPr>
            <a:spLocks xmlns:a="http://schemas.openxmlformats.org/drawingml/2006/main" noGrp="1"/>
          </p:cNvSpPr>
          <p:nvPr/>
        </p:nvSpPr>
        <p:spPr>
          <a:xfrm xmlns:a="http://schemas.openxmlformats.org/drawingml/2006/main">
            <a:off x="6667500" y="20955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420A15"/>
                </a:solidFill>
                <a:latin typeface="Arial"/>
                <a:ea typeface="Arial"/>
                <a:cs typeface="Arial"/>
              </a:defRPr>
            </a:pPr>
            <a:r>
              <a:rPr sz="1875" b="1">
                <a:solidFill>
                  <a:srgbClr val="420A15"/>
                </a:solidFill>
                <a:latin typeface="Arial"/>
                <a:ea typeface="Arial"/>
                <a:cs typeface="Arial"/>
              </a:rPr>
              <a:t>X-ray geometry</a:t>
            </a:r>
          </a:p>
        </p:txBody>
      </p:sp>
      <p:sp>
        <p:nvSpPr>
          <p:cNvPr id="13" name="">
            <a:extLst xmlns:a="http://schemas.openxmlformats.org/drawingml/2006/main">
              <a:ext uri="{FF2B5EF4-FFF2-40B4-BE49-F238E27FC236}">
                <a16:creationId xmlns:a16="http://schemas.microsoft.com/office/drawing/2014/main" id="{B46E4692-E402-4D88-ABE6-806FCD979150}"/>
              </a:ext>
            </a:extLst>
          </p:cNvPr>
          <p:cNvSpPr>
            <a:spLocks xmlns:a="http://schemas.openxmlformats.org/drawingml/2006/main" noGrp="1"/>
          </p:cNvSpPr>
          <p:nvPr/>
        </p:nvSpPr>
        <p:spPr>
          <a:xfrm xmlns:a="http://schemas.openxmlformats.org/drawingml/2006/main">
            <a:off x="6667500" y="39052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D91"/>
                </a:solidFill>
                <a:latin typeface="Arial"/>
                <a:ea typeface="Arial"/>
                <a:cs typeface="Arial"/>
              </a:defRPr>
            </a:pPr>
            <a:r>
              <a:rPr sz="1875" b="1">
                <a:solidFill>
                  <a:srgbClr val="008D91"/>
                </a:solidFill>
                <a:latin typeface="Arial"/>
                <a:ea typeface="Arial"/>
                <a:cs typeface="Arial"/>
              </a:rPr>
              <a:t>continuity map</a:t>
            </a:r>
          </a:p>
        </p:txBody>
      </p:sp>
      <p:sp>
        <p:nvSpPr>
          <p:cNvPr id="14" name="">
            <a:extLst xmlns:a="http://schemas.openxmlformats.org/drawingml/2006/main">
              <a:ext uri="{FF2B5EF4-FFF2-40B4-BE49-F238E27FC236}">
                <a16:creationId xmlns:a16="http://schemas.microsoft.com/office/drawing/2014/main" id="{9234549A-86A6-4A12-B056-9BF87DB49BD0}"/>
              </a:ext>
            </a:extLst>
          </p:cNvPr>
          <p:cNvSpPr>
            <a:spLocks xmlns:a="http://schemas.openxmlformats.org/drawingml/2006/main" noGrp="1"/>
          </p:cNvSpPr>
          <p:nvPr/>
        </p:nvSpPr>
        <p:spPr>
          <a:xfrm xmlns:a="http://schemas.openxmlformats.org/drawingml/2006/main">
            <a:off x="6858000" y="30956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B5A5A"/>
                </a:solidFill>
                <a:latin typeface="Arial"/>
                <a:ea typeface="Arial"/>
                <a:cs typeface="Arial"/>
              </a:defRPr>
            </a:pPr>
            <a:r>
              <a:rPr sz="1500" b="0">
                <a:solidFill>
                  <a:srgbClr val="5B5A5A"/>
                </a:solidFill>
                <a:latin typeface="Arial"/>
                <a:ea typeface="Arial"/>
                <a:cs typeface="Arial"/>
              </a:rPr>
              <a:t>cross-section sample</a:t>
            </a:r>
          </a:p>
        </p:txBody>
      </p:sp>
      <p:sp>
        <p:nvSpPr>
          <p:cNvPr id="15" name="">
            <a:extLst xmlns:a="http://schemas.openxmlformats.org/drawingml/2006/main">
              <a:ext uri="{FF2B5EF4-FFF2-40B4-BE49-F238E27FC236}">
                <a16:creationId xmlns:a16="http://schemas.microsoft.com/office/drawing/2014/main" id="{DC4415B8-394F-49B1-BF51-DDA19FE63467}"/>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What result would change your hypothesis?</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1852a7d79e304bbb"/>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69a02dd5dd1e49ed"/>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148496609"/>
      </p:ext>
    </p:extLst>
  </p:cSld>
</p:sld>
</file>

<file path=ppt/slides/slide13.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0323F56-3A71-49BD-A9F9-DD7DDF5F926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FFD127-E65C-40CE-8CA3-92AA7EAA2D78}"/>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A8C8C3BA-C4C5-4762-8F1D-47A22A59138C}"/>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DBD09D9A-A70D-441D-BAF2-07C407055404}"/>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B58D36CE-42B6-4B7C-9C6F-9616085B0B74}"/>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13 / 16</a:t>
            </a:r>
          </a:p>
        </p:txBody>
      </p:sp>
      <p:sp>
        <p:nvSpPr>
          <p:cNvPr id="6" name="">
            <a:extLst xmlns:a="http://schemas.openxmlformats.org/drawingml/2006/main">
              <a:ext uri="{FF2B5EF4-FFF2-40B4-BE49-F238E27FC236}">
                <a16:creationId xmlns:a16="http://schemas.microsoft.com/office/drawing/2014/main" id="{35EB799B-F5A1-47FD-936F-A582AE8BB5F5}"/>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Guided case record</a:t>
            </a:r>
          </a:p>
        </p:txBody>
      </p:sp>
      <p:sp>
        <p:nvSpPr>
          <p:cNvPr id="7" name="">
            <a:extLst xmlns:a="http://schemas.openxmlformats.org/drawingml/2006/main">
              <a:ext uri="{FF2B5EF4-FFF2-40B4-BE49-F238E27FC236}">
                <a16:creationId xmlns:a16="http://schemas.microsoft.com/office/drawing/2014/main" id="{321167E8-93B5-4196-9C14-D3C23356D13D}"/>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Read a deliberately synthetic record before mapping a defect.</a:t>
            </a:r>
          </a:p>
        </p:txBody>
      </p:sp>
      <p:sp>
        <p:nvSpPr>
          <p:cNvPr id="8" name="">
            <a:extLst xmlns:a="http://schemas.openxmlformats.org/drawingml/2006/main">
              <a:ext uri="{FF2B5EF4-FFF2-40B4-BE49-F238E27FC236}">
                <a16:creationId xmlns:a16="http://schemas.microsoft.com/office/drawing/2014/main" id="{2C7CC934-949E-49D3-B8C5-A5A8DDB5EBC3}"/>
              </a:ext>
            </a:extLst>
          </p:cNvPr>
          <p:cNvSpPr>
            <a:spLocks xmlns:a="http://schemas.openxmlformats.org/drawingml/2006/main" noGrp="1"/>
          </p:cNvSpPr>
          <p:nvPr/>
        </p:nvSpPr>
        <p:spPr>
          <a:xfrm xmlns:a="http://schemas.openxmlformats.org/drawingml/2006/main">
            <a:off x="904875" y="2495550"/>
            <a:ext cx="68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4002B"/>
                </a:solidFill>
                <a:latin typeface="Arial"/>
                <a:ea typeface="Arial"/>
                <a:cs typeface="Arial"/>
              </a:defRPr>
            </a:pPr>
            <a:r>
              <a:rPr sz="1650" b="1">
                <a:solidFill>
                  <a:srgbClr val="E4002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1F8B0C3D-2B83-4E41-8AB7-1F46B1D18DA2}"/>
              </a:ext>
            </a:extLst>
          </p:cNvPr>
          <p:cNvSpPr>
            <a:spLocks xmlns:a="http://schemas.openxmlformats.org/drawingml/2006/main" noGrp="1"/>
          </p:cNvSpPr>
          <p:nvPr/>
        </p:nvSpPr>
        <p:spPr>
          <a:xfrm xmlns:a="http://schemas.openxmlformats.org/drawingml/2006/main">
            <a:off x="1714500" y="249555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2233F"/>
                </a:solidFill>
                <a:latin typeface="Arial"/>
                <a:ea typeface="Arial"/>
                <a:cs typeface="Arial"/>
              </a:defRPr>
            </a:pPr>
            <a:r>
              <a:rPr sz="1725" b="1">
                <a:solidFill>
                  <a:srgbClr val="12233F"/>
                </a:solidFill>
                <a:latin typeface="Arial"/>
                <a:ea typeface="Arial"/>
                <a:cs typeface="Arial"/>
              </a:rPr>
              <a:t>observed open</a:t>
            </a:r>
          </a:p>
        </p:txBody>
      </p:sp>
      <p:sp>
        <p:nvSpPr>
          <p:cNvPr id="10" name="">
            <a:extLst xmlns:a="http://schemas.openxmlformats.org/drawingml/2006/main">
              <a:ext uri="{FF2B5EF4-FFF2-40B4-BE49-F238E27FC236}">
                <a16:creationId xmlns:a16="http://schemas.microsoft.com/office/drawing/2014/main" id="{175D7D6E-DA84-4628-AEEE-91118078379F}"/>
              </a:ext>
            </a:extLst>
          </p:cNvPr>
          <p:cNvSpPr>
            <a:spLocks xmlns:a="http://schemas.openxmlformats.org/drawingml/2006/main" noGrp="1"/>
          </p:cNvSpPr>
          <p:nvPr/>
        </p:nvSpPr>
        <p:spPr>
          <a:xfrm xmlns:a="http://schemas.openxmlformats.org/drawingml/2006/main">
            <a:off x="4714875" y="3048000"/>
            <a:ext cx="6286500" cy="0"/>
          </a:xfrm>
          <a:prstGeom xmlns:a="http://schemas.openxmlformats.org/drawingml/2006/main" prst="line">
            <a:avLst/>
          </a:prstGeom>
          <a:noFill xmlns:a="http://schemas.openxmlformats.org/drawingml/2006/main"/>
          <a:ln xmlns:a="http://schemas.openxmlformats.org/drawingml/2006/main" w="19050">
            <a:solidFill>
              <a:srgbClr val="B9B3AC"/>
            </a:solidFill>
          </a:ln>
        </p:spPr>
      </p:sp>
      <p:sp>
        <p:nvSpPr>
          <p:cNvPr id="11" name="">
            <a:extLst xmlns:a="http://schemas.openxmlformats.org/drawingml/2006/main">
              <a:ext uri="{FF2B5EF4-FFF2-40B4-BE49-F238E27FC236}">
                <a16:creationId xmlns:a16="http://schemas.microsoft.com/office/drawing/2014/main" id="{D6F5D1D4-B550-4120-971F-281315A0C2AA}"/>
              </a:ext>
            </a:extLst>
          </p:cNvPr>
          <p:cNvSpPr>
            <a:spLocks xmlns:a="http://schemas.openxmlformats.org/drawingml/2006/main" noGrp="1"/>
          </p:cNvSpPr>
          <p:nvPr/>
        </p:nvSpPr>
        <p:spPr>
          <a:xfrm xmlns:a="http://schemas.openxmlformats.org/drawingml/2006/main">
            <a:off x="904875" y="3162300"/>
            <a:ext cx="68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4002B"/>
                </a:solidFill>
                <a:latin typeface="Arial"/>
                <a:ea typeface="Arial"/>
                <a:cs typeface="Arial"/>
              </a:defRPr>
            </a:pPr>
            <a:r>
              <a:rPr sz="1650" b="1">
                <a:solidFill>
                  <a:srgbClr val="E4002B"/>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A8F4EA59-FE08-48BB-8C4B-A5472C67F018}"/>
              </a:ext>
            </a:extLst>
          </p:cNvPr>
          <p:cNvSpPr>
            <a:spLocks xmlns:a="http://schemas.openxmlformats.org/drawingml/2006/main" noGrp="1"/>
          </p:cNvSpPr>
          <p:nvPr/>
        </p:nvSpPr>
        <p:spPr>
          <a:xfrm xmlns:a="http://schemas.openxmlformats.org/drawingml/2006/main">
            <a:off x="1714500" y="316230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2233F"/>
                </a:solidFill>
                <a:latin typeface="Arial"/>
                <a:ea typeface="Arial"/>
                <a:cs typeface="Arial"/>
              </a:defRPr>
            </a:pPr>
            <a:r>
              <a:rPr sz="1725" b="1">
                <a:solidFill>
                  <a:srgbClr val="12233F"/>
                </a:solidFill>
                <a:latin typeface="Arial"/>
                <a:ea typeface="Arial"/>
                <a:cs typeface="Arial"/>
              </a:rPr>
              <a:t>X-ray inconclusive</a:t>
            </a:r>
          </a:p>
        </p:txBody>
      </p:sp>
      <p:sp>
        <p:nvSpPr>
          <p:cNvPr id="13" name="">
            <a:extLst xmlns:a="http://schemas.openxmlformats.org/drawingml/2006/main">
              <a:ext uri="{FF2B5EF4-FFF2-40B4-BE49-F238E27FC236}">
                <a16:creationId xmlns:a16="http://schemas.microsoft.com/office/drawing/2014/main" id="{4E7429E4-0605-4C73-BF0E-803B61A51FAD}"/>
              </a:ext>
            </a:extLst>
          </p:cNvPr>
          <p:cNvSpPr>
            <a:spLocks xmlns:a="http://schemas.openxmlformats.org/drawingml/2006/main" noGrp="1"/>
          </p:cNvSpPr>
          <p:nvPr/>
        </p:nvSpPr>
        <p:spPr>
          <a:xfrm xmlns:a="http://schemas.openxmlformats.org/drawingml/2006/main">
            <a:off x="4714875" y="3714750"/>
            <a:ext cx="6286500" cy="0"/>
          </a:xfrm>
          <a:prstGeom xmlns:a="http://schemas.openxmlformats.org/drawingml/2006/main" prst="line">
            <a:avLst/>
          </a:prstGeom>
          <a:noFill xmlns:a="http://schemas.openxmlformats.org/drawingml/2006/main"/>
          <a:ln xmlns:a="http://schemas.openxmlformats.org/drawingml/2006/main" w="19050">
            <a:solidFill>
              <a:srgbClr val="B9B3AC"/>
            </a:solidFill>
          </a:ln>
        </p:spPr>
      </p:sp>
      <p:sp>
        <p:nvSpPr>
          <p:cNvPr id="14" name="">
            <a:extLst xmlns:a="http://schemas.openxmlformats.org/drawingml/2006/main">
              <a:ext uri="{FF2B5EF4-FFF2-40B4-BE49-F238E27FC236}">
                <a16:creationId xmlns:a16="http://schemas.microsoft.com/office/drawing/2014/main" id="{331A88E3-D04D-4D9A-929B-F70BD1A5A258}"/>
              </a:ext>
            </a:extLst>
          </p:cNvPr>
          <p:cNvSpPr>
            <a:spLocks xmlns:a="http://schemas.openxmlformats.org/drawingml/2006/main" noGrp="1"/>
          </p:cNvSpPr>
          <p:nvPr/>
        </p:nvSpPr>
        <p:spPr>
          <a:xfrm xmlns:a="http://schemas.openxmlformats.org/drawingml/2006/main">
            <a:off x="904875" y="3829050"/>
            <a:ext cx="68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4002B"/>
                </a:solidFill>
                <a:latin typeface="Arial"/>
                <a:ea typeface="Arial"/>
                <a:cs typeface="Arial"/>
              </a:defRPr>
            </a:pPr>
            <a:r>
              <a:rPr sz="1650" b="1">
                <a:solidFill>
                  <a:srgbClr val="E4002B"/>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718FDCA1-3625-440B-921C-906DE9E0BEE5}"/>
              </a:ext>
            </a:extLst>
          </p:cNvPr>
          <p:cNvSpPr>
            <a:spLocks xmlns:a="http://schemas.openxmlformats.org/drawingml/2006/main" noGrp="1"/>
          </p:cNvSpPr>
          <p:nvPr/>
        </p:nvSpPr>
        <p:spPr>
          <a:xfrm xmlns:a="http://schemas.openxmlformats.org/drawingml/2006/main">
            <a:off x="1714500" y="382905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2233F"/>
                </a:solidFill>
                <a:latin typeface="Arial"/>
                <a:ea typeface="Arial"/>
                <a:cs typeface="Arial"/>
              </a:defRPr>
            </a:pPr>
            <a:r>
              <a:rPr sz="1725" b="1">
                <a:solidFill>
                  <a:srgbClr val="12233F"/>
                </a:solidFill>
                <a:latin typeface="Arial"/>
                <a:ea typeface="Arial"/>
                <a:cs typeface="Arial"/>
              </a:rPr>
              <a:t>no acoustic record</a:t>
            </a:r>
          </a:p>
        </p:txBody>
      </p:sp>
      <p:sp>
        <p:nvSpPr>
          <p:cNvPr id="16" name="">
            <a:extLst xmlns:a="http://schemas.openxmlformats.org/drawingml/2006/main">
              <a:ext uri="{FF2B5EF4-FFF2-40B4-BE49-F238E27FC236}">
                <a16:creationId xmlns:a16="http://schemas.microsoft.com/office/drawing/2014/main" id="{5D2CA973-8ABC-41BE-888C-D8A7263B1748}"/>
              </a:ext>
            </a:extLst>
          </p:cNvPr>
          <p:cNvSpPr>
            <a:spLocks xmlns:a="http://schemas.openxmlformats.org/drawingml/2006/main" noGrp="1"/>
          </p:cNvSpPr>
          <p:nvPr/>
        </p:nvSpPr>
        <p:spPr>
          <a:xfrm xmlns:a="http://schemas.openxmlformats.org/drawingml/2006/main">
            <a:off x="4714875" y="4381500"/>
            <a:ext cx="6286500" cy="0"/>
          </a:xfrm>
          <a:prstGeom xmlns:a="http://schemas.openxmlformats.org/drawingml/2006/main" prst="line">
            <a:avLst/>
          </a:prstGeom>
          <a:noFill xmlns:a="http://schemas.openxmlformats.org/drawingml/2006/main"/>
          <a:ln xmlns:a="http://schemas.openxmlformats.org/drawingml/2006/main" w="19050">
            <a:solidFill>
              <a:srgbClr val="B9B3AC"/>
            </a:solidFill>
          </a:ln>
        </p:spPr>
      </p:sp>
      <p:sp>
        <p:nvSpPr>
          <p:cNvPr id="17" name="">
            <a:extLst xmlns:a="http://schemas.openxmlformats.org/drawingml/2006/main">
              <a:ext uri="{FF2B5EF4-FFF2-40B4-BE49-F238E27FC236}">
                <a16:creationId xmlns:a16="http://schemas.microsoft.com/office/drawing/2014/main" id="{A2ED22D0-B099-4019-82C8-286710EC05E7}"/>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What can you conclude, and what remains unknown?</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bd7505bc6f54e72"/>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713ace0c2ff40d8"/>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2136907976"/>
      </p:ext>
    </p:extLst>
  </p:cSld>
</p:sld>
</file>

<file path=ppt/slides/slide14.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3D9C12E-ED06-423F-83CC-1AB12222EDE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C0F04B-6DFA-4C24-A7B9-9FB9AC658641}"/>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6DE8EF70-303C-4B01-9375-9FD9040E14F0}"/>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78848A0C-D13C-466D-8D91-D591E233AE8D}"/>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6E1C4996-B290-4A7E-A5AB-6160865D2AFF}"/>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14 / 16</a:t>
            </a:r>
          </a:p>
        </p:txBody>
      </p:sp>
      <p:sp>
        <p:nvSpPr>
          <p:cNvPr id="6" name="">
            <a:extLst xmlns:a="http://schemas.openxmlformats.org/drawingml/2006/main">
              <a:ext uri="{FF2B5EF4-FFF2-40B4-BE49-F238E27FC236}">
                <a16:creationId xmlns:a16="http://schemas.microsoft.com/office/drawing/2014/main" id="{BAEB73B5-26DC-450D-AB47-1C96EF282C45}"/>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Build the five-column map</a:t>
            </a:r>
          </a:p>
        </p:txBody>
      </p:sp>
      <p:sp>
        <p:nvSpPr>
          <p:cNvPr id="7" name="">
            <a:extLst xmlns:a="http://schemas.openxmlformats.org/drawingml/2006/main">
              <a:ext uri="{FF2B5EF4-FFF2-40B4-BE49-F238E27FC236}">
                <a16:creationId xmlns:a16="http://schemas.microsoft.com/office/drawing/2014/main" id="{552D7513-44A8-4323-8A94-FF896E35B2A1}"/>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Document the stage-to-decision chain.</a:t>
            </a:r>
          </a:p>
        </p:txBody>
      </p:sp>
      <p:sp>
        <p:nvSpPr>
          <p:cNvPr id="8" name="">
            <a:extLst xmlns:a="http://schemas.openxmlformats.org/drawingml/2006/main">
              <a:ext uri="{FF2B5EF4-FFF2-40B4-BE49-F238E27FC236}">
                <a16:creationId xmlns:a16="http://schemas.microsoft.com/office/drawing/2014/main" id="{7821DBC0-A7E8-40F0-B8D0-B5E4FBA9B04E}"/>
              </a:ext>
            </a:extLst>
          </p:cNvPr>
          <p:cNvSpPr>
            <a:spLocks xmlns:a="http://schemas.openxmlformats.org/drawingml/2006/main" noGrp="1"/>
          </p:cNvSpPr>
          <p:nvPr/>
        </p:nvSpPr>
        <p:spPr>
          <a:xfrm xmlns:a="http://schemas.openxmlformats.org/drawingml/2006/main">
            <a:off x="762000" y="2714625"/>
            <a:ext cx="200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12233F"/>
                </a:solidFill>
                <a:latin typeface="Arial"/>
                <a:ea typeface="Arial"/>
                <a:cs typeface="Arial"/>
              </a:defRPr>
            </a:pPr>
            <a:r>
              <a:rPr sz="1650" b="1">
                <a:solidFill>
                  <a:srgbClr val="12233F"/>
                </a:solidFill>
                <a:latin typeface="Arial"/>
                <a:ea typeface="Arial"/>
                <a:cs typeface="Arial"/>
              </a:rPr>
              <a:t>stage</a:t>
            </a:r>
          </a:p>
        </p:txBody>
      </p:sp>
      <p:sp>
        <p:nvSpPr>
          <p:cNvPr id="9" name="">
            <a:extLst xmlns:a="http://schemas.openxmlformats.org/drawingml/2006/main">
              <a:ext uri="{FF2B5EF4-FFF2-40B4-BE49-F238E27FC236}">
                <a16:creationId xmlns:a16="http://schemas.microsoft.com/office/drawing/2014/main" id="{7BC1871C-1DFC-4C71-84CC-56D4E08BA711}"/>
              </a:ext>
            </a:extLst>
          </p:cNvPr>
          <p:cNvSpPr>
            <a:spLocks xmlns:a="http://schemas.openxmlformats.org/drawingml/2006/main" noGrp="1"/>
          </p:cNvSpPr>
          <p:nvPr/>
        </p:nvSpPr>
        <p:spPr>
          <a:xfrm xmlns:a="http://schemas.openxmlformats.org/drawingml/2006/main">
            <a:off x="685800" y="3238500"/>
            <a:ext cx="2152650" cy="1666875"/>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10" name="">
            <a:extLst xmlns:a="http://schemas.openxmlformats.org/drawingml/2006/main">
              <a:ext uri="{FF2B5EF4-FFF2-40B4-BE49-F238E27FC236}">
                <a16:creationId xmlns:a16="http://schemas.microsoft.com/office/drawing/2014/main" id="{64134ECB-C1EA-4380-96C1-652D99D2A3BB}"/>
              </a:ext>
            </a:extLst>
          </p:cNvPr>
          <p:cNvSpPr>
            <a:spLocks xmlns:a="http://schemas.openxmlformats.org/drawingml/2006/main" noGrp="1"/>
          </p:cNvSpPr>
          <p:nvPr/>
        </p:nvSpPr>
        <p:spPr>
          <a:xfrm xmlns:a="http://schemas.openxmlformats.org/drawingml/2006/main">
            <a:off x="2914650" y="2714625"/>
            <a:ext cx="200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12233F"/>
                </a:solidFill>
                <a:latin typeface="Arial"/>
                <a:ea typeface="Arial"/>
                <a:cs typeface="Arial"/>
              </a:defRPr>
            </a:pPr>
            <a:r>
              <a:rPr sz="1650" b="1">
                <a:solidFill>
                  <a:srgbClr val="12233F"/>
                </a:solidFill>
                <a:latin typeface="Arial"/>
                <a:ea typeface="Arial"/>
                <a:cs typeface="Arial"/>
              </a:rPr>
              <a:t>defect</a:t>
            </a:r>
          </a:p>
        </p:txBody>
      </p:sp>
      <p:sp>
        <p:nvSpPr>
          <p:cNvPr id="11" name="">
            <a:extLst xmlns:a="http://schemas.openxmlformats.org/drawingml/2006/main">
              <a:ext uri="{FF2B5EF4-FFF2-40B4-BE49-F238E27FC236}">
                <a16:creationId xmlns:a16="http://schemas.microsoft.com/office/drawing/2014/main" id="{B9B0242B-03C9-4295-8D91-1562E4D148A9}"/>
              </a:ext>
            </a:extLst>
          </p:cNvPr>
          <p:cNvSpPr>
            <a:spLocks xmlns:a="http://schemas.openxmlformats.org/drawingml/2006/main" noGrp="1"/>
          </p:cNvSpPr>
          <p:nvPr/>
        </p:nvSpPr>
        <p:spPr>
          <a:xfrm xmlns:a="http://schemas.openxmlformats.org/drawingml/2006/main">
            <a:off x="2838450" y="3238500"/>
            <a:ext cx="2152650" cy="1666875"/>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12" name="">
            <a:extLst xmlns:a="http://schemas.openxmlformats.org/drawingml/2006/main">
              <a:ext uri="{FF2B5EF4-FFF2-40B4-BE49-F238E27FC236}">
                <a16:creationId xmlns:a16="http://schemas.microsoft.com/office/drawing/2014/main" id="{18EEEF93-5E0F-4128-914B-2CCFEFB2F1E0}"/>
              </a:ext>
            </a:extLst>
          </p:cNvPr>
          <p:cNvSpPr>
            <a:spLocks xmlns:a="http://schemas.openxmlformats.org/drawingml/2006/main" noGrp="1"/>
          </p:cNvSpPr>
          <p:nvPr/>
        </p:nvSpPr>
        <p:spPr>
          <a:xfrm xmlns:a="http://schemas.openxmlformats.org/drawingml/2006/main">
            <a:off x="5067300" y="2714625"/>
            <a:ext cx="200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12233F"/>
                </a:solidFill>
                <a:latin typeface="Arial"/>
                <a:ea typeface="Arial"/>
                <a:cs typeface="Arial"/>
              </a:defRPr>
            </a:pPr>
            <a:r>
              <a:rPr sz="1650" b="1">
                <a:solidFill>
                  <a:srgbClr val="12233F"/>
                </a:solidFill>
                <a:latin typeface="Arial"/>
                <a:ea typeface="Arial"/>
                <a:cs typeface="Arial"/>
              </a:rPr>
              <a:t>observable</a:t>
            </a:r>
          </a:p>
        </p:txBody>
      </p:sp>
      <p:sp>
        <p:nvSpPr>
          <p:cNvPr id="13" name="">
            <a:extLst xmlns:a="http://schemas.openxmlformats.org/drawingml/2006/main">
              <a:ext uri="{FF2B5EF4-FFF2-40B4-BE49-F238E27FC236}">
                <a16:creationId xmlns:a16="http://schemas.microsoft.com/office/drawing/2014/main" id="{3F90A486-99A7-4BEE-A110-28AE7104FFF3}"/>
              </a:ext>
            </a:extLst>
          </p:cNvPr>
          <p:cNvSpPr>
            <a:spLocks xmlns:a="http://schemas.openxmlformats.org/drawingml/2006/main" noGrp="1"/>
          </p:cNvSpPr>
          <p:nvPr/>
        </p:nvSpPr>
        <p:spPr>
          <a:xfrm xmlns:a="http://schemas.openxmlformats.org/drawingml/2006/main">
            <a:off x="4991100" y="3238500"/>
            <a:ext cx="2152650" cy="1666875"/>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14" name="">
            <a:extLst xmlns:a="http://schemas.openxmlformats.org/drawingml/2006/main">
              <a:ext uri="{FF2B5EF4-FFF2-40B4-BE49-F238E27FC236}">
                <a16:creationId xmlns:a16="http://schemas.microsoft.com/office/drawing/2014/main" id="{59A0DA77-D65B-4358-8D51-33C38E378C33}"/>
              </a:ext>
            </a:extLst>
          </p:cNvPr>
          <p:cNvSpPr>
            <a:spLocks xmlns:a="http://schemas.openxmlformats.org/drawingml/2006/main" noGrp="1"/>
          </p:cNvSpPr>
          <p:nvPr/>
        </p:nvSpPr>
        <p:spPr>
          <a:xfrm xmlns:a="http://schemas.openxmlformats.org/drawingml/2006/main">
            <a:off x="7219950" y="2714625"/>
            <a:ext cx="200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12233F"/>
                </a:solidFill>
                <a:latin typeface="Arial"/>
                <a:ea typeface="Arial"/>
                <a:cs typeface="Arial"/>
              </a:defRPr>
            </a:pPr>
            <a:r>
              <a:rPr sz="1650" b="1">
                <a:solidFill>
                  <a:srgbClr val="12233F"/>
                </a:solidFill>
                <a:latin typeface="Arial"/>
                <a:ea typeface="Arial"/>
                <a:cs typeface="Arial"/>
              </a:rPr>
              <a:t>method</a:t>
            </a:r>
          </a:p>
        </p:txBody>
      </p:sp>
      <p:sp>
        <p:nvSpPr>
          <p:cNvPr id="15" name="">
            <a:extLst xmlns:a="http://schemas.openxmlformats.org/drawingml/2006/main">
              <a:ext uri="{FF2B5EF4-FFF2-40B4-BE49-F238E27FC236}">
                <a16:creationId xmlns:a16="http://schemas.microsoft.com/office/drawing/2014/main" id="{51DE2D2C-9291-4BF1-AC6F-2E10FEAFEE13}"/>
              </a:ext>
            </a:extLst>
          </p:cNvPr>
          <p:cNvSpPr>
            <a:spLocks xmlns:a="http://schemas.openxmlformats.org/drawingml/2006/main" noGrp="1"/>
          </p:cNvSpPr>
          <p:nvPr/>
        </p:nvSpPr>
        <p:spPr>
          <a:xfrm xmlns:a="http://schemas.openxmlformats.org/drawingml/2006/main">
            <a:off x="7143750" y="3238500"/>
            <a:ext cx="2152650" cy="1666875"/>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16" name="">
            <a:extLst xmlns:a="http://schemas.openxmlformats.org/drawingml/2006/main">
              <a:ext uri="{FF2B5EF4-FFF2-40B4-BE49-F238E27FC236}">
                <a16:creationId xmlns:a16="http://schemas.microsoft.com/office/drawing/2014/main" id="{DFA67A79-4FCB-4434-BF27-A0052AF3ED21}"/>
              </a:ext>
            </a:extLst>
          </p:cNvPr>
          <p:cNvSpPr>
            <a:spLocks xmlns:a="http://schemas.openxmlformats.org/drawingml/2006/main" noGrp="1"/>
          </p:cNvSpPr>
          <p:nvPr/>
        </p:nvSpPr>
        <p:spPr>
          <a:xfrm xmlns:a="http://schemas.openxmlformats.org/drawingml/2006/main">
            <a:off x="9372600" y="2714625"/>
            <a:ext cx="200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12233F"/>
                </a:solidFill>
                <a:latin typeface="Arial"/>
                <a:ea typeface="Arial"/>
                <a:cs typeface="Arial"/>
              </a:defRPr>
            </a:pPr>
            <a:r>
              <a:rPr sz="1650" b="1">
                <a:solidFill>
                  <a:srgbClr val="12233F"/>
                </a:solidFill>
                <a:latin typeface="Arial"/>
                <a:ea typeface="Arial"/>
                <a:cs typeface="Arial"/>
              </a:rPr>
              <a:t>decision</a:t>
            </a:r>
          </a:p>
        </p:txBody>
      </p:sp>
      <p:sp>
        <p:nvSpPr>
          <p:cNvPr id="17" name="">
            <a:extLst xmlns:a="http://schemas.openxmlformats.org/drawingml/2006/main">
              <a:ext uri="{FF2B5EF4-FFF2-40B4-BE49-F238E27FC236}">
                <a16:creationId xmlns:a16="http://schemas.microsoft.com/office/drawing/2014/main" id="{0F93DAD5-B80A-4B34-8C57-293C9615D426}"/>
              </a:ext>
            </a:extLst>
          </p:cNvPr>
          <p:cNvSpPr>
            <a:spLocks xmlns:a="http://schemas.openxmlformats.org/drawingml/2006/main" noGrp="1"/>
          </p:cNvSpPr>
          <p:nvPr/>
        </p:nvSpPr>
        <p:spPr>
          <a:xfrm xmlns:a="http://schemas.openxmlformats.org/drawingml/2006/main">
            <a:off x="9296400" y="3238500"/>
            <a:ext cx="2152650" cy="1666875"/>
          </a:xfrm>
          <a:prstGeom xmlns:a="http://schemas.openxmlformats.org/drawingml/2006/main" prst="rect">
            <a:avLst/>
          </a:prstGeom>
          <a:noFill xmlns:a="http://schemas.openxmlformats.org/drawingml/2006/main"/>
          <a:ln xmlns:a="http://schemas.openxmlformats.org/drawingml/2006/main" w="9525">
            <a:solidFill>
              <a:srgbClr val="B9B3AC"/>
            </a:solidFill>
          </a:ln>
        </p:spPr>
      </p:sp>
      <p:sp>
        <p:nvSpPr>
          <p:cNvPr id="18" name="">
            <a:extLst xmlns:a="http://schemas.openxmlformats.org/drawingml/2006/main">
              <a:ext uri="{FF2B5EF4-FFF2-40B4-BE49-F238E27FC236}">
                <a16:creationId xmlns:a16="http://schemas.microsoft.com/office/drawing/2014/main" id="{E24BFB4A-2E1C-4A17-A260-3B22D1B1887C}"/>
              </a:ext>
            </a:extLst>
          </p:cNvPr>
          <p:cNvSpPr>
            <a:spLocks xmlns:a="http://schemas.openxmlformats.org/drawingml/2006/main" noGrp="1"/>
          </p:cNvSpPr>
          <p:nvPr/>
        </p:nvSpPr>
        <p:spPr>
          <a:xfrm xmlns:a="http://schemas.openxmlformats.org/drawingml/2006/main">
            <a:off x="685800" y="3790950"/>
            <a:ext cx="1076325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19" name="">
            <a:extLst xmlns:a="http://schemas.openxmlformats.org/drawingml/2006/main">
              <a:ext uri="{FF2B5EF4-FFF2-40B4-BE49-F238E27FC236}">
                <a16:creationId xmlns:a16="http://schemas.microsoft.com/office/drawing/2014/main" id="{2129E842-222D-426E-A89B-9BD7E310CC62}"/>
              </a:ext>
            </a:extLst>
          </p:cNvPr>
          <p:cNvSpPr>
            <a:spLocks xmlns:a="http://schemas.openxmlformats.org/drawingml/2006/main" noGrp="1"/>
          </p:cNvSpPr>
          <p:nvPr/>
        </p:nvSpPr>
        <p:spPr>
          <a:xfrm xmlns:a="http://schemas.openxmlformats.org/drawingml/2006/main">
            <a:off x="685800" y="4343400"/>
            <a:ext cx="1076325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20" name="">
            <a:extLst xmlns:a="http://schemas.openxmlformats.org/drawingml/2006/main">
              <a:ext uri="{FF2B5EF4-FFF2-40B4-BE49-F238E27FC236}">
                <a16:creationId xmlns:a16="http://schemas.microsoft.com/office/drawing/2014/main" id="{7AAA6F5B-277E-4C25-8E41-E093A84CD19D}"/>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Stop when both rows name an observable and method.</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2e387c267bef4ff1"/>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46e1bbf354064eb2"/>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717454522"/>
      </p:ext>
    </p:extLst>
  </p:cSld>
</p:sld>
</file>

<file path=ppt/slides/slide15.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998A0AA-7E24-4E84-A7C9-8F96C130CA1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DF3CA2-86CF-416B-B080-903FEFA3D123}"/>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9655EFA2-C0E7-4C9C-A99F-1D7D7A02D981}"/>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A0A47E0A-F7E0-4668-ACC3-72EB29DF528E}"/>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723F62CE-9AFD-41CC-BCD0-E35EEF51C654}"/>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15 / 16</a:t>
            </a:r>
          </a:p>
        </p:txBody>
      </p:sp>
      <p:sp>
        <p:nvSpPr>
          <p:cNvPr id="6" name="">
            <a:extLst xmlns:a="http://schemas.openxmlformats.org/drawingml/2006/main">
              <a:ext uri="{FF2B5EF4-FFF2-40B4-BE49-F238E27FC236}">
                <a16:creationId xmlns:a16="http://schemas.microsoft.com/office/drawing/2014/main" id="{1457CABB-EA86-4115-AD13-6F4B186F6C17}"/>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Peer challenge</a:t>
            </a:r>
          </a:p>
        </p:txBody>
      </p:sp>
      <p:sp>
        <p:nvSpPr>
          <p:cNvPr id="7" name="">
            <a:extLst xmlns:a="http://schemas.openxmlformats.org/drawingml/2006/main">
              <a:ext uri="{FF2B5EF4-FFF2-40B4-BE49-F238E27FC236}">
                <a16:creationId xmlns:a16="http://schemas.microsoft.com/office/drawing/2014/main" id="{EA9CC3BB-6572-40FE-A900-01BC5CC7328B}"/>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A credible map admits what its methods cannot see.</a:t>
            </a:r>
          </a:p>
        </p:txBody>
      </p:sp>
      <p:sp>
        <p:nvSpPr>
          <p:cNvPr id="8" name="">
            <a:extLst xmlns:a="http://schemas.openxmlformats.org/drawingml/2006/main">
              <a:ext uri="{FF2B5EF4-FFF2-40B4-BE49-F238E27FC236}">
                <a16:creationId xmlns:a16="http://schemas.microsoft.com/office/drawing/2014/main" id="{96BBB5FA-AB67-4E44-8205-E3E1EBEA9DC8}"/>
              </a:ext>
            </a:extLst>
          </p:cNvPr>
          <p:cNvSpPr>
            <a:spLocks xmlns:a="http://schemas.openxmlformats.org/drawingml/2006/main" noGrp="1"/>
          </p:cNvSpPr>
          <p:nvPr/>
        </p:nvSpPr>
        <p:spPr>
          <a:xfrm xmlns:a="http://schemas.openxmlformats.org/drawingml/2006/main">
            <a:off x="619125" y="2619375"/>
            <a:ext cx="66675" cy="25717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BE98586-1413-4479-893F-971CD269EC20}"/>
              </a:ext>
            </a:extLst>
          </p:cNvPr>
          <p:cNvSpPr>
            <a:spLocks xmlns:a="http://schemas.openxmlformats.org/drawingml/2006/main" noGrp="1"/>
          </p:cNvSpPr>
          <p:nvPr/>
        </p:nvSpPr>
        <p:spPr>
          <a:xfrm xmlns:a="http://schemas.openxmlformats.org/drawingml/2006/main">
            <a:off x="828675" y="2762250"/>
            <a:ext cx="327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2233F"/>
                </a:solidFill>
                <a:latin typeface="Arial"/>
                <a:ea typeface="Arial"/>
                <a:cs typeface="Arial"/>
              </a:defRPr>
            </a:pPr>
            <a:r>
              <a:rPr sz="1800" b="1">
                <a:solidFill>
                  <a:srgbClr val="12233F"/>
                </a:solidFill>
                <a:latin typeface="Arial"/>
                <a:ea typeface="Arial"/>
                <a:cs typeface="Arial"/>
              </a:rPr>
              <a:t>claim</a:t>
            </a:r>
          </a:p>
        </p:txBody>
      </p:sp>
      <p:sp>
        <p:nvSpPr>
          <p:cNvPr id="10" name="">
            <a:extLst xmlns:a="http://schemas.openxmlformats.org/drawingml/2006/main">
              <a:ext uri="{FF2B5EF4-FFF2-40B4-BE49-F238E27FC236}">
                <a16:creationId xmlns:a16="http://schemas.microsoft.com/office/drawing/2014/main" id="{CC736270-07FC-4416-B41D-C0BBC04EA527}"/>
              </a:ext>
            </a:extLst>
          </p:cNvPr>
          <p:cNvSpPr>
            <a:spLocks xmlns:a="http://schemas.openxmlformats.org/drawingml/2006/main" noGrp="1"/>
          </p:cNvSpPr>
          <p:nvPr/>
        </p:nvSpPr>
        <p:spPr>
          <a:xfrm xmlns:a="http://schemas.openxmlformats.org/drawingml/2006/main">
            <a:off x="828675" y="4286250"/>
            <a:ext cx="3175000" cy="0"/>
          </a:xfrm>
          <a:prstGeom xmlns:a="http://schemas.openxmlformats.org/drawingml/2006/main" prst="line">
            <a:avLst/>
          </a:prstGeom>
          <a:noFill xmlns:a="http://schemas.openxmlformats.org/drawingml/2006/main"/>
          <a:ln xmlns:a="http://schemas.openxmlformats.org/drawingml/2006/main" w="19050">
            <a:solidFill>
              <a:srgbClr val="B9B3AC"/>
            </a:solidFill>
          </a:ln>
        </p:spPr>
      </p:sp>
      <p:sp>
        <p:nvSpPr>
          <p:cNvPr id="11" name="">
            <a:extLst xmlns:a="http://schemas.openxmlformats.org/drawingml/2006/main">
              <a:ext uri="{FF2B5EF4-FFF2-40B4-BE49-F238E27FC236}">
                <a16:creationId xmlns:a16="http://schemas.microsoft.com/office/drawing/2014/main" id="{E32A4452-65E4-4055-B2B6-F397412403F7}"/>
              </a:ext>
            </a:extLst>
          </p:cNvPr>
          <p:cNvSpPr>
            <a:spLocks xmlns:a="http://schemas.openxmlformats.org/drawingml/2006/main" noGrp="1"/>
          </p:cNvSpPr>
          <p:nvPr/>
        </p:nvSpPr>
        <p:spPr>
          <a:xfrm xmlns:a="http://schemas.openxmlformats.org/drawingml/2006/main">
            <a:off x="4270375" y="2619375"/>
            <a:ext cx="66675" cy="2571750"/>
          </a:xfrm>
          <a:prstGeom xmlns:a="http://schemas.openxmlformats.org/drawingml/2006/main" prst="rect">
            <a:avLst/>
          </a:prstGeom>
          <a:solidFill xmlns:a="http://schemas.openxmlformats.org/drawingml/2006/main">
            <a:srgbClr val="008D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3620504-A11C-4EAE-BEA0-73BBC05994DF}"/>
              </a:ext>
            </a:extLst>
          </p:cNvPr>
          <p:cNvSpPr>
            <a:spLocks xmlns:a="http://schemas.openxmlformats.org/drawingml/2006/main" noGrp="1"/>
          </p:cNvSpPr>
          <p:nvPr/>
        </p:nvSpPr>
        <p:spPr>
          <a:xfrm xmlns:a="http://schemas.openxmlformats.org/drawingml/2006/main">
            <a:off x="4479925" y="2762250"/>
            <a:ext cx="327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2233F"/>
                </a:solidFill>
                <a:latin typeface="Arial"/>
                <a:ea typeface="Arial"/>
                <a:cs typeface="Arial"/>
              </a:defRPr>
            </a:pPr>
            <a:r>
              <a:rPr sz="1800" b="1">
                <a:solidFill>
                  <a:srgbClr val="12233F"/>
                </a:solidFill>
                <a:latin typeface="Arial"/>
                <a:ea typeface="Arial"/>
                <a:cs typeface="Arial"/>
              </a:rPr>
              <a:t>supporting observation</a:t>
            </a:r>
          </a:p>
        </p:txBody>
      </p:sp>
      <p:sp>
        <p:nvSpPr>
          <p:cNvPr id="13" name="">
            <a:extLst xmlns:a="http://schemas.openxmlformats.org/drawingml/2006/main">
              <a:ext uri="{FF2B5EF4-FFF2-40B4-BE49-F238E27FC236}">
                <a16:creationId xmlns:a16="http://schemas.microsoft.com/office/drawing/2014/main" id="{D777EC22-B48C-4053-A879-21752053D3E0}"/>
              </a:ext>
            </a:extLst>
          </p:cNvPr>
          <p:cNvSpPr>
            <a:spLocks xmlns:a="http://schemas.openxmlformats.org/drawingml/2006/main" noGrp="1"/>
          </p:cNvSpPr>
          <p:nvPr/>
        </p:nvSpPr>
        <p:spPr>
          <a:xfrm xmlns:a="http://schemas.openxmlformats.org/drawingml/2006/main">
            <a:off x="4479925" y="4286250"/>
            <a:ext cx="3175000" cy="0"/>
          </a:xfrm>
          <a:prstGeom xmlns:a="http://schemas.openxmlformats.org/drawingml/2006/main" prst="line">
            <a:avLst/>
          </a:prstGeom>
          <a:noFill xmlns:a="http://schemas.openxmlformats.org/drawingml/2006/main"/>
          <a:ln xmlns:a="http://schemas.openxmlformats.org/drawingml/2006/main" w="19050">
            <a:solidFill>
              <a:srgbClr val="B9B3AC"/>
            </a:solidFill>
          </a:ln>
        </p:spPr>
      </p:sp>
      <p:sp>
        <p:nvSpPr>
          <p:cNvPr id="14" name="">
            <a:extLst xmlns:a="http://schemas.openxmlformats.org/drawingml/2006/main">
              <a:ext uri="{FF2B5EF4-FFF2-40B4-BE49-F238E27FC236}">
                <a16:creationId xmlns:a16="http://schemas.microsoft.com/office/drawing/2014/main" id="{5FCA3B27-ADE7-464A-83D2-AB9E4AAEB2E1}"/>
              </a:ext>
            </a:extLst>
          </p:cNvPr>
          <p:cNvSpPr>
            <a:spLocks xmlns:a="http://schemas.openxmlformats.org/drawingml/2006/main" noGrp="1"/>
          </p:cNvSpPr>
          <p:nvPr/>
        </p:nvSpPr>
        <p:spPr>
          <a:xfrm xmlns:a="http://schemas.openxmlformats.org/drawingml/2006/main">
            <a:off x="7921625" y="2619375"/>
            <a:ext cx="66675" cy="2571750"/>
          </a:xfrm>
          <a:prstGeom xmlns:a="http://schemas.openxmlformats.org/drawingml/2006/main" prst="rect">
            <a:avLst/>
          </a:prstGeom>
          <a:solidFill xmlns:a="http://schemas.openxmlformats.org/drawingml/2006/main">
            <a:srgbClr val="2E5A8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5C3FAF8-2C96-4860-AC41-3F8CD035A963}"/>
              </a:ext>
            </a:extLst>
          </p:cNvPr>
          <p:cNvSpPr>
            <a:spLocks xmlns:a="http://schemas.openxmlformats.org/drawingml/2006/main" noGrp="1"/>
          </p:cNvSpPr>
          <p:nvPr/>
        </p:nvSpPr>
        <p:spPr>
          <a:xfrm xmlns:a="http://schemas.openxmlformats.org/drawingml/2006/main">
            <a:off x="8131175" y="2762250"/>
            <a:ext cx="327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2233F"/>
                </a:solidFill>
                <a:latin typeface="Arial"/>
                <a:ea typeface="Arial"/>
                <a:cs typeface="Arial"/>
              </a:defRPr>
            </a:pPr>
            <a:r>
              <a:rPr sz="1800" b="1">
                <a:solidFill>
                  <a:srgbClr val="12233F"/>
                </a:solidFill>
                <a:latin typeface="Arial"/>
                <a:ea typeface="Arial"/>
                <a:cs typeface="Arial"/>
              </a:rPr>
              <a:t>missing check</a:t>
            </a:r>
          </a:p>
        </p:txBody>
      </p:sp>
      <p:sp>
        <p:nvSpPr>
          <p:cNvPr id="16" name="">
            <a:extLst xmlns:a="http://schemas.openxmlformats.org/drawingml/2006/main">
              <a:ext uri="{FF2B5EF4-FFF2-40B4-BE49-F238E27FC236}">
                <a16:creationId xmlns:a16="http://schemas.microsoft.com/office/drawing/2014/main" id="{5DAAE9B4-6E47-4906-958A-AB169DE52155}"/>
              </a:ext>
            </a:extLst>
          </p:cNvPr>
          <p:cNvSpPr>
            <a:spLocks xmlns:a="http://schemas.openxmlformats.org/drawingml/2006/main" noGrp="1"/>
          </p:cNvSpPr>
          <p:nvPr/>
        </p:nvSpPr>
        <p:spPr>
          <a:xfrm xmlns:a="http://schemas.openxmlformats.org/drawingml/2006/main">
            <a:off x="8131175" y="4286250"/>
            <a:ext cx="3175000" cy="0"/>
          </a:xfrm>
          <a:prstGeom xmlns:a="http://schemas.openxmlformats.org/drawingml/2006/main" prst="line">
            <a:avLst/>
          </a:prstGeom>
          <a:noFill xmlns:a="http://schemas.openxmlformats.org/drawingml/2006/main"/>
          <a:ln xmlns:a="http://schemas.openxmlformats.org/drawingml/2006/main" w="19050">
            <a:solidFill>
              <a:srgbClr val="B9B3AC"/>
            </a:solidFill>
          </a:ln>
        </p:spPr>
      </p:sp>
      <p:sp>
        <p:nvSpPr>
          <p:cNvPr id="17" name="">
            <a:extLst xmlns:a="http://schemas.openxmlformats.org/drawingml/2006/main">
              <a:ext uri="{FF2B5EF4-FFF2-40B4-BE49-F238E27FC236}">
                <a16:creationId xmlns:a16="http://schemas.microsoft.com/office/drawing/2014/main" id="{01B9666E-6040-47A8-8425-E595C9066B87}"/>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What is the smallest useful next test?</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c4b6a10f80f74a0f"/>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e717b873fe14c00"/>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1337965363"/>
      </p:ext>
    </p:extLst>
  </p:cSld>
</p:sld>
</file>

<file path=ppt/slides/slide16.xml><?xml version="1.0" encoding="utf-8"?>
<p:sld xmlns:p="http://schemas.openxmlformats.org/presentationml/2006/main">
  <p:cSld>
    <p:bg>
      <p:bgPr>
        <a:solidFill xmlns:a="http://schemas.openxmlformats.org/drawingml/2006/main">
          <a:srgbClr val="F8F4E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83B8169-ECBE-485B-8ED1-87F448E4AB7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20A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E8A38D-5D0B-4C4D-87DE-636B5423E03B}"/>
              </a:ext>
            </a:extLst>
          </p:cNvPr>
          <p:cNvSpPr>
            <a:spLocks xmlns:a="http://schemas.openxmlformats.org/drawingml/2006/main" noGrp="1"/>
          </p:cNvSpPr>
          <p:nvPr/>
        </p:nvSpPr>
        <p:spPr>
          <a:xfrm xmlns:a="http://schemas.openxmlformats.org/drawingml/2006/main">
            <a:off x="571500" y="2095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20A15"/>
                </a:solidFill>
                <a:latin typeface="Arial"/>
                <a:ea typeface="Arial"/>
                <a:cs typeface="Arial"/>
              </a:defRPr>
            </a:pPr>
            <a:r>
              <a:rPr sz="1275" b="1">
                <a:solidFill>
                  <a:srgbClr val="420A15"/>
                </a:solidFill>
                <a:latin typeface="Arial"/>
                <a:ea typeface="Arial"/>
                <a:cs typeface="Arial"/>
              </a:rPr>
              <a:t>NCKU  /  DIGITAL TWIN AND IC PACKAGING</a:t>
            </a:r>
          </a:p>
        </p:txBody>
      </p:sp>
      <p:sp>
        <p:nvSpPr>
          <p:cNvPr id="3" name="">
            <a:extLst xmlns:a="http://schemas.openxmlformats.org/drawingml/2006/main">
              <a:ext uri="{FF2B5EF4-FFF2-40B4-BE49-F238E27FC236}">
                <a16:creationId xmlns:a16="http://schemas.microsoft.com/office/drawing/2014/main" id="{58C2306A-775D-4CFE-B0EF-F9C5C0D08C3A}"/>
              </a:ext>
            </a:extLst>
          </p:cNvPr>
          <p:cNvSpPr>
            <a:spLocks xmlns:a="http://schemas.openxmlformats.org/drawingml/2006/main" noGrp="1"/>
          </p:cNvSpPr>
          <p:nvPr/>
        </p:nvSpPr>
        <p:spPr>
          <a:xfrm xmlns:a="http://schemas.openxmlformats.org/drawingml/2006/main">
            <a:off x="9096375" y="20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30 SEP 2026   H2</a:t>
            </a:r>
          </a:p>
        </p:txBody>
      </p:sp>
      <p:sp>
        <p:nvSpPr>
          <p:cNvPr id="4" name="">
            <a:extLst xmlns:a="http://schemas.openxmlformats.org/drawingml/2006/main">
              <a:ext uri="{FF2B5EF4-FFF2-40B4-BE49-F238E27FC236}">
                <a16:creationId xmlns:a16="http://schemas.microsoft.com/office/drawing/2014/main" id="{3CA36B5A-C7C5-4431-8EC7-5326EAD5A225}"/>
              </a:ext>
            </a:extLst>
          </p:cNvPr>
          <p:cNvSpPr>
            <a:spLocks xmlns:a="http://schemas.openxmlformats.org/drawingml/2006/main" noGrp="1"/>
          </p:cNvSpPr>
          <p:nvPr/>
        </p:nvSpPr>
        <p:spPr>
          <a:xfrm xmlns:a="http://schemas.openxmlformats.org/drawingml/2006/main">
            <a:off x="571500" y="6181725"/>
            <a:ext cx="11049000" cy="0"/>
          </a:xfrm>
          <a:prstGeom xmlns:a="http://schemas.openxmlformats.org/drawingml/2006/main" prst="line">
            <a:avLst/>
          </a:prstGeom>
          <a:noFill xmlns:a="http://schemas.openxmlformats.org/drawingml/2006/main"/>
          <a:ln xmlns:a="http://schemas.openxmlformats.org/drawingml/2006/main" w="9525">
            <a:solidFill>
              <a:srgbClr val="B9B3AC"/>
            </a:solidFill>
          </a:ln>
        </p:spPr>
      </p:sp>
      <p:sp>
        <p:nvSpPr>
          <p:cNvPr id="5" name="">
            <a:extLst xmlns:a="http://schemas.openxmlformats.org/drawingml/2006/main">
              <a:ext uri="{FF2B5EF4-FFF2-40B4-BE49-F238E27FC236}">
                <a16:creationId xmlns:a16="http://schemas.microsoft.com/office/drawing/2014/main" id="{13979DF7-026B-439A-9736-305710EC48BB}"/>
              </a:ext>
            </a:extLst>
          </p:cNvPr>
          <p:cNvSpPr>
            <a:spLocks xmlns:a="http://schemas.openxmlformats.org/drawingml/2006/main" noGrp="1"/>
          </p:cNvSpPr>
          <p:nvPr/>
        </p:nvSpPr>
        <p:spPr>
          <a:xfrm xmlns:a="http://schemas.openxmlformats.org/drawingml/2006/main">
            <a:off x="10477500" y="63436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1">
                <a:solidFill>
                  <a:srgbClr val="420A15"/>
                </a:solidFill>
                <a:latin typeface="Arial"/>
                <a:ea typeface="Arial"/>
                <a:cs typeface="Arial"/>
              </a:defRPr>
            </a:pPr>
            <a:r>
              <a:rPr sz="1275" b="1">
                <a:solidFill>
                  <a:srgbClr val="420A15"/>
                </a:solidFill>
                <a:latin typeface="Arial"/>
                <a:ea typeface="Arial"/>
                <a:cs typeface="Arial"/>
              </a:rPr>
              <a:t>16 / 16</a:t>
            </a:r>
          </a:p>
        </p:txBody>
      </p:sp>
      <p:sp>
        <p:nvSpPr>
          <p:cNvPr id="6" name="">
            <a:extLst xmlns:a="http://schemas.openxmlformats.org/drawingml/2006/main">
              <a:ext uri="{FF2B5EF4-FFF2-40B4-BE49-F238E27FC236}">
                <a16:creationId xmlns:a16="http://schemas.microsoft.com/office/drawing/2014/main" id="{93576C6D-CDB1-454F-B480-D508F1CC99A4}"/>
              </a:ext>
            </a:extLst>
          </p:cNvPr>
          <p:cNvSpPr>
            <a:spLocks xmlns:a="http://schemas.openxmlformats.org/drawingml/2006/main" noGrp="1"/>
          </p:cNvSpPr>
          <p:nvPr/>
        </p:nvSpPr>
        <p:spPr>
          <a:xfrm xmlns:a="http://schemas.openxmlformats.org/drawingml/2006/main">
            <a:off x="571500" y="7143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2233F"/>
                </a:solidFill>
                <a:latin typeface="Arial"/>
                <a:ea typeface="Arial"/>
                <a:cs typeface="Arial"/>
              </a:defRPr>
            </a:pPr>
            <a:r>
              <a:rPr sz="3000" b="1">
                <a:solidFill>
                  <a:srgbClr val="12233F"/>
                </a:solidFill>
                <a:latin typeface="Arial"/>
                <a:ea typeface="Arial"/>
                <a:cs typeface="Arial"/>
              </a:rPr>
              <a:t>H2 checkpoint</a:t>
            </a:r>
          </a:p>
        </p:txBody>
      </p:sp>
      <p:sp>
        <p:nvSpPr>
          <p:cNvPr id="7" name="">
            <a:extLst xmlns:a="http://schemas.openxmlformats.org/drawingml/2006/main">
              <a:ext uri="{FF2B5EF4-FFF2-40B4-BE49-F238E27FC236}">
                <a16:creationId xmlns:a16="http://schemas.microsoft.com/office/drawing/2014/main" id="{2A34663B-9947-4A81-8838-AA1316C273A0}"/>
              </a:ext>
            </a:extLst>
          </p:cNvPr>
          <p:cNvSpPr>
            <a:spLocks xmlns:a="http://schemas.openxmlformats.org/drawingml/2006/main" noGrp="1"/>
          </p:cNvSpPr>
          <p:nvPr/>
        </p:nvSpPr>
        <p:spPr>
          <a:xfrm xmlns:a="http://schemas.openxmlformats.org/drawingml/2006/main">
            <a:off x="571500" y="1419225"/>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242124"/>
                </a:solidFill>
                <a:latin typeface="Arial"/>
                <a:ea typeface="Arial"/>
                <a:cs typeface="Arial"/>
              </a:defRPr>
            </a:pPr>
            <a:r>
              <a:rPr sz="2025" b="0">
                <a:solidFill>
                  <a:srgbClr val="242124"/>
                </a:solidFill>
                <a:latin typeface="Arial"/>
                <a:ea typeface="Arial"/>
                <a:cs typeface="Arial"/>
              </a:rPr>
              <a:t>Save the map with at least two defensible rows.</a:t>
            </a:r>
          </a:p>
        </p:txBody>
      </p:sp>
      <p:sp>
        <p:nvSpPr>
          <p:cNvPr id="8" name="">
            <a:extLst xmlns:a="http://schemas.openxmlformats.org/drawingml/2006/main">
              <a:ext uri="{FF2B5EF4-FFF2-40B4-BE49-F238E27FC236}">
                <a16:creationId xmlns:a16="http://schemas.microsoft.com/office/drawing/2014/main" id="{0FECCDA9-0B9C-420C-AE3F-EA6D3FB07AF0}"/>
              </a:ext>
            </a:extLst>
          </p:cNvPr>
          <p:cNvSpPr>
            <a:spLocks xmlns:a="http://schemas.openxmlformats.org/drawingml/2006/main" noGrp="1"/>
          </p:cNvSpPr>
          <p:nvPr/>
        </p:nvSpPr>
        <p:spPr>
          <a:xfrm xmlns:a="http://schemas.openxmlformats.org/drawingml/2006/main">
            <a:off x="809625" y="3619500"/>
            <a:ext cx="10096500" cy="0"/>
          </a:xfrm>
          <a:prstGeom xmlns:a="http://schemas.openxmlformats.org/drawingml/2006/main" prst="line">
            <a:avLst/>
          </a:prstGeom>
          <a:noFill xmlns:a="http://schemas.openxmlformats.org/drawingml/2006/main"/>
          <a:ln xmlns:a="http://schemas.openxmlformats.org/drawingml/2006/main" w="28575">
            <a:solidFill>
              <a:srgbClr val="420A15"/>
            </a:solidFill>
          </a:ln>
        </p:spPr>
      </p:sp>
      <p:sp>
        <p:nvSpPr>
          <p:cNvPr id="9" name="">
            <a:extLst xmlns:a="http://schemas.openxmlformats.org/drawingml/2006/main">
              <a:ext uri="{FF2B5EF4-FFF2-40B4-BE49-F238E27FC236}">
                <a16:creationId xmlns:a16="http://schemas.microsoft.com/office/drawing/2014/main" id="{1D63A488-8401-4881-8849-F227FC946060}"/>
              </a:ext>
            </a:extLst>
          </p:cNvPr>
          <p:cNvSpPr>
            <a:spLocks xmlns:a="http://schemas.openxmlformats.org/drawingml/2006/main" noGrp="1"/>
          </p:cNvSpPr>
          <p:nvPr/>
        </p:nvSpPr>
        <p:spPr>
          <a:xfrm xmlns:a="http://schemas.openxmlformats.org/drawingml/2006/main">
            <a:off x="2308225"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DA76884-CCDE-4808-A8D3-D164EC63A63E}"/>
              </a:ext>
            </a:extLst>
          </p:cNvPr>
          <p:cNvSpPr>
            <a:spLocks xmlns:a="http://schemas.openxmlformats.org/drawingml/2006/main" noGrp="1"/>
          </p:cNvSpPr>
          <p:nvPr/>
        </p:nvSpPr>
        <p:spPr>
          <a:xfrm xmlns:a="http://schemas.openxmlformats.org/drawingml/2006/main">
            <a:off x="2308225"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DBBBAF27-B847-4BC2-B1F7-741B269D5623}"/>
              </a:ext>
            </a:extLst>
          </p:cNvPr>
          <p:cNvSpPr>
            <a:spLocks xmlns:a="http://schemas.openxmlformats.org/drawingml/2006/main" noGrp="1"/>
          </p:cNvSpPr>
          <p:nvPr/>
        </p:nvSpPr>
        <p:spPr>
          <a:xfrm xmlns:a="http://schemas.openxmlformats.org/drawingml/2006/main">
            <a:off x="949325" y="4019550"/>
            <a:ext cx="3213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12233F"/>
                </a:solidFill>
                <a:latin typeface="Arial"/>
                <a:ea typeface="Arial"/>
                <a:cs typeface="Arial"/>
              </a:defRPr>
            </a:pPr>
            <a:r>
              <a:rPr sz="1725" b="1">
                <a:solidFill>
                  <a:srgbClr val="12233F"/>
                </a:solidFill>
                <a:latin typeface="Arial"/>
                <a:ea typeface="Arial"/>
                <a:cs typeface="Arial"/>
              </a:rPr>
              <a:t>two rows</a:t>
            </a:r>
          </a:p>
        </p:txBody>
      </p:sp>
      <p:sp>
        <p:nvSpPr>
          <p:cNvPr id="12" name="">
            <a:extLst xmlns:a="http://schemas.openxmlformats.org/drawingml/2006/main">
              <a:ext uri="{FF2B5EF4-FFF2-40B4-BE49-F238E27FC236}">
                <a16:creationId xmlns:a16="http://schemas.microsoft.com/office/drawing/2014/main" id="{8CFD1800-1C1F-4291-9300-5D4B66642B9D}"/>
              </a:ext>
            </a:extLst>
          </p:cNvPr>
          <p:cNvSpPr>
            <a:spLocks xmlns:a="http://schemas.openxmlformats.org/drawingml/2006/main" noGrp="1"/>
          </p:cNvSpPr>
          <p:nvPr/>
        </p:nvSpPr>
        <p:spPr>
          <a:xfrm xmlns:a="http://schemas.openxmlformats.org/drawingml/2006/main">
            <a:off x="5800725"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FE202C2-68D7-4006-AA7D-341C74934695}"/>
              </a:ext>
            </a:extLst>
          </p:cNvPr>
          <p:cNvSpPr>
            <a:spLocks xmlns:a="http://schemas.openxmlformats.org/drawingml/2006/main" noGrp="1"/>
          </p:cNvSpPr>
          <p:nvPr/>
        </p:nvSpPr>
        <p:spPr>
          <a:xfrm xmlns:a="http://schemas.openxmlformats.org/drawingml/2006/main">
            <a:off x="5800725"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2E7D8519-67F7-46E5-B67B-026ADBE506ED}"/>
              </a:ext>
            </a:extLst>
          </p:cNvPr>
          <p:cNvSpPr>
            <a:spLocks xmlns:a="http://schemas.openxmlformats.org/drawingml/2006/main" noGrp="1"/>
          </p:cNvSpPr>
          <p:nvPr/>
        </p:nvSpPr>
        <p:spPr>
          <a:xfrm xmlns:a="http://schemas.openxmlformats.org/drawingml/2006/main">
            <a:off x="4441825" y="4019550"/>
            <a:ext cx="3213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12233F"/>
                </a:solidFill>
                <a:latin typeface="Arial"/>
                <a:ea typeface="Arial"/>
                <a:cs typeface="Arial"/>
              </a:defRPr>
            </a:pPr>
            <a:r>
              <a:rPr sz="1725" b="1">
                <a:solidFill>
                  <a:srgbClr val="12233F"/>
                </a:solidFill>
                <a:latin typeface="Arial"/>
                <a:ea typeface="Arial"/>
                <a:cs typeface="Arial"/>
              </a:rPr>
              <a:t>one blind spot</a:t>
            </a:r>
          </a:p>
        </p:txBody>
      </p:sp>
      <p:sp>
        <p:nvSpPr>
          <p:cNvPr id="15" name="">
            <a:extLst xmlns:a="http://schemas.openxmlformats.org/drawingml/2006/main">
              <a:ext uri="{FF2B5EF4-FFF2-40B4-BE49-F238E27FC236}">
                <a16:creationId xmlns:a16="http://schemas.microsoft.com/office/drawing/2014/main" id="{7EDE137C-12D1-4AEF-8B71-5231F57AC1D9}"/>
              </a:ext>
            </a:extLst>
          </p:cNvPr>
          <p:cNvSpPr>
            <a:spLocks xmlns:a="http://schemas.openxmlformats.org/drawingml/2006/main" noGrp="1"/>
          </p:cNvSpPr>
          <p:nvPr/>
        </p:nvSpPr>
        <p:spPr>
          <a:xfrm xmlns:a="http://schemas.openxmlformats.org/drawingml/2006/main">
            <a:off x="9293225" y="3371850"/>
            <a:ext cx="495300" cy="495300"/>
          </a:xfrm>
          <a:prstGeom xmlns:a="http://schemas.openxmlformats.org/drawingml/2006/main" prst="ellipse">
            <a:avLst/>
          </a:prstGeom>
          <a:solidFill xmlns:a="http://schemas.openxmlformats.org/drawingml/2006/main">
            <a:srgbClr val="420A1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E262B13-FDFE-4F4D-AD67-79D4448B8948}"/>
              </a:ext>
            </a:extLst>
          </p:cNvPr>
          <p:cNvSpPr>
            <a:spLocks xmlns:a="http://schemas.openxmlformats.org/drawingml/2006/main" noGrp="1"/>
          </p:cNvSpPr>
          <p:nvPr/>
        </p:nvSpPr>
        <p:spPr>
          <a:xfrm xmlns:a="http://schemas.openxmlformats.org/drawingml/2006/main">
            <a:off x="9293225" y="3371850"/>
            <a:ext cx="495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A1D4EF97-12FE-41E6-8EBE-7C22BE093C24}"/>
              </a:ext>
            </a:extLst>
          </p:cNvPr>
          <p:cNvSpPr>
            <a:spLocks xmlns:a="http://schemas.openxmlformats.org/drawingml/2006/main" noGrp="1"/>
          </p:cNvSpPr>
          <p:nvPr/>
        </p:nvSpPr>
        <p:spPr>
          <a:xfrm xmlns:a="http://schemas.openxmlformats.org/drawingml/2006/main">
            <a:off x="7934325" y="4019550"/>
            <a:ext cx="3213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a:solidFill>
                  <a:srgbClr val="12233F"/>
                </a:solidFill>
                <a:latin typeface="Arial"/>
                <a:ea typeface="Arial"/>
                <a:cs typeface="Arial"/>
              </a:defRPr>
            </a:pPr>
            <a:r>
              <a:rPr sz="1725" b="1">
                <a:solidFill>
                  <a:srgbClr val="12233F"/>
                </a:solidFill>
                <a:latin typeface="Arial"/>
                <a:ea typeface="Arial"/>
                <a:cs typeface="Arial"/>
              </a:rPr>
              <a:t>one next test</a:t>
            </a:r>
          </a:p>
        </p:txBody>
      </p:sp>
      <p:sp>
        <p:nvSpPr>
          <p:cNvPr id="18" name="">
            <a:extLst xmlns:a="http://schemas.openxmlformats.org/drawingml/2006/main">
              <a:ext uri="{FF2B5EF4-FFF2-40B4-BE49-F238E27FC236}">
                <a16:creationId xmlns:a16="http://schemas.microsoft.com/office/drawing/2014/main" id="{26699157-82D9-4E15-8B9F-F697F2E74470}"/>
              </a:ext>
            </a:extLst>
          </p:cNvPr>
          <p:cNvSpPr>
            <a:spLocks xmlns:a="http://schemas.openxmlformats.org/drawingml/2006/main" noGrp="1"/>
          </p:cNvSpPr>
          <p:nvPr/>
        </p:nvSpPr>
        <p:spPr>
          <a:xfrm xmlns:a="http://schemas.openxmlformats.org/drawingml/2006/main">
            <a:off x="571500" y="56292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420A15"/>
                </a:solidFill>
                <a:latin typeface="Arial"/>
                <a:ea typeface="Arial"/>
                <a:cs typeface="Arial"/>
              </a:defRPr>
            </a:pPr>
            <a:r>
              <a:rPr sz="1725" b="1">
                <a:solidFill>
                  <a:srgbClr val="420A15"/>
                </a:solidFill>
                <a:latin typeface="Arial"/>
                <a:ea typeface="Arial"/>
                <a:cs typeface="Arial"/>
              </a:rPr>
              <a:t>Can a peer reproduce your reasoning?</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10cad0eda844bc3"/>
          <a:stretch xmlns:a="http://schemas.openxmlformats.org/drawingml/2006/main"/>
        </p:blipFill>
        <p:spPr>
          <a:xfrm xmlns:a="http://schemas.openxmlformats.org/drawingml/2006/main">
            <a:off x="562144" y="6286500"/>
            <a:ext cx="704512" cy="47625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237d3e6c1c7f4cac"/>
          <a:stretch xmlns:a="http://schemas.openxmlformats.org/drawingml/2006/main"/>
        </p:blipFill>
        <p:spPr>
          <a:xfrm xmlns:a="http://schemas.openxmlformats.org/drawingml/2006/main">
            <a:off x="1457325" y="6378841"/>
            <a:ext cx="1571625" cy="291568"/>
          </a:xfrm>
          <a:prstGeom xmlns:a="http://schemas.openxmlformats.org/drawingml/2006/main" prst="rect">
            <a:avLst/>
          </a:prstGeom>
        </p:spPr>
      </p:pic>
    </p:spTree>
    <p:extLst>
      <p:ext uri="{BB962C8B-B14F-4D97-AF65-F5344CB8AC3E}">
        <p14:creationId xmlns:p14="http://schemas.microsoft.com/office/powerpoint/2010/main" val="12456182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2026-09-23T09:22:39.5450000Z</dcterms:created>
  <dcterms:modified xsi:type="dcterms:W3CDTF">2026-09-23T09:22:39.5450000Z</dcterms:modified>
</coreProperties>
</file>